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a951d9c2-335e-18a8-fee0-0e337e1e8af7}">
          <p14:sldIdLst>
            <p14:sldId id="256"/>
          </p14:sldIdLst>
        </p14:section>
        <p14:section name="Masalah" id="{3c6ff36f-2d20-deb3-ced1-f964290921d3}">
          <p14:sldIdLst>
            <p14:sldId id="257"/>
            <p14:sldId id="258"/>
            <p14:sldId id="259"/>
          </p14:sldIdLst>
        </p14:section>
        <p14:section name="Metode" id="{bc9074df-1e87-8e7a-11d2-11e50dd4d0bf}">
          <p14:sldIdLst>
            <p14:sldId id="260"/>
            <p14:sldId id="261"/>
            <p14:sldId id="263"/>
          </p14:sldIdLst>
        </p14:section>
        <p14:section name="Hasil" id="{a6ca04e9-c4d7-b705-83a4-60f32a0ebc9b}">
          <p14:sldIdLst>
            <p14:sldId id="262"/>
            <p14:sldId id="264"/>
            <p14:sldId id="265"/>
            <p14:sldId id="266"/>
            <p14:sldId id="267"/>
            <p14:sldId id="268"/>
            <p14:sldId id="269"/>
          </p14:sldIdLst>
        </p14:section>
        <p14:section name="Penutup" id="{fd16213e-ce74-aa77-d1ad-0879aaefe9b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B"/>
                </a:solidFill>
                <a:latin typeface="+mn-lt"/>
              </a:defRPr>
            </a:pPr>
            <a:r>
              <a:rPr sz="1400" b="0" i="0" u="none" strike="noStrike">
                <a:solidFill>
                  <a:srgbClr val="1B1B1B"/>
                </a:solidFill>
                <a:latin typeface="+mn-lt"/>
              </a:rPr>
              <a:t>Lebih mahal dari optimum</a:t>
            </a:r>
          </a:p>
        </c:rich>
      </c:tx>
      <c:layout/>
      <c:overlay val="0"/>
    </c:title>
    <c:autoTitleDeleted val="0"/>
    <c:plotArea>
      <c:layout/>
      <c:barChart>
        <c:barDir val="bar"/>
        <c:grouping val="clustered"/>
        <c:varyColors val="0"/>
        <c:ser>
          <c:idx val="0"/>
          <c:order val="0"/>
          <c:tx>
            <c:strRef>
              <c:f>Sheet1!$B$1</c:f>
              <c:strCache>
                <c:ptCount val="1"/>
                <c:pt idx="0">
                  <c:v>Selisih dari optimum (%)</c:v>
                </c:pt>
              </c:strCache>
            </c:strRef>
          </c:tx>
          <c:spPr>
            <a:solidFill>
              <a:srgbClr val="EDA100"/>
            </a:solidFill>
            <a:effectLst/>
          </c:spPr>
          <c:invertIfNegative val="0"/>
          <c:dLbls>
            <c:numFmt formatCode="0.0&quot;%&quot;" sourceLinked="0"/>
            <c:txPr>
              <a:bodyPr/>
              <a:lstStyle/>
              <a:p>
                <a:pPr>
                  <a:defRPr b="0" i="0" strike="noStrike" sz="1100" u="none">
                    <a:solidFill>
                      <a:srgbClr val="3A3A3A"/>
                    </a:solidFill>
                    <a:latin typeface="+mn-lt"/>
                  </a:defRPr>
                </a:pPr>
              </a:p>
            </c:txPr>
            <c:showLegendKey val="0"/>
            <c:showVal val="1"/>
            <c:showCatName val="0"/>
            <c:showSerName val="0"/>
            <c:showPercent val="0"/>
            <c:showBubbleSize val="0"/>
            <c:showLeaderLines val="0"/>
          </c:dLbls>
          <c:dPt>
            <c:idx val="0"/>
            <c:invertIfNegative val="0"/>
            <c:bubble3D val="0"/>
            <c:spPr>
              <a:solidFill>
                <a:srgbClr val="EDA100"/>
              </a:solidFill>
              <a:effectLst/>
            </c:spPr>
          </c:dPt>
          <c:dPt>
            <c:idx val="1"/>
            <c:invertIfNegative val="0"/>
            <c:bubble3D val="0"/>
            <c:spPr>
              <a:solidFill>
                <a:srgbClr val="E87BA4"/>
              </a:solidFill>
              <a:effectLst/>
            </c:spPr>
          </c:dPt>
          <c:dPt>
            <c:idx val="2"/>
            <c:invertIfNegative val="0"/>
            <c:bubble3D val="0"/>
            <c:spPr>
              <a:solidFill>
                <a:srgbClr val="008300"/>
              </a:solidFill>
              <a:effectLst/>
            </c:spPr>
          </c:dPt>
          <c:dPt>
            <c:idx val="3"/>
            <c:invertIfNegative val="0"/>
            <c:bubble3D val="0"/>
            <c:spPr>
              <a:solidFill>
                <a:srgbClr val="1BAF7A"/>
              </a:solidFill>
              <a:effectLst/>
            </c:spPr>
          </c:dPt>
          <c:dPt>
            <c:idx val="4"/>
            <c:invertIfNegative val="0"/>
            <c:bubble3D val="0"/>
            <c:spPr>
              <a:solidFill>
                <a:srgbClr val="2A78D6"/>
              </a:solidFill>
              <a:effectLst/>
            </c:spPr>
          </c:dPt>
          <c:dPt>
            <c:idx val="5"/>
            <c:invertIfNegative val="0"/>
            <c:bubble3D val="0"/>
            <c:spPr>
              <a:solidFill>
                <a:srgbClr val="6250D6"/>
              </a:solidFill>
              <a:effectLst/>
            </c:spPr>
          </c:dPt>
          <c:cat>
            <c:multiLvlStrRef>
              <c:f>Sheet1!$A$2:$A$7</c:f>
              <c:multiLvlStrCache>
                <c:ptCount val="6"/>
                <c:lvl>
                  <c:pt idx="0">
                    <c:v>UCS</c:v>
                  </c:pt>
                  <c:pt idx="1">
                    <c:v>A* (h1)</c:v>
                  </c:pt>
                  <c:pt idx="2">
                    <c:v>A* (h2)</c:v>
                  </c:pt>
                  <c:pt idx="3">
                    <c:v>DFS-B&amp;B</c:v>
                  </c:pt>
                  <c:pt idx="4">
                    <c:v>BFS</c:v>
                  </c:pt>
                  <c:pt idx="5">
                    <c:v>GBFS</c:v>
                  </c:pt>
                </c:lvl>
              </c:multiLvlStrCache>
            </c:multiLvlStrRef>
          </c:cat>
          <c:val>
            <c:numRef>
              <c:f>Sheet1!$B$2:$B$7</c:f>
              <c:numCache>
                <c:formatCode>General</c:formatCode>
                <c:ptCount val="6"/>
                <c:pt idx="0">
                  <c:v>0</c:v>
                </c:pt>
                <c:pt idx="1">
                  <c:v>0</c:v>
                </c:pt>
                <c:pt idx="2">
                  <c:v>0</c:v>
                </c:pt>
                <c:pt idx="3">
                  <c:v>0</c:v>
                </c:pt>
                <c:pt idx="4">
                  <c:v>53.9</c:v>
                </c:pt>
                <c:pt idx="5">
                  <c:v>51.5</c:v>
                </c:pt>
              </c:numCache>
            </c:numRef>
          </c:val>
        </c:ser>
        <c:dLbls>
          <c:numFmt formatCode="0.0&quot;%&quot;" sourceLinked="0"/>
          <c:txPr>
            <a:bodyPr/>
            <a:lstStyle/>
            <a:p>
              <a:pPr>
                <a:defRPr b="0" i="0" strike="noStrike" sz="1100" u="none">
                  <a:solidFill>
                    <a:srgbClr val="3A3A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E6B65"/>
                </a:solidFill>
                <a:latin typeface="+mn-lt"/>
              </a:defRPr>
            </a:pPr>
            <a:endParaRPr lang="en-US"/>
          </a:p>
        </c:txPr>
        <c:crossAx val="2094734552"/>
        <c:crosses val="autoZero"/>
        <c:auto val="1"/>
        <c:lblAlgn val="ctr"/>
        <c:noMultiLvlLbl val="1"/>
      </c:catAx>
      <c:valAx>
        <c:axId val="2094734552"/>
        <c:scaling>
          <c:orientation val="minMax"/>
          <c:min val="0"/>
        </c:scaling>
        <c:delete val="1"/>
        <c:axPos val="b"/>
        <c:majorGridlines>
          <c:spPr>
            <a:ln w="9525" cap="flat">
              <a:solidFill>
                <a:srgbClr val="E2E6E3"/>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E6B6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B"/>
                </a:solidFill>
                <a:latin typeface="+mn-lt"/>
              </a:defRPr>
            </a:pPr>
            <a:r>
              <a:rPr sz="1400" b="0" i="0" u="none" strike="noStrike">
                <a:solidFill>
                  <a:srgbClr val="1B1B1B"/>
                </a:solidFill>
                <a:latin typeface="+mn-lt"/>
              </a:rPr>
              <a:t>Run yang mencapai terbaik diketahui (surabaya_6sppg)</a:t>
            </a:r>
          </a:p>
        </c:rich>
      </c:tx>
      <c:layout/>
      <c:overlay val="0"/>
    </c:title>
    <c:autoTitleDeleted val="0"/>
    <c:plotArea>
      <c:layout/>
      <c:barChart>
        <c:barDir val="bar"/>
        <c:grouping val="clustered"/>
        <c:varyColors val="0"/>
        <c:ser>
          <c:idx val="0"/>
          <c:order val="0"/>
          <c:tx>
            <c:strRef>
              <c:f>Sheet1!$B$1</c:f>
              <c:strCache>
                <c:ptCount val="1"/>
                <c:pt idx="0">
                  <c:v>Sukses</c:v>
                </c:pt>
              </c:strCache>
            </c:strRef>
          </c:tx>
          <c:spPr>
            <a:solidFill>
              <a:srgbClr val="2A78D6"/>
            </a:solidFill>
            <a:effectLst/>
          </c:spPr>
          <c:invertIfNegative val="0"/>
          <c:dLbls>
            <c:numFmt formatCode="0&quot;%&quot;" sourceLinked="0"/>
            <c:txPr>
              <a:bodyPr/>
              <a:lstStyle/>
              <a:p>
                <a:pPr>
                  <a:defRPr b="0" i="0" strike="noStrike" sz="1100" u="none">
                    <a:solidFill>
                      <a:srgbClr val="3A3A3A"/>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dPt>
            <c:idx val="4"/>
            <c:invertIfNegative val="0"/>
            <c:bubble3D val="0"/>
            <c:spPr>
              <a:solidFill>
                <a:srgbClr val="E87BA4"/>
              </a:solidFill>
              <a:effectLst/>
            </c:spPr>
          </c:dPt>
          <c:dPt>
            <c:idx val="5"/>
            <c:invertIfNegative val="0"/>
            <c:bubble3D val="0"/>
            <c:spPr>
              <a:solidFill>
                <a:srgbClr val="008300"/>
              </a:solidFill>
              <a:effectLst/>
            </c:spPr>
          </c:dPt>
          <c:dPt>
            <c:idx val="6"/>
            <c:invertIfNegative val="0"/>
            <c:bubble3D val="0"/>
            <c:spPr>
              <a:solidFill>
                <a:srgbClr val="6250D6"/>
              </a:solidFill>
              <a:effectLst/>
            </c:spPr>
          </c:dPt>
          <c:dPt>
            <c:idx val="7"/>
            <c:invertIfNegative val="0"/>
            <c:bubble3D val="0"/>
            <c:spPr>
              <a:solidFill>
                <a:srgbClr val="E34948"/>
              </a:solidFill>
              <a:effectLst/>
            </c:spPr>
          </c:dPt>
          <c:cat>
            <c:multiLvlStrRef>
              <c:f>Sheet1!$A$2:$A$9</c:f>
              <c:multiLvlStrCache>
                <c:ptCount val="8"/>
                <c:lvl>
                  <c:pt idx="0">
                    <c:v>HC</c:v>
                  </c:pt>
                  <c:pt idx="1">
                    <c:v>HC-Sideways</c:v>
                  </c:pt>
                  <c:pt idx="2">
                    <c:v>Stochastic HC</c:v>
                  </c:pt>
                  <c:pt idx="3">
                    <c:v>Random-Walk HC</c:v>
                  </c:pt>
                  <c:pt idx="4">
                    <c:v>RR-HC</c:v>
                  </c:pt>
                  <c:pt idx="5">
                    <c:v>EHC</c:v>
                  </c:pt>
                  <c:pt idx="6">
                    <c:v>SA</c:v>
                  </c:pt>
                  <c:pt idx="7">
                    <c:v>GA</c:v>
                  </c:pt>
                </c:lvl>
              </c:multiLvlStrCache>
            </c:multiLvlStrRef>
          </c:cat>
          <c:val>
            <c:numRef>
              <c:f>Sheet1!$B$2:$B$9</c:f>
              <c:numCache>
                <c:formatCode>General</c:formatCode>
                <c:ptCount val="8"/>
                <c:pt idx="0">
                  <c:v>3</c:v>
                </c:pt>
                <c:pt idx="1">
                  <c:v>3</c:v>
                </c:pt>
                <c:pt idx="2">
                  <c:v>37</c:v>
                </c:pt>
                <c:pt idx="3">
                  <c:v>30</c:v>
                </c:pt>
                <c:pt idx="4">
                  <c:v>57</c:v>
                </c:pt>
                <c:pt idx="5">
                  <c:v>53</c:v>
                </c:pt>
                <c:pt idx="6">
                  <c:v>70</c:v>
                </c:pt>
                <c:pt idx="7">
                  <c:v>30</c:v>
                </c:pt>
              </c:numCache>
            </c:numRef>
          </c:val>
        </c:ser>
        <c:dLbls>
          <c:numFmt formatCode="0&quot;%&quot;" sourceLinked="0"/>
          <c:txPr>
            <a:bodyPr/>
            <a:lstStyle/>
            <a:p>
              <a:pPr>
                <a:defRPr b="0" i="0" strike="noStrike" sz="1100" u="none">
                  <a:solidFill>
                    <a:srgbClr val="3A3A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E6B65"/>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majorGridlines>
          <c:spPr>
            <a:ln w="9525" cap="flat">
              <a:solidFill>
                <a:srgbClr val="E2E6E3"/>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E6B6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B"/>
                </a:solidFill>
                <a:latin typeface="+mn-lt"/>
              </a:defRPr>
            </a:pPr>
            <a:r>
              <a:rPr sz="1400" b="0" i="0" u="none" strike="noStrike">
                <a:solidFill>
                  <a:srgbClr val="1B1B1B"/>
                </a:solidFill>
                <a:latin typeface="+mn-lt"/>
              </a:rPr>
              <a:t>Median evaluasi s.d. terbaik (ribu)</a:t>
            </a:r>
          </a:p>
        </c:rich>
      </c:tx>
      <c:layout/>
      <c:overlay val="0"/>
    </c:title>
    <c:autoTitleDeleted val="0"/>
    <c:plotArea>
      <c:layout/>
      <c:barChart>
        <c:barDir val="bar"/>
        <c:grouping val="clustered"/>
        <c:varyColors val="0"/>
        <c:ser>
          <c:idx val="0"/>
          <c:order val="0"/>
          <c:tx>
            <c:strRef>
              <c:f>Sheet1!$B$1</c:f>
              <c:strCache>
                <c:ptCount val="1"/>
                <c:pt idx="0">
                  <c:v>Evaluasi (ribu)</c:v>
                </c:pt>
              </c:strCache>
            </c:strRef>
          </c:tx>
          <c:spPr>
            <a:solidFill>
              <a:srgbClr val="008300"/>
            </a:solidFill>
            <a:effectLst/>
          </c:spPr>
          <c:invertIfNegative val="0"/>
          <c:dLbls>
            <c:numFmt formatCode="0.0" sourceLinked="0"/>
            <c:txPr>
              <a:bodyPr/>
              <a:lstStyle/>
              <a:p>
                <a:pPr>
                  <a:defRPr b="0" i="0" strike="noStrike" sz="1100" u="none">
                    <a:solidFill>
                      <a:srgbClr val="3A3A3A"/>
                    </a:solidFill>
                    <a:latin typeface="+mn-lt"/>
                  </a:defRPr>
                </a:pPr>
              </a:p>
            </c:txPr>
            <c:showLegendKey val="0"/>
            <c:showVal val="1"/>
            <c:showCatName val="0"/>
            <c:showSerName val="0"/>
            <c:showPercent val="0"/>
            <c:showBubbleSize val="0"/>
            <c:showLeaderLines val="0"/>
          </c:dLbls>
          <c:dPt>
            <c:idx val="0"/>
            <c:invertIfNegative val="0"/>
            <c:bubble3D val="0"/>
            <c:spPr>
              <a:solidFill>
                <a:srgbClr val="008300"/>
              </a:solidFill>
              <a:effectLst/>
            </c:spPr>
          </c:dPt>
          <c:dPt>
            <c:idx val="1"/>
            <c:invertIfNegative val="0"/>
            <c:bubble3D val="0"/>
            <c:spPr>
              <a:solidFill>
                <a:srgbClr val="E34948"/>
              </a:solidFill>
              <a:effectLst/>
            </c:spPr>
          </c:dPt>
          <c:dPt>
            <c:idx val="2"/>
            <c:invertIfNegative val="0"/>
            <c:bubble3D val="0"/>
            <c:spPr>
              <a:solidFill>
                <a:srgbClr val="2A78D6"/>
              </a:solidFill>
              <a:effectLst/>
            </c:spPr>
          </c:dPt>
          <c:dPt>
            <c:idx val="3"/>
            <c:invertIfNegative val="0"/>
            <c:bubble3D val="0"/>
            <c:spPr>
              <a:solidFill>
                <a:srgbClr val="EB6834"/>
              </a:solidFill>
              <a:effectLst/>
            </c:spPr>
          </c:dPt>
          <c:dPt>
            <c:idx val="4"/>
            <c:invertIfNegative val="0"/>
            <c:bubble3D val="0"/>
            <c:spPr>
              <a:solidFill>
                <a:srgbClr val="EDA100"/>
              </a:solidFill>
              <a:effectLst/>
            </c:spPr>
          </c:dPt>
          <c:dPt>
            <c:idx val="5"/>
            <c:invertIfNegative val="0"/>
            <c:bubble3D val="0"/>
            <c:spPr>
              <a:solidFill>
                <a:srgbClr val="1BAF7A"/>
              </a:solidFill>
              <a:effectLst/>
            </c:spPr>
          </c:dPt>
          <c:dPt>
            <c:idx val="6"/>
            <c:invertIfNegative val="0"/>
            <c:bubble3D val="0"/>
            <c:spPr>
              <a:solidFill>
                <a:srgbClr val="E87BA4"/>
              </a:solidFill>
              <a:effectLst/>
            </c:spPr>
          </c:dPt>
          <c:dPt>
            <c:idx val="7"/>
            <c:invertIfNegative val="0"/>
            <c:bubble3D val="0"/>
            <c:spPr>
              <a:solidFill>
                <a:srgbClr val="6250D6"/>
              </a:solidFill>
              <a:effectLst/>
            </c:spPr>
          </c:dPt>
          <c:cat>
            <c:multiLvlStrRef>
              <c:f>Sheet1!$A$2:$A$9</c:f>
              <c:multiLvlStrCache>
                <c:ptCount val="8"/>
                <c:lvl>
                  <c:pt idx="0">
                    <c:v>EHC</c:v>
                  </c:pt>
                  <c:pt idx="1">
                    <c:v>GA</c:v>
                  </c:pt>
                  <c:pt idx="2">
                    <c:v>HC</c:v>
                  </c:pt>
                  <c:pt idx="3">
                    <c:v>HC-Sideways</c:v>
                  </c:pt>
                  <c:pt idx="4">
                    <c:v>Random-Walk HC</c:v>
                  </c:pt>
                  <c:pt idx="5">
                    <c:v>Stochastic HC</c:v>
                  </c:pt>
                  <c:pt idx="6">
                    <c:v>RR-HC</c:v>
                  </c:pt>
                  <c:pt idx="7">
                    <c:v>SA</c:v>
                  </c:pt>
                </c:lvl>
              </c:multiLvlStrCache>
            </c:multiLvlStrRef>
          </c:cat>
          <c:val>
            <c:numRef>
              <c:f>Sheet1!$B$2:$B$9</c:f>
              <c:numCache>
                <c:formatCode>General</c:formatCode>
                <c:ptCount val="8"/>
                <c:pt idx="0">
                  <c:v>3.9</c:v>
                </c:pt>
                <c:pt idx="1">
                  <c:v>15.2</c:v>
                </c:pt>
                <c:pt idx="2">
                  <c:v>25.6</c:v>
                </c:pt>
                <c:pt idx="3">
                  <c:v>25.6</c:v>
                </c:pt>
                <c:pt idx="4">
                  <c:v>29.4</c:v>
                </c:pt>
                <c:pt idx="5">
                  <c:v>69.5</c:v>
                </c:pt>
                <c:pt idx="6">
                  <c:v>86.5</c:v>
                </c:pt>
                <c:pt idx="7">
                  <c:v>181.4</c:v>
                </c:pt>
              </c:numCache>
            </c:numRef>
          </c:val>
        </c:ser>
        <c:dLbls>
          <c:numFmt formatCode="0.0" sourceLinked="0"/>
          <c:txPr>
            <a:bodyPr/>
            <a:lstStyle/>
            <a:p>
              <a:pPr>
                <a:defRPr b="0" i="0" strike="noStrike" sz="1100" u="none">
                  <a:solidFill>
                    <a:srgbClr val="3A3A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5E6B65"/>
                </a:solidFill>
                <a:latin typeface="+mn-lt"/>
              </a:defRPr>
            </a:pPr>
            <a:endParaRPr lang="en-US"/>
          </a:p>
        </c:txPr>
        <c:crossAx val="2094734552"/>
        <c:crosses val="autoZero"/>
        <c:auto val="1"/>
        <c:lblAlgn val="ctr"/>
        <c:noMultiLvlLbl val="1"/>
      </c:catAx>
      <c:valAx>
        <c:axId val="2094734552"/>
        <c:scaling>
          <c:orientation val="minMax"/>
          <c:min val="0"/>
        </c:scaling>
        <c:delete val="1"/>
        <c:axPos val="b"/>
        <c:majorGridlines>
          <c:spPr>
            <a:ln w="9525" cap="flat">
              <a:solidFill>
                <a:srgbClr val="E2E6E3"/>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E6B6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B"/>
                </a:solidFill>
                <a:latin typeface="+mn-lt"/>
              </a:defRPr>
            </a:pPr>
            <a:r>
              <a:rPr sz="1400" b="0" i="0" u="none" strike="noStrike">
                <a:solidFill>
                  <a:srgbClr val="1B1B1B"/>
                </a:solidFill>
                <a:latin typeface="+mn-lt"/>
              </a:rPr>
              <a:t>Selisih rata-rata dari terbaik diketahui, surabaya_6sppg</a:t>
            </a:r>
          </a:p>
        </c:rich>
      </c:tx>
      <c:layout/>
      <c:overlay val="0"/>
    </c:title>
    <c:autoTitleDeleted val="0"/>
    <c:plotArea>
      <c:layout/>
      <c:barChart>
        <c:barDir val="bar"/>
        <c:grouping val="clustered"/>
        <c:varyColors val="0"/>
        <c:ser>
          <c:idx val="0"/>
          <c:order val="0"/>
          <c:tx>
            <c:strRef>
              <c:f>Sheet1!$B$1</c:f>
              <c:strCache>
                <c:ptCount val="1"/>
                <c:pt idx="0">
                  <c:v>Selisih</c:v>
                </c:pt>
              </c:strCache>
            </c:strRef>
          </c:tx>
          <c:spPr>
            <a:solidFill>
              <a:srgbClr val="2A78D6"/>
            </a:solidFill>
            <a:effectLst/>
          </c:spPr>
          <c:invertIfNegative val="0"/>
          <c:dLbls>
            <c:numFmt formatCode="0.00&quot;%&quot;" sourceLinked="0"/>
            <c:txPr>
              <a:bodyPr/>
              <a:lstStyle/>
              <a:p>
                <a:pPr>
                  <a:defRPr b="0" i="0" strike="noStrike" sz="1100" u="none">
                    <a:solidFill>
                      <a:srgbClr val="3A3A3A"/>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2A78D6"/>
              </a:solidFill>
              <a:effectLst/>
            </c:spPr>
          </c:dPt>
          <c:dPt>
            <c:idx val="2"/>
            <c:invertIfNegative val="0"/>
            <c:bubble3D val="0"/>
            <c:spPr>
              <a:solidFill>
                <a:srgbClr val="2A78D6"/>
              </a:solidFill>
              <a:effectLst/>
            </c:spPr>
          </c:dPt>
          <c:dPt>
            <c:idx val="3"/>
            <c:invertIfNegative val="0"/>
            <c:bubble3D val="0"/>
            <c:spPr>
              <a:solidFill>
                <a:srgbClr val="2A78D6"/>
              </a:solidFill>
              <a:effectLst/>
            </c:spPr>
          </c:dPt>
          <c:dPt>
            <c:idx val="4"/>
            <c:invertIfNegative val="0"/>
            <c:bubble3D val="0"/>
            <c:spPr>
              <a:solidFill>
                <a:srgbClr val="2A78D6"/>
              </a:solidFill>
              <a:effectLst/>
            </c:spPr>
          </c:dPt>
          <c:dPt>
            <c:idx val="5"/>
            <c:invertIfNegative val="0"/>
            <c:bubble3D val="0"/>
            <c:spPr>
              <a:solidFill>
                <a:srgbClr val="2A78D6"/>
              </a:solidFill>
              <a:effectLst/>
            </c:spPr>
          </c:dPt>
          <c:dPt>
            <c:idx val="6"/>
            <c:invertIfNegative val="0"/>
            <c:bubble3D val="0"/>
            <c:spPr>
              <a:solidFill>
                <a:srgbClr val="EB6834"/>
              </a:solidFill>
              <a:effectLst/>
            </c:spPr>
          </c:dPt>
          <c:dPt>
            <c:idx val="7"/>
            <c:invertIfNegative val="0"/>
            <c:bubble3D val="0"/>
            <c:spPr>
              <a:solidFill>
                <a:srgbClr val="2A78D6"/>
              </a:solidFill>
              <a:effectLst/>
            </c:spPr>
          </c:dPt>
          <c:dPt>
            <c:idx val="8"/>
            <c:invertIfNegative val="0"/>
            <c:bubble3D val="0"/>
            <c:spPr>
              <a:solidFill>
                <a:srgbClr val="2A78D6"/>
              </a:solidFill>
              <a:effectLst/>
            </c:spPr>
          </c:dPt>
          <c:dPt>
            <c:idx val="9"/>
            <c:invertIfNegative val="0"/>
            <c:bubble3D val="0"/>
            <c:spPr>
              <a:solidFill>
                <a:srgbClr val="EB6834"/>
              </a:solidFill>
              <a:effectLst/>
            </c:spPr>
          </c:dPt>
          <c:dPt>
            <c:idx val="10"/>
            <c:invertIfNegative val="0"/>
            <c:bubble3D val="0"/>
            <c:spPr>
              <a:solidFill>
                <a:srgbClr val="EB6834"/>
              </a:solidFill>
              <a:effectLst/>
            </c:spPr>
          </c:dPt>
          <c:dPt>
            <c:idx val="11"/>
            <c:invertIfNegative val="0"/>
            <c:bubble3D val="0"/>
            <c:spPr>
              <a:solidFill>
                <a:srgbClr val="EB6834"/>
              </a:solidFill>
              <a:effectLst/>
            </c:spPr>
          </c:dPt>
          <c:dPt>
            <c:idx val="12"/>
            <c:invertIfNegative val="0"/>
            <c:bubble3D val="0"/>
            <c:spPr>
              <a:solidFill>
                <a:srgbClr val="52514E"/>
              </a:solidFill>
              <a:effectLst/>
            </c:spPr>
          </c:dPt>
          <c:cat>
            <c:multiLvlStrRef>
              <c:f>Sheet1!$A$2:$A$14</c:f>
              <c:multiLvlStrCache>
                <c:ptCount val="13"/>
                <c:lvl>
                  <c:pt idx="0">
                    <c:v>SA (2 tingkat)</c:v>
                  </c:pt>
                  <c:pt idx="1">
                    <c:v>EHC (2 tingkat)</c:v>
                  </c:pt>
                  <c:pt idx="2">
                    <c:v>RR-HC (2 tingkat)</c:v>
                  </c:pt>
                  <c:pt idx="3">
                    <c:v>GA (2 tingkat)</c:v>
                  </c:pt>
                  <c:pt idx="4">
                    <c:v>Random-Walk HC (2 tingkat)</c:v>
                  </c:pt>
                  <c:pt idx="5">
                    <c:v>Stochastic HC (2 tingkat)</c:v>
                  </c:pt>
                  <c:pt idx="6">
                    <c:v>ACO terintegrasi</c:v>
                  </c:pt>
                  <c:pt idx="7">
                    <c:v>HC (2 tingkat)</c:v>
                  </c:pt>
                  <c:pt idx="8">
                    <c:v>HC-Sideways (2 tingkat)</c:v>
                  </c:pt>
                  <c:pt idx="9">
                    <c:v>GA terintegrasi</c:v>
                  </c:pt>
                  <c:pt idx="10">
                    <c:v>HC terintegrasi</c:v>
                  </c:pt>
                  <c:pt idx="11">
                    <c:v>SA terintegrasi</c:v>
                  </c:pt>
                  <c:pt idx="12">
                    <c:v>Greedy</c:v>
                  </c:pt>
                </c:lvl>
              </c:multiLvlStrCache>
            </c:multiLvlStrRef>
          </c:cat>
          <c:val>
            <c:numRef>
              <c:f>Sheet1!$B$2:$B$14</c:f>
              <c:numCache>
                <c:formatCode>General</c:formatCode>
                <c:ptCount val="13"/>
                <c:pt idx="0">
                  <c:v>0.01</c:v>
                </c:pt>
                <c:pt idx="1">
                  <c:v>0.01</c:v>
                </c:pt>
                <c:pt idx="2">
                  <c:v>0.02</c:v>
                </c:pt>
                <c:pt idx="3">
                  <c:v>0.03</c:v>
                </c:pt>
                <c:pt idx="4">
                  <c:v>0.17</c:v>
                </c:pt>
                <c:pt idx="5">
                  <c:v>0.35</c:v>
                </c:pt>
                <c:pt idx="6">
                  <c:v>1.15</c:v>
                </c:pt>
                <c:pt idx="7">
                  <c:v>1.19</c:v>
                </c:pt>
                <c:pt idx="8">
                  <c:v>1.19</c:v>
                </c:pt>
                <c:pt idx="9">
                  <c:v>1.62</c:v>
                </c:pt>
                <c:pt idx="10">
                  <c:v>3.86</c:v>
                </c:pt>
                <c:pt idx="11">
                  <c:v>3.95</c:v>
                </c:pt>
                <c:pt idx="12">
                  <c:v>8.96</c:v>
                </c:pt>
              </c:numCache>
            </c:numRef>
          </c:val>
        </c:ser>
        <c:dLbls>
          <c:numFmt formatCode="0.00&quot;%&quot;" sourceLinked="0"/>
          <c:txPr>
            <a:bodyPr/>
            <a:lstStyle/>
            <a:p>
              <a:pPr>
                <a:defRPr b="0" i="0" strike="noStrike" sz="1100" u="none">
                  <a:solidFill>
                    <a:srgbClr val="3A3A3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E6B65"/>
                </a:solidFill>
                <a:latin typeface="+mn-lt"/>
              </a:defRPr>
            </a:pPr>
            <a:endParaRPr lang="en-US"/>
          </a:p>
        </c:txPr>
        <c:crossAx val="2094734552"/>
        <c:crosses val="autoZero"/>
        <c:auto val="1"/>
        <c:lblAlgn val="ctr"/>
        <c:noMultiLvlLbl val="1"/>
      </c:catAx>
      <c:valAx>
        <c:axId val="2094734552"/>
        <c:scaling>
          <c:orientation val="minMax"/>
          <c:min val="0"/>
        </c:scaling>
        <c:delete val="1"/>
        <c:axPos val="b"/>
        <c:majorGridlines>
          <c:spPr>
            <a:ln w="9525" cap="flat">
              <a:solidFill>
                <a:srgbClr val="E2E6E3"/>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E6B6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B"/>
                </a:solidFill>
                <a:latin typeface="+mn-lt"/>
              </a:defRPr>
            </a:pPr>
            <a:r>
              <a:rPr sz="1400" b="0" i="0" u="none" strike="noStrike">
                <a:solidFill>
                  <a:srgbClr val="1B1B1B"/>
                </a:solidFill>
                <a:latin typeface="+mn-lt"/>
              </a:rPr>
              <a:t>Biaya bensin (ribu Rp) vs maks sekolah per Granmax</a:t>
            </a:r>
          </a:p>
        </c:rich>
      </c:tx>
      <c:layout/>
      <c:overlay val="0"/>
    </c:title>
    <c:autoTitleDeleted val="0"/>
    <c:plotArea>
      <c:layout/>
      <c:lineChart>
        <c:varyColors val="0"/>
        <c:ser>
          <c:idx val="0"/>
          <c:order val="0"/>
          <c:tx>
            <c:strRef>
              <c:f>Sheet1!$B$1</c:f>
              <c:strCache>
                <c:ptCount val="1"/>
                <c:pt idx="0">
                  <c:v>Biaya bensin (ribu Rp)</c:v>
                </c:pt>
              </c:strCache>
            </c:strRef>
          </c:tx>
          <c:spPr>
            <a:solidFill>
              <a:srgbClr val="E07A2E"/>
            </a:solidFill>
            <a:ln w="25400" cap="flat">
              <a:solidFill>
                <a:srgbClr val="E07A2E"/>
              </a:solidFill>
              <a:prstDash val="solid"/>
              <a:round/>
            </a:ln>
            <a:effectLst/>
          </c:spPr>
          <c:invertIfNegative val="0"/>
          <c:dLbls>
            <c:numFmt formatCode="0" sourceLinked="0"/>
            <c:txPr>
              <a:bodyPr/>
              <a:lstStyle/>
              <a:p>
                <a:pPr>
                  <a:defRPr b="0" i="0" strike="noStrike" sz="1100" u="none">
                    <a:solidFill>
                      <a:srgbClr val="3A3A3A"/>
                    </a:solidFill>
                    <a:latin typeface="+mn-lt"/>
                  </a:defRPr>
                </a:pPr>
              </a:p>
            </c:txPr>
            <c:dLblPos val="t"/>
            <c:showLegendKey val="0"/>
            <c:showVal val="1"/>
            <c:showCatName val="0"/>
            <c:showSerName val="0"/>
            <c:showPercent val="0"/>
            <c:showBubbleSize val="0"/>
            <c:showLeaderLines val="0"/>
          </c:dLbls>
          <c:marker>
            <c:symbol val="circle"/>
            <c:size val="9"/>
            <c:spPr>
              <a:solidFill>
                <a:srgbClr val="E07A2E"/>
              </a:solidFill>
              <a:ln w="9525" cap="flat">
                <a:solidFill>
                  <a:srgbClr val="E07A2E"/>
                </a:solidFill>
                <a:prstDash val="solid"/>
                <a:round/>
              </a:ln>
              <a:effectLst/>
            </c:spPr>
          </c:marker>
          <c:cat>
            <c:multiLvlStrRef>
              <c:f>Sheet1!$A$2:$A$5</c:f>
              <c:multiLvlStrCache>
                <c:ptCount val="4"/>
                <c:lvl>
                  <c:pt idx="0">
                    <c:v>1</c:v>
                  </c:pt>
                  <c:pt idx="1">
                    <c:v>2</c:v>
                  </c:pt>
                  <c:pt idx="2">
                    <c:v>3</c:v>
                  </c:pt>
                  <c:pt idx="3">
                    <c:v>4</c:v>
                  </c:pt>
                </c:lvl>
              </c:multiLvlStrCache>
            </c:multiLvlStrRef>
          </c:cat>
          <c:val>
            <c:numRef>
              <c:f>Sheet1!$B$2:$B$5</c:f>
              <c:numCache>
                <c:formatCode>General</c:formatCode>
                <c:ptCount val="4"/>
                <c:pt idx="0">
                  <c:v>229.9</c:v>
                </c:pt>
                <c:pt idx="1">
                  <c:v>150.5</c:v>
                </c:pt>
                <c:pt idx="2">
                  <c:v>129</c:v>
                </c:pt>
                <c:pt idx="3">
                  <c:v>129</c:v>
                </c:pt>
              </c:numCache>
            </c:numRef>
          </c:val>
          <c:smooth val="0"/>
        </c:ser>
        <c:dLbls>
          <c:numFmt formatCode="0" sourceLinked="0"/>
          <c:txPr>
            <a:bodyPr/>
            <a:lstStyle/>
            <a:p>
              <a:pPr>
                <a:defRPr b="0" i="0" strike="noStrike" sz="1100" u="none">
                  <a:solidFill>
                    <a:srgbClr val="3A3A3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E6B6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6E3"/>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E6B6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B"/>
                </a:solidFill>
                <a:latin typeface="+mn-lt"/>
              </a:defRPr>
            </a:pPr>
            <a:r>
              <a:rPr sz="1400" b="0" i="0" u="none" strike="noStrike">
                <a:solidFill>
                  <a:srgbClr val="1B1B1B"/>
                </a:solidFill>
                <a:latin typeface="+mn-lt"/>
              </a:rPr>
              <a:t>Waktu tiba terakhir vs faktor kemacetan</a:t>
            </a:r>
          </a:p>
        </c:rich>
      </c:tx>
      <c:layout/>
      <c:overlay val="0"/>
    </c:title>
    <c:autoTitleDeleted val="0"/>
    <c:plotArea>
      <c:layout/>
      <c:lineChart>
        <c:varyColors val="0"/>
        <c:ser>
          <c:idx val="0"/>
          <c:order val="0"/>
          <c:tx>
            <c:strRef>
              <c:f>Sheet1!$B$1</c:f>
              <c:strCache>
                <c:ptCount val="1"/>
                <c:pt idx="0">
                  <c:v>Sekolah terakhir tiba (mnt)</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100" u="none">
                    <a:solidFill>
                      <a:srgbClr val="3A3A3A"/>
                    </a:solidFill>
                    <a:latin typeface="+mn-lt"/>
                  </a:defRPr>
                </a:pPr>
              </a:p>
            </c:txPr>
            <c:showLegendKey val="0"/>
            <c:showVal val="0"/>
            <c:showCatName val="0"/>
            <c:showSerName val="0"/>
            <c:showPercent val="0"/>
            <c:showBubbleSize val="0"/>
            <c:showLeaderLines val="0"/>
          </c:dLbls>
          <c:marker>
            <c:symbol val="circle"/>
            <c:size val="8"/>
            <c:spPr>
              <a:solidFill>
                <a:srgbClr val="2A78D6"/>
              </a:solidFill>
              <a:ln w="9525" cap="flat">
                <a:solidFill>
                  <a:srgbClr val="2A78D6"/>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Sheet1!$B$2:$B$7</c:f>
              <c:numCache>
                <c:formatCode>General</c:formatCode>
                <c:ptCount val="6"/>
                <c:pt idx="0">
                  <c:v>44</c:v>
                </c:pt>
                <c:pt idx="1">
                  <c:v>58</c:v>
                </c:pt>
                <c:pt idx="2">
                  <c:v>87</c:v>
                </c:pt>
                <c:pt idx="3">
                  <c:v>115</c:v>
                </c:pt>
                <c:pt idx="4">
                  <c:v>143</c:v>
                </c:pt>
                <c:pt idx="5">
                  <c:v>172</c:v>
                </c:pt>
              </c:numCache>
            </c:numRef>
          </c:val>
          <c:smooth val="0"/>
        </c:ser>
        <c:ser>
          <c:idx val="1"/>
          <c:order val="1"/>
          <c:tx>
            <c:strRef>
              <c:f>Sheet1!$C$1</c:f>
              <c:strCache>
                <c:ptCount val="1"/>
                <c:pt idx="0">
                  <c:v>Batas 3 jam</c:v>
                </c:pt>
              </c:strCache>
            </c:strRef>
          </c:tx>
          <c:spPr>
            <a:solidFill>
              <a:srgbClr val="C0392B"/>
            </a:solidFill>
            <a:ln w="25400" cap="flat">
              <a:solidFill>
                <a:srgbClr val="C0392B"/>
              </a:solidFill>
              <a:prstDash val="solid"/>
              <a:round/>
            </a:ln>
            <a:effectLst/>
          </c:spPr>
          <c:invertIfNegative val="0"/>
          <c:dLbls>
            <c:numFmt formatCode="#,##0" sourceLinked="0"/>
            <c:txPr>
              <a:bodyPr/>
              <a:lstStyle/>
              <a:p>
                <a:pPr>
                  <a:defRPr b="0" i="0" strike="noStrike" sz="1100" u="none">
                    <a:solidFill>
                      <a:srgbClr val="3A3A3A"/>
                    </a:solidFill>
                    <a:latin typeface="+mn-lt"/>
                  </a:defRPr>
                </a:pPr>
              </a:p>
            </c:txPr>
            <c:showLegendKey val="0"/>
            <c:showVal val="0"/>
            <c:showCatName val="0"/>
            <c:showSerName val="0"/>
            <c:showPercent val="0"/>
            <c:showBubbleSize val="0"/>
            <c:showLeaderLines val="0"/>
          </c:dLbls>
          <c:marker>
            <c:symbol val="circle"/>
            <c:size val="8"/>
            <c:spPr>
              <a:solidFill>
                <a:srgbClr val="C0392B"/>
              </a:solidFill>
              <a:ln w="9525" cap="flat">
                <a:solidFill>
                  <a:srgbClr val="C0392B"/>
                </a:solidFill>
                <a:prstDash val="solid"/>
                <a:round/>
              </a:ln>
              <a:effectLst/>
            </c:spPr>
          </c:marker>
          <c:cat>
            <c:multiLvlStrRef>
              <c:f>Sheet1!$A$2:$A$7</c:f>
              <c:multiLvlStrCache>
                <c:ptCount val="6"/>
                <c:lvl>
                  <c:pt idx="0">
                    <c:v>1×</c:v>
                  </c:pt>
                  <c:pt idx="1">
                    <c:v>2×</c:v>
                  </c:pt>
                  <c:pt idx="2">
                    <c:v>4×</c:v>
                  </c:pt>
                  <c:pt idx="3">
                    <c:v>6×</c:v>
                  </c:pt>
                  <c:pt idx="4">
                    <c:v>8×</c:v>
                  </c:pt>
                  <c:pt idx="5">
                    <c:v>10×</c:v>
                  </c:pt>
                </c:lvl>
              </c:multiLvlStrCache>
            </c:multiLvlStrRef>
          </c:cat>
          <c:val>
            <c:numRef>
              <c:f>Sheet1!$C$2:$C$7</c:f>
              <c:numCache>
                <c:formatCode>General</c:formatCode>
                <c:ptCount val="6"/>
                <c:pt idx="0">
                  <c:v>180</c:v>
                </c:pt>
                <c:pt idx="1">
                  <c:v>180</c:v>
                </c:pt>
                <c:pt idx="2">
                  <c:v>180</c:v>
                </c:pt>
                <c:pt idx="3">
                  <c:v>180</c:v>
                </c:pt>
                <c:pt idx="4">
                  <c:v>180</c:v>
                </c:pt>
                <c:pt idx="5">
                  <c:v>180</c:v>
                </c:pt>
              </c:numCache>
            </c:numRef>
          </c:val>
          <c:smooth val="0"/>
        </c:ser>
        <c:dLbls>
          <c:numFmt formatCode="#,##0" sourceLinked="0"/>
          <c:txPr>
            <a:bodyPr/>
            <a:lstStyle/>
            <a:p>
              <a:pPr>
                <a:defRPr b="0" i="0" strike="noStrike" sz="1100" u="none">
                  <a:solidFill>
                    <a:srgbClr val="3A3A3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5E6B65"/>
                </a:solidFill>
                <a:latin typeface="+mn-lt"/>
              </a:defRPr>
            </a:pPr>
            <a:endParaRPr lang="en-US"/>
          </a:p>
        </c:txPr>
        <c:crossAx val="2094734552"/>
        <c:crosses val="autoZero"/>
        <c:auto val="1"/>
        <c:lblAlgn val="ctr"/>
        <c:noMultiLvlLbl val="1"/>
      </c:catAx>
      <c:valAx>
        <c:axId val="2094734552"/>
        <c:scaling>
          <c:orientation val="minMax"/>
          <c:max val="200"/>
          <c:min val="0"/>
        </c:scaling>
        <c:delete val="0"/>
        <c:axPos val="l"/>
        <c:majorGridlines>
          <c:spPr>
            <a:ln w="9525" cap="flat">
              <a:solidFill>
                <a:srgbClr val="E2E6E3"/>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E6B6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B6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(±30 detik). Kami mengoptimasi rute Granmax yang mengantar Makan Bergizi Gratis dari dapur SPPG ke sekolah di Surabaya. Masalahnya kami pecah menjadi dua tingkat: rute di dalam satu SPPG diselesaikan dengan algoritma pencarian dari Kuliah 2–3, dan pembagian sekolah ke SPPG dengan pencarian lokal dari Kuliah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Konteks (±45 detik). Program MBG berjalan sejak Januari 2025. Di Surabaya ada 133 SPPG; satu SPPG bisa melayani ribuan porsi. Ada dua kepentingan yang bertentangan: biaya bensin dan keamanan pangan (waktu tunggu makanan).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Formulasi (±1 menit). Depot = SPPG, pelanggan = sekolah. Objektif kedua rata-rata waktu tiba, bukan total waktu tempuh, karena tanpa macet total waktu sebanding dengan jarak. Kedua objektif digabung jadi satu fitness F dengan bobot w; F ini bisa dipecah menjadi jumlah biaya per ruas perjalanan, sehingga bisa dipakai langsung sebagai biaya jalur di algoritma pencarian.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(±45 detik). Sekolah dari OpenStreetMap, SPPG dari pemberitaan lalu di-geocode (koordinat perkiraan). Setiap SPPG mengambil sekolah acak dalam radius 3 km sehingga wilayah layanan tumpang tindih. Matriks jarak dan waktu dari OSRM mengikuti jalan sebenarnya.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 utama (±1 menit). Masalah ini punya dua keputusan dengan sifat berbeda. Pembagian sekolah ke SPPG ruangnya sangat besar, jadi kami pakai pencarian lokal. Rute di dalam satu SPPG kecil, paling banyak 9 sekolah, jadi bisa dicari secara sistematis. Setiap pembagian dinilai dengan rute optimal tiap SPPG. Karena SPPG tidak saling berbagi Granmax, pemecahan ini tidak mengorbankan optimalitas.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A (±1 menit). Keadaan, aksi, goal, dan biaya langkah mengikuti format pencarian di kuliah. Biaya langkah adalah kontribusi ruas itu ke fitness, jadi biaya jalur = biaya SPPG. Kami membandingkan enam algoritma. Untuk A* kami merancang dua heuristik admissible. h1 sederhana: jalan masuk termurah ke tiap sekolah. h2 memperhitungkan bahwa setiap Granmax hanya punya satu urutan pertama, jadi tidak semua sekolah bisa dianggap tiba langsung dari SPPG.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Bagian A (±1,5 menit). Grafik kiri: node yang diekspansi dan memori terhadap jumlah sekolah, skala log. Pada sub-masalah nyata, UCS, A* dan DFS-B&amp;B selalu optimal. BFS dan IDS memilih Granmax paling sedikit sehingga sekolah kedua dan ketiga menunggu lama: rata-rata 53,9% lebih mahal. GBFS mengabaikan biaya yang sudah dikeluarkan sehingga mengunjungi sekolah jauh lebih dulu. A* dengan h2 mengekspansi 19 kali lebih sedikit node daripada UCS, sedangkan h1 hanya 1,3 kali. IDS hanya selesai sampai k = 9; DFS-B&amp;B hanya selesai sampai k = 9 sebelum batas node.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B (±1 menit). Semua algoritma bergerak di ruang pembagian: vektor nomor SPPG untuk setiap sekolah. Fitness = jumlah biaya rute optimal tiap SPPG, dihitung oleh evaluator yang hasilnya identik dengan UCS/A* tetapi ribuan kali lebih cepat. Enam varian Hill Climbing berbeda dalam cara melangkah dan cara keluar dari optimum lokal; SA menerima langkah buruk secara probabilistik; GA memakai populasi.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Bagian B (±1,5 menit). Urutan rata-rata di surabaya_6sppg: SA &lt; EHC &lt; RR-HC &lt; GA &lt; Random-Walk HC &lt; Stochastic HC &lt; HC &lt; HC-Sideways. HC, HC-Sideways, dan Stochastic HC berhenti di optimum lokal; HC-Sideways identik dengan HC karena fitness kita bilangan real dari jarak jalan asli, jadi hampir tidak ada tetangga yang sama persis. Algoritma dengan mekanisme keluar dari optimum lokal jauh lebih andal.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Konvergensi (±1 menit). Sumbu x skala log. Varian HC turun paling cepat di awal lalu mendatar. EHC turun hampir secepat HC dan terus membaik karena di optimum lokal ia mencari kombinasi dua langkah. SA sengaja bertahan di suhu tinggi dulu. GA lebih lambat di awal karena setiap individu dievaluasi penuh.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Komparasi menyeluruh (±1 menit). Oranye: metaheuristik terintegrasi dari eksperimen awal yang mencari langsung di ruang rute penuh. Biru: pendekatan dua tingkat. ACO terintegrasi rata-rata 1,15% di atas terbaik diketahui. Pesan utamanya: representasi yang sesuai struktur masalah lebih menentukan daripada pilihan metaheuristik.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 (±1 menit). RR-HC dengan rute optimal dijalankan untuk lima bobot dan dibandingkan dengan Pareto front NSGA-II dari eksperimen awal. Dari solusi termurah ke tercepat, rata-rata waktu tiba turun 6,0 menit tetapi biaya naik Rp21.494 per hari. Pengelola SPPG bisa memilih bobot sesuai prioritasnya.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Rute (±45 detik). Solusi terbaik ditemukan oleh SA + rute optimal. Warna menunjukkan SPPG asal, angka urutan kunjungan, garis mengikuti jalan asli. Bila waktu memungkinkan, buka peta interaktif.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Sensitivitas (±45 detik). Konsumsi 10 km/L menaikkan biaya sekitar 40% tanpa mengubah rute. Batas 3 jam tidak aktif; bila diperketat ke 2 jam (anjuran WHO), batas mulai terlampaui saat waktu tempuh sekitar 8 kali kondisi lancar.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(±45 detik). Tutup dengan empat temuan, sebutkan repositori GitHub,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382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91640"/>
            <a:ext cx="6309360" cy="210312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19088"/>
            <a:ext cx="6400800" cy="274320"/>
          </a:xfrm>
          <a:prstGeom prst="rect">
            <a:avLst/>
          </a:prstGeom>
          <a:noFill/>
          <a:ln/>
        </p:spPr>
        <p:txBody>
          <a:bodyPr wrap="square" lIns="0" tIns="0" rIns="0" bIns="0" rtlCol="0" anchor="ctr"/>
          <a:lstStyle/>
          <a:p>
            <a:pPr indent="0" marL="0">
              <a:buNone/>
            </a:pPr>
            <a:r>
              <a:rPr lang="en-US" sz="1000" dirty="0">
                <a:solidFill>
                  <a:srgbClr val="5E6B65"/>
                </a:solidFill>
              </a:rPr>
              <a:t>Rute MBG Surabaya · ETS Konsep Kecerdasan Artifisial</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6" Type="http://schemas.openxmlformats.org/officeDocument/2006/relationships/hyperlink" Target="https://github.com/Mitschess/kka-2026" TargetMode="Externa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Asus\Downloads\KKA-2026\Projek-ETS\report\figs\fig_cover_surabaya_6sppg.png">    </p:cNvPr>
          <p:cNvPicPr>
            <a:picLocks noChangeAspect="1"/>
          </p:cNvPicPr>
          <p:nvPr/>
        </p:nvPicPr>
        <p:blipFill>
          <a:blip r:embed="rId1"/>
          <a:srcRect l="0" r="0" t="0" b="0"/>
          <a:stretch/>
        </p:blipFill>
        <p:spPr>
          <a:xfrm>
            <a:off x="7223760" y="0"/>
            <a:ext cx="4967935" cy="6858000"/>
          </a:xfrm>
          <a:prstGeom prst="rect">
            <a:avLst/>
          </a:prstGeom>
        </p:spPr>
      </p:pic>
      <p:sp>
        <p:nvSpPr>
          <p:cNvPr id="3" name="Text 0"/>
          <p:cNvSpPr txBox="1"/>
          <p:nvPr/>
        </p:nvSpPr>
        <p:spPr>
          <a:xfrm>
            <a:off x="548640" y="1097280"/>
            <a:ext cx="6400800" cy="365760"/>
          </a:xfrm>
          <a:prstGeom prst="rect">
            <a:avLst/>
          </a:prstGeom>
          <a:noFill/>
          <a:ln/>
        </p:spPr>
        <p:txBody>
          <a:bodyPr wrap="square" lIns="0" tIns="0" rIns="0" bIns="0" rtlCol="0" anchor="t"/>
          <a:lstStyle/>
          <a:p>
            <a:pPr indent="0" marL="0">
              <a:buNone/>
            </a:pPr>
            <a:r>
              <a:rPr lang="en-US" sz="1300" b="1" spc="200" kern="0" dirty="0">
                <a:solidFill>
                  <a:srgbClr val="9FD3B9"/>
                </a:solidFill>
              </a:rPr>
              <a:t>FINAL PROJECT · KONSEP KECERDASAN ARTIFISIAL</a:t>
            </a:r>
            <a:endParaRPr lang="en-US" sz="1300" dirty="0"/>
          </a:p>
        </p:txBody>
      </p:sp>
      <p:sp>
        <p:nvSpPr>
          <p:cNvPr id="4" name="Text 0"/>
          <p:cNvSpPr/>
          <p:nvPr>
            <p:ph idx="100" type="title" hasCustomPrompt="1"/>
          </p:nvPr>
        </p:nvSpPr>
        <p:spPr>
          <a:xfrm>
            <a:off x="548640" y="1691640"/>
            <a:ext cx="6309360" cy="2103120"/>
          </a:xfrm>
          <a:prstGeom prst="rect">
            <a:avLst/>
          </a:prstGeom>
          <a:noFill/>
          <a:ln/>
        </p:spPr>
        <p:txBody>
          <a:bodyPr wrap="square" lIns="0" tIns="0" rIns="0" bIns="0" rtlCol="0" anchor="t"/>
          <a:lstStyle/>
          <a:p>
            <a:pPr algn="l" indent="0" marL="0">
              <a:buNone/>
            </a:pPr>
            <a:r>
              <a:rPr lang="en-US" sz="3800" b="1" dirty="0">
                <a:solidFill>
                  <a:schemeClr val="bg1"/>
                </a:solidFill>
              </a:rPr>
              <a:t>Optimasi Rute Distribusi Makan Bergizi Gratis di Surabaya</a:t>
            </a:r>
            <a:endParaRPr lang="en-US" sz="3800" dirty="0"/>
          </a:p>
        </p:txBody>
      </p:sp>
      <p:sp>
        <p:nvSpPr>
          <p:cNvPr id="5" name="Text 2"/>
          <p:cNvSpPr txBox="1"/>
          <p:nvPr/>
        </p:nvSpPr>
        <p:spPr>
          <a:xfrm>
            <a:off x="548640" y="3977640"/>
            <a:ext cx="6400800" cy="822960"/>
          </a:xfrm>
          <a:prstGeom prst="rect">
            <a:avLst/>
          </a:prstGeom>
          <a:noFill/>
          <a:ln/>
        </p:spPr>
        <p:txBody>
          <a:bodyPr wrap="square" lIns="0" tIns="0" rIns="0" bIns="0" rtlCol="0" anchor="t"/>
          <a:lstStyle/>
          <a:p>
            <a:pPr indent="0" marL="0">
              <a:buNone/>
            </a:pPr>
            <a:r>
              <a:rPr lang="en-US" sz="1700" dirty="0">
                <a:solidFill>
                  <a:srgbClr val="D7E7DF"/>
                </a:solidFill>
              </a:rPr>
              <a:t>Algoritma pencarian (BFS, IDS, DFS-B&amp;B, UCS, A*, Greedy Best-First) + pencarian lokal (6 varian Hill Climbing, SA, GA)</a:t>
            </a:r>
            <a:endParaRPr lang="en-US" sz="1700" dirty="0"/>
          </a:p>
        </p:txBody>
      </p:sp>
      <p:sp>
        <p:nvSpPr>
          <p:cNvPr id="6" name="Text 3"/>
          <p:cNvSpPr txBox="1"/>
          <p:nvPr/>
        </p:nvSpPr>
        <p:spPr>
          <a:xfrm>
            <a:off x="548640" y="5394960"/>
            <a:ext cx="6400800" cy="365760"/>
          </a:xfrm>
          <a:prstGeom prst="rect">
            <a:avLst/>
          </a:prstGeom>
          <a:noFill/>
          <a:ln/>
        </p:spPr>
        <p:txBody>
          <a:bodyPr wrap="square" lIns="0" tIns="0" rIns="0" bIns="0" rtlCol="0" anchor="t"/>
          <a:lstStyle/>
          <a:p>
            <a:pPr indent="0" marL="0">
              <a:buNone/>
            </a:pPr>
            <a:r>
              <a:rPr lang="en-US" sz="1400" dirty="0">
                <a:solidFill>
                  <a:srgbClr val="FFFFFF"/>
                </a:solidFill>
              </a:rPr>
              <a:t>[Nama Anggota 1] · [Nama Anggota 2] · [Nama Anggota 3]</a:t>
            </a:r>
            <a:endParaRPr lang="en-US" sz="1400" dirty="0"/>
          </a:p>
        </p:txBody>
      </p:sp>
      <p:sp>
        <p:nvSpPr>
          <p:cNvPr id="7" name="Text 4"/>
          <p:cNvSpPr txBox="1"/>
          <p:nvPr/>
        </p:nvSpPr>
        <p:spPr>
          <a:xfrm>
            <a:off x="548640" y="5806440"/>
            <a:ext cx="6400800" cy="320040"/>
          </a:xfrm>
          <a:prstGeom prst="rect">
            <a:avLst/>
          </a:prstGeom>
          <a:noFill/>
          <a:ln/>
        </p:spPr>
        <p:txBody>
          <a:bodyPr wrap="square" lIns="0" tIns="0" rIns="0" bIns="0" rtlCol="0" anchor="t"/>
          <a:lstStyle/>
          <a:p>
            <a:pPr indent="0" marL="0">
              <a:buNone/>
            </a:pPr>
            <a:r>
              <a:rPr lang="en-US" sz="1200" dirty="0">
                <a:solidFill>
                  <a:srgbClr val="9FB5AA"/>
                </a:solidFill>
              </a:rPr>
              <a:t>Oktober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Hemat bensin atau makanan cepat sampai?</a:t>
            </a:r>
            <a:endParaRPr lang="en-US" sz="3200" dirty="0"/>
          </a:p>
        </p:txBody>
      </p:sp>
      <p:sp>
        <p:nvSpPr>
          <p:cNvPr id="3" name="Text 1"/>
          <p:cNvSpPr txBox="1"/>
          <p:nvPr/>
        </p:nvSpPr>
        <p:spPr>
          <a:xfrm>
            <a:off x="548640" y="1463040"/>
            <a:ext cx="5669280" cy="42062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chemeClr val="tx1"/>
                </a:solidFill>
              </a:rPr>
              <a:t>Setiap hari, dapur SPPG mengantar makanan matang ke banyak sekolah dengan Granmax.</a:t>
            </a:r>
            <a:endParaRPr lang="en-US" sz="1800" dirty="0"/>
          </a:p>
          <a:p>
            <a:pPr marL="228600" indent="-228600">
              <a:spcAft>
                <a:spcPts val="800"/>
              </a:spcAft>
              <a:buSzPct val="100000"/>
              <a:buChar char="•"/>
            </a:pPr>
            <a:r>
              <a:rPr lang="en-US" sz="1800" dirty="0">
                <a:solidFill>
                  <a:schemeClr val="tx1"/>
                </a:solidFill>
              </a:rPr>
              <a:t>Menggabungkan sekolah dalam satu perjalanan menghemat bensin, tetapi sekolah terakhir menunggu lebih lama.</a:t>
            </a:r>
            <a:endParaRPr lang="en-US" sz="1800" dirty="0"/>
          </a:p>
          <a:p>
            <a:pPr marL="228600" indent="-228600">
              <a:spcAft>
                <a:spcPts val="800"/>
              </a:spcAft>
              <a:buSzPct val="100000"/>
              <a:buChar char="•"/>
            </a:pPr>
            <a:r>
              <a:rPr lang="en-US" sz="1800" dirty="0">
                <a:solidFill>
                  <a:schemeClr val="tx1"/>
                </a:solidFill>
              </a:rPr>
              <a:t>Mengantar langsung ke tiap sekolah mempercepat waktu tiba, tetapi boros bensin.</a:t>
            </a:r>
            <a:endParaRPr lang="en-US" sz="1800" dirty="0"/>
          </a:p>
          <a:p>
            <a:pPr marL="228600" indent="-228600">
              <a:spcAft>
                <a:spcPts val="800"/>
              </a:spcAft>
              <a:buSzPct val="100000"/>
              <a:buChar char="•"/>
            </a:pPr>
            <a:r>
              <a:rPr lang="en-US" sz="1800" dirty="0">
                <a:solidFill>
                  <a:schemeClr val="tx1"/>
                </a:solidFill>
              </a:rPr>
              <a:t>Pertanyaan: rute seperti apa yang terbaik, dan algoritma AI mana yang paling andal menemukannya?</a:t>
            </a:r>
            <a:endParaRPr lang="en-US" sz="1800" dirty="0"/>
          </a:p>
        </p:txBody>
      </p:sp>
      <p:sp>
        <p:nvSpPr>
          <p:cNvPr id="4" name="Shape 2"/>
          <p:cNvSpPr/>
          <p:nvPr/>
        </p:nvSpPr>
        <p:spPr>
          <a:xfrm>
            <a:off x="6766560" y="1417320"/>
            <a:ext cx="4873752" cy="1371600"/>
          </a:xfrm>
          <a:prstGeom prst="roundRect">
            <a:avLst>
              <a:gd name="adj" fmla="val 8000"/>
            </a:avLst>
          </a:prstGeom>
          <a:solidFill>
            <a:srgbClr val="EEF4F0"/>
          </a:solidFill>
          <a:ln w="12700">
            <a:solidFill>
              <a:srgbClr val="EEF4F0"/>
            </a:solidFill>
            <a:prstDash val="solid"/>
          </a:ln>
        </p:spPr>
      </p:sp>
      <p:sp>
        <p:nvSpPr>
          <p:cNvPr id="5" name="Shape 3"/>
          <p:cNvSpPr/>
          <p:nvPr/>
        </p:nvSpPr>
        <p:spPr>
          <a:xfrm>
            <a:off x="6995160" y="1691640"/>
            <a:ext cx="822960" cy="822960"/>
          </a:xfrm>
          <a:prstGeom prst="ellipse">
            <a:avLst/>
          </a:prstGeom>
          <a:solidFill>
            <a:srgbClr val="1F5C46"/>
          </a:solidFill>
          <a:ln w="12700">
            <a:solidFill>
              <a:srgbClr val="1F5C46"/>
            </a:solidFill>
            <a:prstDash val="solid"/>
          </a:ln>
        </p:spPr>
      </p:sp>
      <p:pic>
        <p:nvPicPr>
          <p:cNvPr id="6" name="Image 0" descr="preencoded.png">    </p:cNvPr>
          <p:cNvPicPr>
            <a:picLocks noChangeAspect="1"/>
          </p:cNvPicPr>
          <p:nvPr/>
        </p:nvPicPr>
        <p:blipFill>
          <a:blip r:embed="rId1"/>
          <a:stretch>
            <a:fillRect/>
          </a:stretch>
        </p:blipFill>
        <p:spPr>
          <a:xfrm>
            <a:off x="7192670" y="1889150"/>
            <a:ext cx="427939" cy="427939"/>
          </a:xfrm>
          <a:prstGeom prst="rect">
            <a:avLst/>
          </a:prstGeom>
        </p:spPr>
      </p:pic>
      <p:sp>
        <p:nvSpPr>
          <p:cNvPr id="7" name="Text 4"/>
          <p:cNvSpPr txBox="1"/>
          <p:nvPr/>
        </p:nvSpPr>
        <p:spPr>
          <a:xfrm>
            <a:off x="8046720" y="1581912"/>
            <a:ext cx="3474720" cy="59436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133</a:t>
            </a:r>
            <a:endParaRPr lang="en-US" sz="3000" dirty="0"/>
          </a:p>
        </p:txBody>
      </p:sp>
      <p:sp>
        <p:nvSpPr>
          <p:cNvPr id="8" name="Text 5"/>
          <p:cNvSpPr txBox="1"/>
          <p:nvPr/>
        </p:nvSpPr>
        <p:spPr>
          <a:xfrm>
            <a:off x="8046720" y="2167128"/>
            <a:ext cx="3474720" cy="548640"/>
          </a:xfrm>
          <a:prstGeom prst="rect">
            <a:avLst/>
          </a:prstGeom>
          <a:noFill/>
          <a:ln/>
        </p:spPr>
        <p:txBody>
          <a:bodyPr wrap="square" lIns="0" tIns="0" rIns="0" bIns="0" rtlCol="0" anchor="t"/>
          <a:lstStyle/>
          <a:p>
            <a:pPr indent="0" marL="0">
              <a:buNone/>
            </a:pPr>
            <a:r>
              <a:rPr lang="en-US" sz="1300" dirty="0">
                <a:solidFill>
                  <a:srgbClr val="5E6B65"/>
                </a:solidFill>
              </a:rPr>
              <a:t>SPPG di Kota Surabaya (Mei 2026)</a:t>
            </a:r>
            <a:endParaRPr lang="en-US" sz="1300" dirty="0"/>
          </a:p>
        </p:txBody>
      </p:sp>
      <p:sp>
        <p:nvSpPr>
          <p:cNvPr id="9" name="Shape 6"/>
          <p:cNvSpPr/>
          <p:nvPr/>
        </p:nvSpPr>
        <p:spPr>
          <a:xfrm>
            <a:off x="6766560" y="3017520"/>
            <a:ext cx="4873752" cy="1371600"/>
          </a:xfrm>
          <a:prstGeom prst="roundRect">
            <a:avLst>
              <a:gd name="adj" fmla="val 8000"/>
            </a:avLst>
          </a:prstGeom>
          <a:solidFill>
            <a:srgbClr val="EEF4F0"/>
          </a:solidFill>
          <a:ln w="12700">
            <a:solidFill>
              <a:srgbClr val="EEF4F0"/>
            </a:solidFill>
            <a:prstDash val="solid"/>
          </a:ln>
        </p:spPr>
      </p:sp>
      <p:sp>
        <p:nvSpPr>
          <p:cNvPr id="10" name="Shape 7"/>
          <p:cNvSpPr/>
          <p:nvPr/>
        </p:nvSpPr>
        <p:spPr>
          <a:xfrm>
            <a:off x="6995160" y="3291840"/>
            <a:ext cx="822960" cy="822960"/>
          </a:xfrm>
          <a:prstGeom prst="ellipse">
            <a:avLst/>
          </a:prstGeom>
          <a:solidFill>
            <a:srgbClr val="1F5C46"/>
          </a:solidFill>
          <a:ln w="12700">
            <a:solidFill>
              <a:srgbClr val="1F5C46"/>
            </a:solidFill>
            <a:prstDash val="solid"/>
          </a:ln>
        </p:spPr>
      </p:sp>
      <p:pic>
        <p:nvPicPr>
          <p:cNvPr id="11" name="Image 1" descr="preencoded.png">    </p:cNvPr>
          <p:cNvPicPr>
            <a:picLocks noChangeAspect="1"/>
          </p:cNvPicPr>
          <p:nvPr/>
        </p:nvPicPr>
        <p:blipFill>
          <a:blip r:embed="rId2"/>
          <a:stretch>
            <a:fillRect/>
          </a:stretch>
        </p:blipFill>
        <p:spPr>
          <a:xfrm>
            <a:off x="7192670" y="3489350"/>
            <a:ext cx="427939" cy="427939"/>
          </a:xfrm>
          <a:prstGeom prst="rect">
            <a:avLst/>
          </a:prstGeom>
        </p:spPr>
      </p:pic>
      <p:sp>
        <p:nvSpPr>
          <p:cNvPr id="12" name="Text 8"/>
          <p:cNvSpPr txBox="1"/>
          <p:nvPr/>
        </p:nvSpPr>
        <p:spPr>
          <a:xfrm>
            <a:off x="8046720" y="3182112"/>
            <a:ext cx="3474720" cy="59436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3.119</a:t>
            </a:r>
            <a:endParaRPr lang="en-US" sz="3000" dirty="0"/>
          </a:p>
        </p:txBody>
      </p:sp>
      <p:sp>
        <p:nvSpPr>
          <p:cNvPr id="13" name="Text 9"/>
          <p:cNvSpPr txBox="1"/>
          <p:nvPr/>
        </p:nvSpPr>
        <p:spPr>
          <a:xfrm>
            <a:off x="8046720" y="3767328"/>
            <a:ext cx="3474720" cy="548640"/>
          </a:xfrm>
          <a:prstGeom prst="rect">
            <a:avLst/>
          </a:prstGeom>
          <a:noFill/>
          <a:ln/>
        </p:spPr>
        <p:txBody>
          <a:bodyPr wrap="square" lIns="0" tIns="0" rIns="0" bIns="0" rtlCol="0" anchor="t"/>
          <a:lstStyle/>
          <a:p>
            <a:pPr indent="0" marL="0">
              <a:buNone/>
            </a:pPr>
            <a:r>
              <a:rPr lang="en-US" sz="1300" dirty="0">
                <a:solidFill>
                  <a:srgbClr val="5E6B65"/>
                </a:solidFill>
              </a:rPr>
              <a:t>porsi ke 16 sekolah dari satu SPPG (Krembangan)</a:t>
            </a:r>
            <a:endParaRPr lang="en-US" sz="1300" dirty="0"/>
          </a:p>
        </p:txBody>
      </p:sp>
      <p:sp>
        <p:nvSpPr>
          <p:cNvPr id="14" name="Shape 10"/>
          <p:cNvSpPr/>
          <p:nvPr/>
        </p:nvSpPr>
        <p:spPr>
          <a:xfrm>
            <a:off x="6766560" y="4617720"/>
            <a:ext cx="4873752" cy="1371600"/>
          </a:xfrm>
          <a:prstGeom prst="roundRect">
            <a:avLst>
              <a:gd name="adj" fmla="val 8000"/>
            </a:avLst>
          </a:prstGeom>
          <a:solidFill>
            <a:srgbClr val="EEF4F0"/>
          </a:solidFill>
          <a:ln w="12700">
            <a:solidFill>
              <a:srgbClr val="EEF4F0"/>
            </a:solidFill>
            <a:prstDash val="solid"/>
          </a:ln>
        </p:spPr>
      </p:sp>
      <p:sp>
        <p:nvSpPr>
          <p:cNvPr id="15" name="Shape 11"/>
          <p:cNvSpPr/>
          <p:nvPr/>
        </p:nvSpPr>
        <p:spPr>
          <a:xfrm>
            <a:off x="6995160" y="4892040"/>
            <a:ext cx="822960" cy="822960"/>
          </a:xfrm>
          <a:prstGeom prst="ellipse">
            <a:avLst/>
          </a:prstGeom>
          <a:solidFill>
            <a:srgbClr val="1F5C46"/>
          </a:solidFill>
          <a:ln w="12700">
            <a:solidFill>
              <a:srgbClr val="1F5C46"/>
            </a:solidFill>
            <a:prstDash val="solid"/>
          </a:ln>
        </p:spPr>
      </p:sp>
      <p:pic>
        <p:nvPicPr>
          <p:cNvPr id="16" name="Image 2" descr="preencoded.png">    </p:cNvPr>
          <p:cNvPicPr>
            <a:picLocks noChangeAspect="1"/>
          </p:cNvPicPr>
          <p:nvPr/>
        </p:nvPicPr>
        <p:blipFill>
          <a:blip r:embed="rId3"/>
          <a:stretch>
            <a:fillRect/>
          </a:stretch>
        </p:blipFill>
        <p:spPr>
          <a:xfrm>
            <a:off x="7192670" y="5089550"/>
            <a:ext cx="427939" cy="427939"/>
          </a:xfrm>
          <a:prstGeom prst="rect">
            <a:avLst/>
          </a:prstGeom>
        </p:spPr>
      </p:pic>
      <p:sp>
        <p:nvSpPr>
          <p:cNvPr id="17" name="Text 12"/>
          <p:cNvSpPr txBox="1"/>
          <p:nvPr/>
        </p:nvSpPr>
        <p:spPr>
          <a:xfrm>
            <a:off x="8046720" y="4782312"/>
            <a:ext cx="3474720" cy="59436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2 jam</a:t>
            </a:r>
            <a:endParaRPr lang="en-US" sz="3000" dirty="0"/>
          </a:p>
        </p:txBody>
      </p:sp>
      <p:sp>
        <p:nvSpPr>
          <p:cNvPr id="18" name="Text 13"/>
          <p:cNvSpPr txBox="1"/>
          <p:nvPr/>
        </p:nvSpPr>
        <p:spPr>
          <a:xfrm>
            <a:off x="8046720" y="5367528"/>
            <a:ext cx="3474720" cy="548640"/>
          </a:xfrm>
          <a:prstGeom prst="rect">
            <a:avLst/>
          </a:prstGeom>
          <a:noFill/>
          <a:ln/>
        </p:spPr>
        <p:txBody>
          <a:bodyPr wrap="square" lIns="0" tIns="0" rIns="0" bIns="0" rtlCol="0" anchor="t"/>
          <a:lstStyle/>
          <a:p>
            <a:pPr indent="0" marL="0">
              <a:buNone/>
            </a:pPr>
            <a:r>
              <a:rPr lang="en-US" sz="1300" dirty="0">
                <a:solidFill>
                  <a:srgbClr val="5E6B65"/>
                </a:solidFill>
              </a:rPr>
              <a:t>anjuran WHO: makanan matang jangan dibiarkan lebih lama di suhu ruang</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Model: Multi-Depot VRP dengan dua objektif</a:t>
            </a:r>
            <a:endParaRPr lang="en-US" sz="3200" dirty="0"/>
          </a:p>
        </p:txBody>
      </p:sp>
      <p:sp>
        <p:nvSpPr>
          <p:cNvPr id="3" name="Shape 1"/>
          <p:cNvSpPr/>
          <p:nvPr/>
        </p:nvSpPr>
        <p:spPr>
          <a:xfrm>
            <a:off x="548640" y="1371600"/>
            <a:ext cx="5120640" cy="4754880"/>
          </a:xfrm>
          <a:prstGeom prst="roundRect">
            <a:avLst>
              <a:gd name="adj" fmla="val 2308"/>
            </a:avLst>
          </a:prstGeom>
          <a:solidFill>
            <a:srgbClr val="F6F8F7"/>
          </a:solidFill>
          <a:ln w="12700">
            <a:solidFill>
              <a:srgbClr val="F6F8F7"/>
            </a:solidFill>
            <a:prstDash val="solid"/>
          </a:ln>
        </p:spPr>
      </p:sp>
      <p:sp>
        <p:nvSpPr>
          <p:cNvPr id="4" name="Shape 2"/>
          <p:cNvSpPr/>
          <p:nvPr/>
        </p:nvSpPr>
        <p:spPr>
          <a:xfrm>
            <a:off x="1097280" y="2103120"/>
            <a:ext cx="914400" cy="1737360"/>
          </a:xfrm>
          <a:prstGeom prst="line">
            <a:avLst/>
          </a:prstGeom>
          <a:noFill/>
          <a:ln w="31750">
            <a:solidFill>
              <a:srgbClr val="2A78D6"/>
            </a:solidFill>
            <a:prstDash val="solid"/>
          </a:ln>
        </p:spPr>
      </p:sp>
      <p:sp>
        <p:nvSpPr>
          <p:cNvPr id="5" name="Shape 3"/>
          <p:cNvSpPr/>
          <p:nvPr/>
        </p:nvSpPr>
        <p:spPr>
          <a:xfrm flipH="1">
            <a:off x="1097280" y="1828800"/>
            <a:ext cx="1280160" cy="274320"/>
          </a:xfrm>
          <a:prstGeom prst="line">
            <a:avLst/>
          </a:prstGeom>
          <a:noFill/>
          <a:ln w="31750">
            <a:solidFill>
              <a:srgbClr val="2A78D6"/>
            </a:solidFill>
            <a:prstDash val="solid"/>
          </a:ln>
        </p:spPr>
      </p:sp>
      <p:sp>
        <p:nvSpPr>
          <p:cNvPr id="6" name="Shape 4"/>
          <p:cNvSpPr/>
          <p:nvPr/>
        </p:nvSpPr>
        <p:spPr>
          <a:xfrm flipH="1">
            <a:off x="2011680" y="1828800"/>
            <a:ext cx="365760" cy="2011680"/>
          </a:xfrm>
          <a:prstGeom prst="line">
            <a:avLst/>
          </a:prstGeom>
          <a:noFill/>
          <a:ln w="31750">
            <a:solidFill>
              <a:srgbClr val="2A78D6"/>
            </a:solidFill>
            <a:prstDash val="solid"/>
          </a:ln>
        </p:spPr>
      </p:sp>
      <p:sp>
        <p:nvSpPr>
          <p:cNvPr id="7" name="Shape 5"/>
          <p:cNvSpPr/>
          <p:nvPr/>
        </p:nvSpPr>
        <p:spPr>
          <a:xfrm flipH="1">
            <a:off x="2011680" y="2377440"/>
            <a:ext cx="2011680" cy="1463040"/>
          </a:xfrm>
          <a:prstGeom prst="line">
            <a:avLst/>
          </a:prstGeom>
          <a:noFill/>
          <a:ln w="31750">
            <a:solidFill>
              <a:srgbClr val="E07A2E"/>
            </a:solidFill>
            <a:prstDash val="solid"/>
          </a:ln>
        </p:spPr>
      </p:sp>
      <p:sp>
        <p:nvSpPr>
          <p:cNvPr id="8" name="Shape 6"/>
          <p:cNvSpPr/>
          <p:nvPr/>
        </p:nvSpPr>
        <p:spPr>
          <a:xfrm>
            <a:off x="4023360" y="2377440"/>
            <a:ext cx="457200" cy="1554480"/>
          </a:xfrm>
          <a:prstGeom prst="line">
            <a:avLst/>
          </a:prstGeom>
          <a:noFill/>
          <a:ln w="31750">
            <a:solidFill>
              <a:srgbClr val="E07A2E"/>
            </a:solidFill>
            <a:prstDash val="solid"/>
          </a:ln>
        </p:spPr>
      </p:sp>
      <p:sp>
        <p:nvSpPr>
          <p:cNvPr id="9" name="Shape 7"/>
          <p:cNvSpPr/>
          <p:nvPr/>
        </p:nvSpPr>
        <p:spPr>
          <a:xfrm>
            <a:off x="2011680" y="3840480"/>
            <a:ext cx="2468880" cy="91440"/>
          </a:xfrm>
          <a:prstGeom prst="line">
            <a:avLst/>
          </a:prstGeom>
          <a:noFill/>
          <a:ln w="31750">
            <a:solidFill>
              <a:srgbClr val="E07A2E"/>
            </a:solidFill>
            <a:prstDash val="solid"/>
          </a:ln>
        </p:spPr>
      </p:sp>
      <p:sp>
        <p:nvSpPr>
          <p:cNvPr id="10" name="Shape 8"/>
          <p:cNvSpPr/>
          <p:nvPr/>
        </p:nvSpPr>
        <p:spPr>
          <a:xfrm>
            <a:off x="2011680" y="3840480"/>
            <a:ext cx="1828800" cy="1463040"/>
          </a:xfrm>
          <a:prstGeom prst="line">
            <a:avLst/>
          </a:prstGeom>
          <a:noFill/>
          <a:ln w="31750">
            <a:solidFill>
              <a:srgbClr val="1BAF7A"/>
            </a:solidFill>
            <a:prstDash val="solid"/>
          </a:ln>
        </p:spPr>
      </p:sp>
      <p:sp>
        <p:nvSpPr>
          <p:cNvPr id="11" name="Shape 9"/>
          <p:cNvSpPr/>
          <p:nvPr/>
        </p:nvSpPr>
        <p:spPr>
          <a:xfrm>
            <a:off x="2011680" y="3840480"/>
            <a:ext cx="1828800" cy="1463040"/>
          </a:xfrm>
          <a:prstGeom prst="line">
            <a:avLst/>
          </a:prstGeom>
          <a:noFill/>
          <a:ln w="31750">
            <a:solidFill>
              <a:srgbClr val="1BAF7A"/>
            </a:solidFill>
            <a:prstDash val="solid"/>
          </a:ln>
        </p:spPr>
      </p:sp>
      <p:sp>
        <p:nvSpPr>
          <p:cNvPr id="12" name="Shape 10"/>
          <p:cNvSpPr/>
          <p:nvPr/>
        </p:nvSpPr>
        <p:spPr>
          <a:xfrm flipH="1">
            <a:off x="1280160" y="3840480"/>
            <a:ext cx="731520" cy="1371600"/>
          </a:xfrm>
          <a:prstGeom prst="line">
            <a:avLst/>
          </a:prstGeom>
          <a:noFill/>
          <a:ln w="31750">
            <a:solidFill>
              <a:srgbClr val="4A3AA7"/>
            </a:solidFill>
            <a:prstDash val="solid"/>
          </a:ln>
        </p:spPr>
      </p:sp>
      <p:sp>
        <p:nvSpPr>
          <p:cNvPr id="13" name="Shape 11"/>
          <p:cNvSpPr/>
          <p:nvPr/>
        </p:nvSpPr>
        <p:spPr>
          <a:xfrm flipH="1">
            <a:off x="1280160" y="3840480"/>
            <a:ext cx="731520" cy="1371600"/>
          </a:xfrm>
          <a:prstGeom prst="line">
            <a:avLst/>
          </a:prstGeom>
          <a:noFill/>
          <a:ln w="31750">
            <a:solidFill>
              <a:srgbClr val="4A3AA7"/>
            </a:solidFill>
            <a:prstDash val="solid"/>
          </a:ln>
        </p:spPr>
      </p:sp>
      <p:sp>
        <p:nvSpPr>
          <p:cNvPr id="14" name="Shape 12"/>
          <p:cNvSpPr/>
          <p:nvPr/>
        </p:nvSpPr>
        <p:spPr>
          <a:xfrm>
            <a:off x="941832" y="1947672"/>
            <a:ext cx="310896" cy="310896"/>
          </a:xfrm>
          <a:prstGeom prst="ellipse">
            <a:avLst/>
          </a:prstGeom>
          <a:solidFill>
            <a:srgbClr val="FFFFFF"/>
          </a:solidFill>
          <a:ln w="15875">
            <a:solidFill>
              <a:srgbClr val="1B1B1B"/>
            </a:solidFill>
            <a:prstDash val="solid"/>
          </a:ln>
        </p:spPr>
      </p:sp>
      <p:sp>
        <p:nvSpPr>
          <p:cNvPr id="15" name="Shape 13"/>
          <p:cNvSpPr/>
          <p:nvPr/>
        </p:nvSpPr>
        <p:spPr>
          <a:xfrm>
            <a:off x="2221992" y="1673352"/>
            <a:ext cx="310896" cy="310896"/>
          </a:xfrm>
          <a:prstGeom prst="ellipse">
            <a:avLst/>
          </a:prstGeom>
          <a:solidFill>
            <a:srgbClr val="FFFFFF"/>
          </a:solidFill>
          <a:ln w="15875">
            <a:solidFill>
              <a:srgbClr val="1B1B1B"/>
            </a:solidFill>
            <a:prstDash val="solid"/>
          </a:ln>
        </p:spPr>
      </p:sp>
      <p:sp>
        <p:nvSpPr>
          <p:cNvPr id="16" name="Shape 14"/>
          <p:cNvSpPr/>
          <p:nvPr/>
        </p:nvSpPr>
        <p:spPr>
          <a:xfrm>
            <a:off x="3867912" y="2221992"/>
            <a:ext cx="310896" cy="310896"/>
          </a:xfrm>
          <a:prstGeom prst="ellipse">
            <a:avLst/>
          </a:prstGeom>
          <a:solidFill>
            <a:srgbClr val="FFFFFF"/>
          </a:solidFill>
          <a:ln w="15875">
            <a:solidFill>
              <a:srgbClr val="1B1B1B"/>
            </a:solidFill>
            <a:prstDash val="solid"/>
          </a:ln>
        </p:spPr>
      </p:sp>
      <p:sp>
        <p:nvSpPr>
          <p:cNvPr id="17" name="Shape 15"/>
          <p:cNvSpPr/>
          <p:nvPr/>
        </p:nvSpPr>
        <p:spPr>
          <a:xfrm>
            <a:off x="4325112" y="3776472"/>
            <a:ext cx="310896" cy="310896"/>
          </a:xfrm>
          <a:prstGeom prst="ellipse">
            <a:avLst/>
          </a:prstGeom>
          <a:solidFill>
            <a:srgbClr val="FFFFFF"/>
          </a:solidFill>
          <a:ln w="15875">
            <a:solidFill>
              <a:srgbClr val="1B1B1B"/>
            </a:solidFill>
            <a:prstDash val="solid"/>
          </a:ln>
        </p:spPr>
      </p:sp>
      <p:sp>
        <p:nvSpPr>
          <p:cNvPr id="18" name="Shape 16"/>
          <p:cNvSpPr/>
          <p:nvPr/>
        </p:nvSpPr>
        <p:spPr>
          <a:xfrm>
            <a:off x="3685032" y="5148072"/>
            <a:ext cx="310896" cy="310896"/>
          </a:xfrm>
          <a:prstGeom prst="ellipse">
            <a:avLst/>
          </a:prstGeom>
          <a:solidFill>
            <a:srgbClr val="FFFFFF"/>
          </a:solidFill>
          <a:ln w="15875">
            <a:solidFill>
              <a:srgbClr val="1B1B1B"/>
            </a:solidFill>
            <a:prstDash val="solid"/>
          </a:ln>
        </p:spPr>
      </p:sp>
      <p:sp>
        <p:nvSpPr>
          <p:cNvPr id="19" name="Shape 17"/>
          <p:cNvSpPr/>
          <p:nvPr/>
        </p:nvSpPr>
        <p:spPr>
          <a:xfrm>
            <a:off x="1124712" y="5056632"/>
            <a:ext cx="310896" cy="310896"/>
          </a:xfrm>
          <a:prstGeom prst="ellipse">
            <a:avLst/>
          </a:prstGeom>
          <a:solidFill>
            <a:srgbClr val="FFFFFF"/>
          </a:solidFill>
          <a:ln w="15875">
            <a:solidFill>
              <a:srgbClr val="1B1B1B"/>
            </a:solidFill>
            <a:prstDash val="solid"/>
          </a:ln>
        </p:spPr>
      </p:sp>
      <p:sp>
        <p:nvSpPr>
          <p:cNvPr id="20" name="Shape 18"/>
          <p:cNvSpPr/>
          <p:nvPr/>
        </p:nvSpPr>
        <p:spPr>
          <a:xfrm>
            <a:off x="1645920" y="3474720"/>
            <a:ext cx="731520" cy="731520"/>
          </a:xfrm>
          <a:prstGeom prst="ellipse">
            <a:avLst/>
          </a:prstGeom>
          <a:solidFill>
            <a:srgbClr val="1F5C46"/>
          </a:solidFill>
          <a:ln w="12700">
            <a:solidFill>
              <a:srgbClr val="1F5C46"/>
            </a:solidFill>
            <a:prstDash val="solid"/>
          </a:ln>
        </p:spPr>
      </p:sp>
      <p:pic>
        <p:nvPicPr>
          <p:cNvPr id="21" name="Image 0" descr="preencoded.png">    </p:cNvPr>
          <p:cNvPicPr>
            <a:picLocks noChangeAspect="1"/>
          </p:cNvPicPr>
          <p:nvPr/>
        </p:nvPicPr>
        <p:blipFill>
          <a:blip r:embed="rId1"/>
          <a:stretch>
            <a:fillRect/>
          </a:stretch>
        </p:blipFill>
        <p:spPr>
          <a:xfrm>
            <a:off x="1821485" y="3650285"/>
            <a:ext cx="380390" cy="380390"/>
          </a:xfrm>
          <a:prstGeom prst="rect">
            <a:avLst/>
          </a:prstGeom>
        </p:spPr>
      </p:pic>
      <p:sp>
        <p:nvSpPr>
          <p:cNvPr id="22" name="Text 19"/>
          <p:cNvSpPr txBox="1"/>
          <p:nvPr/>
        </p:nvSpPr>
        <p:spPr>
          <a:xfrm>
            <a:off x="1463040" y="4251960"/>
            <a:ext cx="1097280" cy="274320"/>
          </a:xfrm>
          <a:prstGeom prst="rect">
            <a:avLst/>
          </a:prstGeom>
          <a:noFill/>
          <a:ln/>
        </p:spPr>
        <p:txBody>
          <a:bodyPr wrap="square" lIns="0" tIns="0" rIns="0" bIns="0" rtlCol="0" anchor="t"/>
          <a:lstStyle/>
          <a:p>
            <a:pPr algn="ctr" indent="0" marL="0">
              <a:buNone/>
            </a:pPr>
            <a:r>
              <a:rPr lang="en-US" sz="1200" b="1" dirty="0">
                <a:solidFill>
                  <a:schemeClr val="tx1"/>
                </a:solidFill>
              </a:rPr>
              <a:t>SPPG</a:t>
            </a:r>
            <a:endParaRPr lang="en-US" sz="1200" dirty="0"/>
          </a:p>
        </p:txBody>
      </p:sp>
      <p:sp>
        <p:nvSpPr>
          <p:cNvPr id="23" name="Text 20"/>
          <p:cNvSpPr txBox="1"/>
          <p:nvPr/>
        </p:nvSpPr>
        <p:spPr>
          <a:xfrm>
            <a:off x="777240" y="5715000"/>
            <a:ext cx="4663440" cy="320040"/>
          </a:xfrm>
          <a:prstGeom prst="rect">
            <a:avLst/>
          </a:prstGeom>
          <a:noFill/>
          <a:ln/>
        </p:spPr>
        <p:txBody>
          <a:bodyPr wrap="square" lIns="0" tIns="0" rIns="0" bIns="0" rtlCol="0" anchor="t"/>
          <a:lstStyle/>
          <a:p>
            <a:pPr indent="0" marL="0">
              <a:buNone/>
            </a:pPr>
            <a:r>
              <a:rPr lang="en-US" sz="1200" dirty="0">
                <a:solidFill>
                  <a:srgbClr val="5E6B65"/>
                </a:solidFill>
              </a:rPr>
              <a:t>Setiap warna = 1 Granmax (maks 3 sekolah, kembali ke SPPG)</a:t>
            </a:r>
            <a:endParaRPr lang="en-US" sz="1200" dirty="0"/>
          </a:p>
        </p:txBody>
      </p:sp>
      <p:sp>
        <p:nvSpPr>
          <p:cNvPr id="24" name="Shape 21"/>
          <p:cNvSpPr/>
          <p:nvPr/>
        </p:nvSpPr>
        <p:spPr>
          <a:xfrm>
            <a:off x="6217920" y="1463040"/>
            <a:ext cx="777240" cy="777240"/>
          </a:xfrm>
          <a:prstGeom prst="ellipse">
            <a:avLst/>
          </a:prstGeom>
          <a:solidFill>
            <a:srgbClr val="E07A2E"/>
          </a:solidFill>
          <a:ln w="12700">
            <a:solidFill>
              <a:srgbClr val="E07A2E"/>
            </a:solidFill>
            <a:prstDash val="solid"/>
          </a:ln>
        </p:spPr>
      </p:sp>
      <p:pic>
        <p:nvPicPr>
          <p:cNvPr id="25" name="Image 1" descr="preencoded.png">    </p:cNvPr>
          <p:cNvPicPr>
            <a:picLocks noChangeAspect="1"/>
          </p:cNvPicPr>
          <p:nvPr/>
        </p:nvPicPr>
        <p:blipFill>
          <a:blip r:embed="rId2"/>
          <a:stretch>
            <a:fillRect/>
          </a:stretch>
        </p:blipFill>
        <p:spPr>
          <a:xfrm>
            <a:off x="6404458" y="1649578"/>
            <a:ext cx="404165" cy="404165"/>
          </a:xfrm>
          <a:prstGeom prst="rect">
            <a:avLst/>
          </a:prstGeom>
        </p:spPr>
      </p:pic>
      <p:sp>
        <p:nvSpPr>
          <p:cNvPr id="26" name="Text 22"/>
          <p:cNvSpPr txBox="1"/>
          <p:nvPr/>
        </p:nvSpPr>
        <p:spPr>
          <a:xfrm>
            <a:off x="7178040" y="1371600"/>
            <a:ext cx="448056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f₁  Biaya bensin</a:t>
            </a:r>
            <a:endParaRPr lang="en-US" sz="2000" dirty="0"/>
          </a:p>
        </p:txBody>
      </p:sp>
      <p:sp>
        <p:nvSpPr>
          <p:cNvPr id="27" name="Text 23"/>
          <p:cNvSpPr txBox="1"/>
          <p:nvPr/>
        </p:nvSpPr>
        <p:spPr>
          <a:xfrm>
            <a:off x="7178040" y="1828800"/>
            <a:ext cx="4480560" cy="548640"/>
          </a:xfrm>
          <a:prstGeom prst="rect">
            <a:avLst/>
          </a:prstGeom>
          <a:noFill/>
          <a:ln/>
        </p:spPr>
        <p:txBody>
          <a:bodyPr wrap="square" lIns="0" tIns="0" rIns="0" bIns="0" rtlCol="0" anchor="t"/>
          <a:lstStyle/>
          <a:p>
            <a:pPr indent="0" marL="0">
              <a:buNone/>
            </a:pPr>
            <a:r>
              <a:rPr lang="en-US" sz="1500" dirty="0">
                <a:solidFill>
                  <a:srgbClr val="5E6B65"/>
                </a:solidFill>
              </a:rPr>
              <a:t>total km ÷ 14 km/L × Rp10.000 (Pertalite)</a:t>
            </a:r>
            <a:endParaRPr lang="en-US" sz="1500" dirty="0"/>
          </a:p>
        </p:txBody>
      </p:sp>
      <p:sp>
        <p:nvSpPr>
          <p:cNvPr id="28" name="Shape 24"/>
          <p:cNvSpPr/>
          <p:nvPr/>
        </p:nvSpPr>
        <p:spPr>
          <a:xfrm>
            <a:off x="6217920" y="2651760"/>
            <a:ext cx="777240" cy="777240"/>
          </a:xfrm>
          <a:prstGeom prst="ellipse">
            <a:avLst/>
          </a:prstGeom>
          <a:solidFill>
            <a:srgbClr val="2A78D6"/>
          </a:solidFill>
          <a:ln w="12700">
            <a:solidFill>
              <a:srgbClr val="2A78D6"/>
            </a:solidFill>
            <a:prstDash val="solid"/>
          </a:ln>
        </p:spPr>
      </p:sp>
      <p:pic>
        <p:nvPicPr>
          <p:cNvPr id="29" name="Image 2" descr="preencoded.png">    </p:cNvPr>
          <p:cNvPicPr>
            <a:picLocks noChangeAspect="1"/>
          </p:cNvPicPr>
          <p:nvPr/>
        </p:nvPicPr>
        <p:blipFill>
          <a:blip r:embed="rId3"/>
          <a:stretch>
            <a:fillRect/>
          </a:stretch>
        </p:blipFill>
        <p:spPr>
          <a:xfrm>
            <a:off x="6404458" y="2838298"/>
            <a:ext cx="404165" cy="404165"/>
          </a:xfrm>
          <a:prstGeom prst="rect">
            <a:avLst/>
          </a:prstGeom>
        </p:spPr>
      </p:pic>
      <p:sp>
        <p:nvSpPr>
          <p:cNvPr id="30" name="Text 25"/>
          <p:cNvSpPr txBox="1"/>
          <p:nvPr/>
        </p:nvSpPr>
        <p:spPr>
          <a:xfrm>
            <a:off x="7178040" y="2560320"/>
            <a:ext cx="448056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f₂  Rata-rata waktu tiba</a:t>
            </a:r>
            <a:endParaRPr lang="en-US" sz="2000" dirty="0"/>
          </a:p>
        </p:txBody>
      </p:sp>
      <p:sp>
        <p:nvSpPr>
          <p:cNvPr id="31" name="Text 26"/>
          <p:cNvSpPr txBox="1"/>
          <p:nvPr/>
        </p:nvSpPr>
        <p:spPr>
          <a:xfrm>
            <a:off x="7178040" y="3017520"/>
            <a:ext cx="4480560" cy="548640"/>
          </a:xfrm>
          <a:prstGeom prst="rect">
            <a:avLst/>
          </a:prstGeom>
          <a:noFill/>
          <a:ln/>
        </p:spPr>
        <p:txBody>
          <a:bodyPr wrap="square" lIns="0" tIns="0" rIns="0" bIns="0" rtlCol="0" anchor="t"/>
          <a:lstStyle/>
          <a:p>
            <a:pPr indent="0" marL="0">
              <a:buNone/>
            </a:pPr>
            <a:r>
              <a:rPr lang="en-US" sz="1500" dirty="0">
                <a:solidFill>
                  <a:srgbClr val="5E6B65"/>
                </a:solidFill>
              </a:rPr>
              <a:t>menit sejak makanan berangkat sampai tiba di sekolah</a:t>
            </a:r>
            <a:endParaRPr lang="en-US" sz="1500" dirty="0"/>
          </a:p>
        </p:txBody>
      </p:sp>
      <p:sp>
        <p:nvSpPr>
          <p:cNvPr id="32" name="Text 27"/>
          <p:cNvSpPr txBox="1"/>
          <p:nvPr/>
        </p:nvSpPr>
        <p:spPr>
          <a:xfrm>
            <a:off x="6217920" y="3886200"/>
            <a:ext cx="53949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Constraint</a:t>
            </a:r>
            <a:endParaRPr lang="en-US" sz="1800" dirty="0"/>
          </a:p>
        </p:txBody>
      </p:sp>
      <p:sp>
        <p:nvSpPr>
          <p:cNvPr id="33" name="Shape 28"/>
          <p:cNvSpPr/>
          <p:nvPr/>
        </p:nvSpPr>
        <p:spPr>
          <a:xfrm>
            <a:off x="6217920" y="4389120"/>
            <a:ext cx="2606040" cy="548640"/>
          </a:xfrm>
          <a:prstGeom prst="roundRect">
            <a:avLst>
              <a:gd name="adj" fmla="val 20000"/>
            </a:avLst>
          </a:prstGeom>
          <a:solidFill>
            <a:srgbClr val="EEF4F0"/>
          </a:solidFill>
          <a:ln w="12700">
            <a:solidFill>
              <a:srgbClr val="EEF4F0"/>
            </a:solidFill>
            <a:prstDash val="solid"/>
          </a:ln>
        </p:spPr>
      </p:sp>
      <p:sp>
        <p:nvSpPr>
          <p:cNvPr id="34" name="Text 29"/>
          <p:cNvSpPr txBox="1"/>
          <p:nvPr/>
        </p:nvSpPr>
        <p:spPr>
          <a:xfrm>
            <a:off x="6355080" y="4434840"/>
            <a:ext cx="2377440" cy="457200"/>
          </a:xfrm>
          <a:prstGeom prst="rect">
            <a:avLst/>
          </a:prstGeom>
          <a:noFill/>
          <a:ln/>
        </p:spPr>
        <p:txBody>
          <a:bodyPr wrap="square" lIns="0" tIns="0" rIns="0" bIns="0" rtlCol="0" anchor="ctr"/>
          <a:lstStyle/>
          <a:p>
            <a:pPr indent="0" marL="0">
              <a:buNone/>
            </a:pPr>
            <a:r>
              <a:rPr lang="en-US" sz="1400" dirty="0">
                <a:solidFill>
                  <a:schemeClr val="tx1"/>
                </a:solidFill>
              </a:rPr>
              <a:t>maks 3 sekolah / Granmax</a:t>
            </a:r>
            <a:endParaRPr lang="en-US" sz="1400" dirty="0"/>
          </a:p>
        </p:txBody>
      </p:sp>
      <p:sp>
        <p:nvSpPr>
          <p:cNvPr id="35" name="Shape 30"/>
          <p:cNvSpPr/>
          <p:nvPr/>
        </p:nvSpPr>
        <p:spPr>
          <a:xfrm>
            <a:off x="8961120" y="4389120"/>
            <a:ext cx="2606040" cy="548640"/>
          </a:xfrm>
          <a:prstGeom prst="roundRect">
            <a:avLst>
              <a:gd name="adj" fmla="val 20000"/>
            </a:avLst>
          </a:prstGeom>
          <a:solidFill>
            <a:srgbClr val="EEF4F0"/>
          </a:solidFill>
          <a:ln w="12700">
            <a:solidFill>
              <a:srgbClr val="EEF4F0"/>
            </a:solidFill>
            <a:prstDash val="solid"/>
          </a:ln>
        </p:spPr>
      </p:sp>
      <p:sp>
        <p:nvSpPr>
          <p:cNvPr id="36" name="Text 31"/>
          <p:cNvSpPr txBox="1"/>
          <p:nvPr/>
        </p:nvSpPr>
        <p:spPr>
          <a:xfrm>
            <a:off x="9098280" y="4434840"/>
            <a:ext cx="2377440" cy="457200"/>
          </a:xfrm>
          <a:prstGeom prst="rect">
            <a:avLst/>
          </a:prstGeom>
          <a:noFill/>
          <a:ln/>
        </p:spPr>
        <p:txBody>
          <a:bodyPr wrap="square" lIns="0" tIns="0" rIns="0" bIns="0" rtlCol="0" anchor="ctr"/>
          <a:lstStyle/>
          <a:p>
            <a:pPr indent="0" marL="0">
              <a:buNone/>
            </a:pPr>
            <a:r>
              <a:rPr lang="en-US" sz="1400" dirty="0">
                <a:solidFill>
                  <a:schemeClr val="tx1"/>
                </a:solidFill>
              </a:rPr>
              <a:t>3 Granmax / SPPG</a:t>
            </a:r>
            <a:endParaRPr lang="en-US" sz="1400" dirty="0"/>
          </a:p>
        </p:txBody>
      </p:sp>
      <p:sp>
        <p:nvSpPr>
          <p:cNvPr id="37" name="Shape 32"/>
          <p:cNvSpPr/>
          <p:nvPr/>
        </p:nvSpPr>
        <p:spPr>
          <a:xfrm>
            <a:off x="6217920" y="5074920"/>
            <a:ext cx="2606040" cy="548640"/>
          </a:xfrm>
          <a:prstGeom prst="roundRect">
            <a:avLst>
              <a:gd name="adj" fmla="val 20000"/>
            </a:avLst>
          </a:prstGeom>
          <a:solidFill>
            <a:srgbClr val="EEF4F0"/>
          </a:solidFill>
          <a:ln w="12700">
            <a:solidFill>
              <a:srgbClr val="EEF4F0"/>
            </a:solidFill>
            <a:prstDash val="solid"/>
          </a:ln>
        </p:spPr>
      </p:sp>
      <p:sp>
        <p:nvSpPr>
          <p:cNvPr id="38" name="Text 33"/>
          <p:cNvSpPr txBox="1"/>
          <p:nvPr/>
        </p:nvSpPr>
        <p:spPr>
          <a:xfrm>
            <a:off x="6355080" y="5120640"/>
            <a:ext cx="2377440" cy="457200"/>
          </a:xfrm>
          <a:prstGeom prst="rect">
            <a:avLst/>
          </a:prstGeom>
          <a:noFill/>
          <a:ln/>
        </p:spPr>
        <p:txBody>
          <a:bodyPr wrap="square" lIns="0" tIns="0" rIns="0" bIns="0" rtlCol="0" anchor="ctr"/>
          <a:lstStyle/>
          <a:p>
            <a:pPr indent="0" marL="0">
              <a:buNone/>
            </a:pPr>
            <a:r>
              <a:rPr lang="en-US" sz="1400" dirty="0">
                <a:solidFill>
                  <a:schemeClr val="tx1"/>
                </a:solidFill>
              </a:rPr>
              <a:t>bongkar 15 menit / sekolah</a:t>
            </a:r>
            <a:endParaRPr lang="en-US" sz="1400" dirty="0"/>
          </a:p>
        </p:txBody>
      </p:sp>
      <p:sp>
        <p:nvSpPr>
          <p:cNvPr id="39" name="Shape 34"/>
          <p:cNvSpPr/>
          <p:nvPr/>
        </p:nvSpPr>
        <p:spPr>
          <a:xfrm>
            <a:off x="8961120" y="5074920"/>
            <a:ext cx="2606040" cy="548640"/>
          </a:xfrm>
          <a:prstGeom prst="roundRect">
            <a:avLst>
              <a:gd name="adj" fmla="val 20000"/>
            </a:avLst>
          </a:prstGeom>
          <a:solidFill>
            <a:srgbClr val="EEF4F0"/>
          </a:solidFill>
          <a:ln w="12700">
            <a:solidFill>
              <a:srgbClr val="EEF4F0"/>
            </a:solidFill>
            <a:prstDash val="solid"/>
          </a:ln>
        </p:spPr>
      </p:sp>
      <p:sp>
        <p:nvSpPr>
          <p:cNvPr id="40" name="Text 35"/>
          <p:cNvSpPr txBox="1"/>
          <p:nvPr/>
        </p:nvSpPr>
        <p:spPr>
          <a:xfrm>
            <a:off x="9098280" y="5120640"/>
            <a:ext cx="2377440" cy="457200"/>
          </a:xfrm>
          <a:prstGeom prst="rect">
            <a:avLst/>
          </a:prstGeom>
          <a:noFill/>
          <a:ln/>
        </p:spPr>
        <p:txBody>
          <a:bodyPr wrap="square" lIns="0" tIns="0" rIns="0" bIns="0" rtlCol="0" anchor="ctr"/>
          <a:lstStyle/>
          <a:p>
            <a:pPr indent="0" marL="0">
              <a:buNone/>
            </a:pPr>
            <a:r>
              <a:rPr lang="en-US" sz="1400" dirty="0">
                <a:solidFill>
                  <a:schemeClr val="tx1"/>
                </a:solidFill>
              </a:rPr>
              <a:t>tiba ≤ 180 menit setelah masak</a:t>
            </a:r>
            <a:endParaRPr lang="en-US" sz="1400" dirty="0"/>
          </a:p>
        </p:txBody>
      </p:sp>
      <p:sp>
        <p:nvSpPr>
          <p:cNvPr id="41" name="Text 36"/>
          <p:cNvSpPr txBox="1"/>
          <p:nvPr/>
        </p:nvSpPr>
        <p:spPr>
          <a:xfrm>
            <a:off x="6217920" y="5806440"/>
            <a:ext cx="5394960" cy="365760"/>
          </a:xfrm>
          <a:prstGeom prst="rect">
            <a:avLst/>
          </a:prstGeom>
          <a:noFill/>
          <a:ln/>
        </p:spPr>
        <p:txBody>
          <a:bodyPr wrap="square" lIns="0" tIns="0" rIns="0" bIns="0" rtlCol="0" anchor="t"/>
          <a:lstStyle/>
          <a:p>
            <a:pPr indent="0" marL="0">
              <a:buNone/>
            </a:pPr>
            <a:r>
              <a:rPr lang="en-US" sz="1300" i="1" dirty="0">
                <a:solidFill>
                  <a:srgbClr val="5E6B65"/>
                </a:solidFill>
              </a:rPr>
              <a:t>Satu fitness: F = w·f₁/ref₁ + (1−w)·f₂/ref₂ + penalti</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Data jalan asli Surabaya</a:t>
            </a:r>
            <a:endParaRPr lang="en-US" sz="3200" dirty="0"/>
          </a:p>
        </p:txBody>
      </p:sp>
      <p:pic>
        <p:nvPicPr>
          <p:cNvPr id="3" name="Image 0" descr="C:\Users\Asus\Downloads\KKA-2026\Projek-ETS\report\figs\fig_wilayah.png">    </p:cNvPr>
          <p:cNvPicPr>
            <a:picLocks noChangeAspect="1"/>
          </p:cNvPicPr>
          <p:nvPr/>
        </p:nvPicPr>
        <p:blipFill>
          <a:blip r:embed="rId1"/>
          <a:stretch>
            <a:fillRect/>
          </a:stretch>
        </p:blipFill>
        <p:spPr>
          <a:xfrm>
            <a:off x="548640" y="1795940"/>
            <a:ext cx="7680960" cy="3906199"/>
          </a:xfrm>
          <a:prstGeom prst="rect">
            <a:avLst/>
          </a:prstGeom>
        </p:spPr>
      </p:pic>
      <p:sp>
        <p:nvSpPr>
          <p:cNvPr id="4" name="Text 1"/>
          <p:cNvSpPr txBox="1"/>
          <p:nvPr/>
        </p:nvSpPr>
        <p:spPr>
          <a:xfrm>
            <a:off x="8549640" y="1417320"/>
            <a:ext cx="310896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751</a:t>
            </a:r>
            <a:endParaRPr lang="en-US" sz="3000" dirty="0"/>
          </a:p>
        </p:txBody>
      </p:sp>
      <p:sp>
        <p:nvSpPr>
          <p:cNvPr id="5" name="Text 2"/>
          <p:cNvSpPr txBox="1"/>
          <p:nvPr/>
        </p:nvSpPr>
        <p:spPr>
          <a:xfrm>
            <a:off x="8549640" y="1965960"/>
            <a:ext cx="3108960" cy="502920"/>
          </a:xfrm>
          <a:prstGeom prst="rect">
            <a:avLst/>
          </a:prstGeom>
          <a:noFill/>
          <a:ln/>
        </p:spPr>
        <p:txBody>
          <a:bodyPr wrap="square" lIns="0" tIns="0" rIns="0" bIns="0" rtlCol="0" anchor="t"/>
          <a:lstStyle/>
          <a:p>
            <a:pPr indent="0" marL="0">
              <a:buNone/>
            </a:pPr>
            <a:r>
              <a:rPr lang="en-US" sz="1400" dirty="0">
                <a:solidFill>
                  <a:srgbClr val="5E6B65"/>
                </a:solidFill>
              </a:rPr>
              <a:t>SD/MI/SMP/MTs dari OpenStreetMap</a:t>
            </a:r>
            <a:endParaRPr lang="en-US" sz="1400" dirty="0"/>
          </a:p>
        </p:txBody>
      </p:sp>
      <p:sp>
        <p:nvSpPr>
          <p:cNvPr id="6" name="Text 3"/>
          <p:cNvSpPr txBox="1"/>
          <p:nvPr/>
        </p:nvSpPr>
        <p:spPr>
          <a:xfrm>
            <a:off x="8549640" y="2606040"/>
            <a:ext cx="310896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6</a:t>
            </a:r>
            <a:endParaRPr lang="en-US" sz="3000" dirty="0"/>
          </a:p>
        </p:txBody>
      </p:sp>
      <p:sp>
        <p:nvSpPr>
          <p:cNvPr id="7" name="Text 4"/>
          <p:cNvSpPr txBox="1"/>
          <p:nvPr/>
        </p:nvSpPr>
        <p:spPr>
          <a:xfrm>
            <a:off x="8549640" y="3154680"/>
            <a:ext cx="3108960" cy="502920"/>
          </a:xfrm>
          <a:prstGeom prst="rect">
            <a:avLst/>
          </a:prstGeom>
          <a:noFill/>
          <a:ln/>
        </p:spPr>
        <p:txBody>
          <a:bodyPr wrap="square" lIns="0" tIns="0" rIns="0" bIns="0" rtlCol="0" anchor="t"/>
          <a:lstStyle/>
          <a:p>
            <a:pPr indent="0" marL="0">
              <a:buNone/>
            </a:pPr>
            <a:r>
              <a:rPr lang="en-US" sz="1400" dirty="0">
                <a:solidFill>
                  <a:srgbClr val="5E6B65"/>
                </a:solidFill>
              </a:rPr>
              <a:t>SPPG dari berita (geocoding alamat)</a:t>
            </a:r>
            <a:endParaRPr lang="en-US" sz="1400" dirty="0"/>
          </a:p>
        </p:txBody>
      </p:sp>
      <p:sp>
        <p:nvSpPr>
          <p:cNvPr id="8" name="Text 5"/>
          <p:cNvSpPr txBox="1"/>
          <p:nvPr/>
        </p:nvSpPr>
        <p:spPr>
          <a:xfrm>
            <a:off x="8549640" y="3794760"/>
            <a:ext cx="310896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OSRM</a:t>
            </a:r>
            <a:endParaRPr lang="en-US" sz="3000" dirty="0"/>
          </a:p>
        </p:txBody>
      </p:sp>
      <p:sp>
        <p:nvSpPr>
          <p:cNvPr id="9" name="Text 6"/>
          <p:cNvSpPr txBox="1"/>
          <p:nvPr/>
        </p:nvSpPr>
        <p:spPr>
          <a:xfrm>
            <a:off x="8549640" y="4343400"/>
            <a:ext cx="3108960" cy="502920"/>
          </a:xfrm>
          <a:prstGeom prst="rect">
            <a:avLst/>
          </a:prstGeom>
          <a:noFill/>
          <a:ln/>
        </p:spPr>
        <p:txBody>
          <a:bodyPr wrap="square" lIns="0" tIns="0" rIns="0" bIns="0" rtlCol="0" anchor="t"/>
          <a:lstStyle/>
          <a:p>
            <a:pPr indent="0" marL="0">
              <a:buNone/>
            </a:pPr>
            <a:r>
              <a:rPr lang="en-US" sz="1400" dirty="0">
                <a:solidFill>
                  <a:srgbClr val="5E6B65"/>
                </a:solidFill>
              </a:rPr>
              <a:t>jarak &amp; waktu tempuh jalan asli, bukan garis lurus</a:t>
            </a:r>
            <a:endParaRPr lang="en-US" sz="1400" dirty="0"/>
          </a:p>
        </p:txBody>
      </p:sp>
      <p:sp>
        <p:nvSpPr>
          <p:cNvPr id="10" name="Text 7"/>
          <p:cNvSpPr txBox="1"/>
          <p:nvPr/>
        </p:nvSpPr>
        <p:spPr>
          <a:xfrm>
            <a:off x="8549640" y="4983480"/>
            <a:ext cx="3108960" cy="54864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2</a:t>
            </a:r>
            <a:endParaRPr lang="en-US" sz="3000" dirty="0"/>
          </a:p>
        </p:txBody>
      </p:sp>
      <p:sp>
        <p:nvSpPr>
          <p:cNvPr id="11" name="Text 8"/>
          <p:cNvSpPr txBox="1"/>
          <p:nvPr/>
        </p:nvSpPr>
        <p:spPr>
          <a:xfrm>
            <a:off x="8549640" y="5532120"/>
            <a:ext cx="3108960" cy="502920"/>
          </a:xfrm>
          <a:prstGeom prst="rect">
            <a:avLst/>
          </a:prstGeom>
          <a:noFill/>
          <a:ln/>
        </p:spPr>
        <p:txBody>
          <a:bodyPr wrap="square" lIns="0" tIns="0" rIns="0" bIns="0" rtlCol="0" anchor="t"/>
          <a:lstStyle/>
          <a:p>
            <a:pPr indent="0" marL="0">
              <a:buNone/>
            </a:pPr>
            <a:r>
              <a:rPr lang="en-US" sz="1400" dirty="0">
                <a:solidFill>
                  <a:srgbClr val="5E6B65"/>
                </a:solidFill>
              </a:rPr>
              <a:t>instance: 18 dan 42 sekolah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Dua keputusan, dua keluarga algoritma</a:t>
            </a:r>
            <a:endParaRPr lang="en-US" sz="3200" dirty="0"/>
          </a:p>
        </p:txBody>
      </p:sp>
      <p:sp>
        <p:nvSpPr>
          <p:cNvPr id="3" name="Shape 1"/>
          <p:cNvSpPr/>
          <p:nvPr/>
        </p:nvSpPr>
        <p:spPr>
          <a:xfrm>
            <a:off x="548640" y="1371600"/>
            <a:ext cx="5285232" cy="3566160"/>
          </a:xfrm>
          <a:prstGeom prst="roundRect">
            <a:avLst>
              <a:gd name="adj" fmla="val 3077"/>
            </a:avLst>
          </a:prstGeom>
          <a:solidFill>
            <a:srgbClr val="EEF4F0"/>
          </a:solidFill>
          <a:ln w="12700">
            <a:solidFill>
              <a:srgbClr val="EEF4F0"/>
            </a:solidFill>
            <a:prstDash val="solid"/>
          </a:ln>
        </p:spPr>
      </p:sp>
      <p:sp>
        <p:nvSpPr>
          <p:cNvPr id="4" name="Shape 2"/>
          <p:cNvSpPr/>
          <p:nvPr/>
        </p:nvSpPr>
        <p:spPr>
          <a:xfrm>
            <a:off x="822960" y="1600200"/>
            <a:ext cx="731520" cy="731520"/>
          </a:xfrm>
          <a:prstGeom prst="ellipse">
            <a:avLst/>
          </a:prstGeom>
          <a:solidFill>
            <a:srgbClr val="E07A2E"/>
          </a:solidFill>
          <a:ln w="12700">
            <a:solidFill>
              <a:srgbClr val="E07A2E"/>
            </a:solidFill>
            <a:prstDash val="solid"/>
          </a:ln>
        </p:spPr>
      </p:sp>
      <p:pic>
        <p:nvPicPr>
          <p:cNvPr id="5" name="Image 0" descr="preencoded.png">    </p:cNvPr>
          <p:cNvPicPr>
            <a:picLocks noChangeAspect="1"/>
          </p:cNvPicPr>
          <p:nvPr/>
        </p:nvPicPr>
        <p:blipFill>
          <a:blip r:embed="rId1"/>
          <a:stretch>
            <a:fillRect/>
          </a:stretch>
        </p:blipFill>
        <p:spPr>
          <a:xfrm>
            <a:off x="998525" y="1775765"/>
            <a:ext cx="380390" cy="380390"/>
          </a:xfrm>
          <a:prstGeom prst="rect">
            <a:avLst/>
          </a:prstGeom>
        </p:spPr>
      </p:pic>
      <p:sp>
        <p:nvSpPr>
          <p:cNvPr id="6" name="Text 3"/>
          <p:cNvSpPr txBox="1"/>
          <p:nvPr/>
        </p:nvSpPr>
        <p:spPr>
          <a:xfrm>
            <a:off x="1737360" y="1600200"/>
            <a:ext cx="3931920" cy="320040"/>
          </a:xfrm>
          <a:prstGeom prst="rect">
            <a:avLst/>
          </a:prstGeom>
          <a:noFill/>
          <a:ln/>
        </p:spPr>
        <p:txBody>
          <a:bodyPr wrap="square" lIns="0" tIns="0" rIns="0" bIns="0" rtlCol="0" anchor="t"/>
          <a:lstStyle/>
          <a:p>
            <a:pPr indent="0" marL="0">
              <a:buNone/>
            </a:pPr>
            <a:r>
              <a:rPr lang="en-US" sz="1300" b="1" dirty="0">
                <a:solidFill>
                  <a:srgbClr val="5E6B65"/>
                </a:solidFill>
              </a:rPr>
              <a:t>Bagian B · Kuliah 6</a:t>
            </a:r>
            <a:endParaRPr lang="en-US" sz="1300" dirty="0"/>
          </a:p>
        </p:txBody>
      </p:sp>
      <p:sp>
        <p:nvSpPr>
          <p:cNvPr id="7" name="Text 4"/>
          <p:cNvSpPr txBox="1"/>
          <p:nvPr/>
        </p:nvSpPr>
        <p:spPr>
          <a:xfrm>
            <a:off x="1737360" y="1920240"/>
            <a:ext cx="39319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Sekolah mana dilayani SPPG mana?</a:t>
            </a:r>
            <a:endParaRPr lang="en-US" sz="2000" dirty="0"/>
          </a:p>
        </p:txBody>
      </p:sp>
      <p:sp>
        <p:nvSpPr>
          <p:cNvPr id="8" name="Text 5"/>
          <p:cNvSpPr txBox="1"/>
          <p:nvPr/>
        </p:nvSpPr>
        <p:spPr>
          <a:xfrm>
            <a:off x="822960" y="2606040"/>
            <a:ext cx="4754880" cy="1097280"/>
          </a:xfrm>
          <a:prstGeom prst="rect">
            <a:avLst/>
          </a:prstGeom>
          <a:noFill/>
          <a:ln/>
        </p:spPr>
        <p:txBody>
          <a:bodyPr wrap="square" lIns="0" tIns="0" rIns="0" bIns="0" rtlCol="0" anchor="t"/>
          <a:lstStyle/>
          <a:p>
            <a:pPr indent="0" marL="0">
              <a:buNone/>
            </a:pPr>
            <a:r>
              <a:rPr lang="en-US" sz="1500" dirty="0">
                <a:solidFill>
                  <a:schemeClr val="tx1"/>
                </a:solidFill>
              </a:rPr>
              <a:t>6⁴² ≈ 10³³ kemungkinan → terlalu besar untuk ditelusuri, cocok untuk pencarian lokal</a:t>
            </a:r>
            <a:endParaRPr lang="en-US" sz="1500" dirty="0"/>
          </a:p>
        </p:txBody>
      </p:sp>
      <p:sp>
        <p:nvSpPr>
          <p:cNvPr id="9" name="Text 6"/>
          <p:cNvSpPr txBox="1"/>
          <p:nvPr/>
        </p:nvSpPr>
        <p:spPr>
          <a:xfrm>
            <a:off x="822960" y="3840480"/>
            <a:ext cx="4754880" cy="914400"/>
          </a:xfrm>
          <a:prstGeom prst="rect">
            <a:avLst/>
          </a:prstGeom>
          <a:noFill/>
          <a:ln/>
        </p:spPr>
        <p:txBody>
          <a:bodyPr wrap="square" lIns="0" tIns="0" rIns="0" bIns="0" rtlCol="0" anchor="t"/>
          <a:lstStyle/>
          <a:p>
            <a:pPr indent="0" marL="0">
              <a:buNone/>
            </a:pPr>
            <a:r>
              <a:rPr lang="en-US" sz="1500" b="1" dirty="0">
                <a:solidFill>
                  <a:srgbClr val="B4561A"/>
                </a:solidFill>
              </a:rPr>
              <a:t>Hill Climbing (6 varian) · Simulated Annealing · Genetic Algorithm</a:t>
            </a:r>
            <a:endParaRPr lang="en-US" sz="1500" dirty="0"/>
          </a:p>
        </p:txBody>
      </p:sp>
      <p:sp>
        <p:nvSpPr>
          <p:cNvPr id="10" name="Shape 7"/>
          <p:cNvSpPr/>
          <p:nvPr/>
        </p:nvSpPr>
        <p:spPr>
          <a:xfrm>
            <a:off x="6355080" y="1371600"/>
            <a:ext cx="5285232" cy="3566160"/>
          </a:xfrm>
          <a:prstGeom prst="roundRect">
            <a:avLst>
              <a:gd name="adj" fmla="val 3077"/>
            </a:avLst>
          </a:prstGeom>
          <a:solidFill>
            <a:srgbClr val="EEF4F0"/>
          </a:solidFill>
          <a:ln w="12700">
            <a:solidFill>
              <a:srgbClr val="EEF4F0"/>
            </a:solidFill>
            <a:prstDash val="solid"/>
          </a:ln>
        </p:spPr>
      </p:sp>
      <p:sp>
        <p:nvSpPr>
          <p:cNvPr id="11" name="Shape 8"/>
          <p:cNvSpPr/>
          <p:nvPr/>
        </p:nvSpPr>
        <p:spPr>
          <a:xfrm>
            <a:off x="6629400" y="1600200"/>
            <a:ext cx="731520" cy="731520"/>
          </a:xfrm>
          <a:prstGeom prst="ellipse">
            <a:avLst/>
          </a:prstGeom>
          <a:solidFill>
            <a:srgbClr val="2A78D6"/>
          </a:solidFill>
          <a:ln w="12700">
            <a:solidFill>
              <a:srgbClr val="2A78D6"/>
            </a:solidFill>
            <a:prstDash val="solid"/>
          </a:ln>
        </p:spPr>
      </p:sp>
      <p:pic>
        <p:nvPicPr>
          <p:cNvPr id="12" name="Image 1" descr="preencoded.png">    </p:cNvPr>
          <p:cNvPicPr>
            <a:picLocks noChangeAspect="1"/>
          </p:cNvPicPr>
          <p:nvPr/>
        </p:nvPicPr>
        <p:blipFill>
          <a:blip r:embed="rId2"/>
          <a:stretch>
            <a:fillRect/>
          </a:stretch>
        </p:blipFill>
        <p:spPr>
          <a:xfrm>
            <a:off x="6804965" y="1775765"/>
            <a:ext cx="380390" cy="380390"/>
          </a:xfrm>
          <a:prstGeom prst="rect">
            <a:avLst/>
          </a:prstGeom>
        </p:spPr>
      </p:pic>
      <p:sp>
        <p:nvSpPr>
          <p:cNvPr id="13" name="Text 9"/>
          <p:cNvSpPr txBox="1"/>
          <p:nvPr/>
        </p:nvSpPr>
        <p:spPr>
          <a:xfrm>
            <a:off x="7543800" y="1600200"/>
            <a:ext cx="3931920" cy="320040"/>
          </a:xfrm>
          <a:prstGeom prst="rect">
            <a:avLst/>
          </a:prstGeom>
          <a:noFill/>
          <a:ln/>
        </p:spPr>
        <p:txBody>
          <a:bodyPr wrap="square" lIns="0" tIns="0" rIns="0" bIns="0" rtlCol="0" anchor="t"/>
          <a:lstStyle/>
          <a:p>
            <a:pPr indent="0" marL="0">
              <a:buNone/>
            </a:pPr>
            <a:r>
              <a:rPr lang="en-US" sz="1300" b="1" dirty="0">
                <a:solidFill>
                  <a:srgbClr val="5E6B65"/>
                </a:solidFill>
              </a:rPr>
              <a:t>Bagian A · Kuliah 2–3</a:t>
            </a:r>
            <a:endParaRPr lang="en-US" sz="1300" dirty="0"/>
          </a:p>
        </p:txBody>
      </p:sp>
      <p:sp>
        <p:nvSpPr>
          <p:cNvPr id="14" name="Text 10"/>
          <p:cNvSpPr txBox="1"/>
          <p:nvPr/>
        </p:nvSpPr>
        <p:spPr>
          <a:xfrm>
            <a:off x="7543800" y="1920240"/>
            <a:ext cx="3931920" cy="45720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Rute Granmax di dalam satu SPPG</a:t>
            </a:r>
            <a:endParaRPr lang="en-US" sz="2000" dirty="0"/>
          </a:p>
        </p:txBody>
      </p:sp>
      <p:sp>
        <p:nvSpPr>
          <p:cNvPr id="15" name="Text 11"/>
          <p:cNvSpPr txBox="1"/>
          <p:nvPr/>
        </p:nvSpPr>
        <p:spPr>
          <a:xfrm>
            <a:off x="6629400" y="2606040"/>
            <a:ext cx="4754880" cy="1097280"/>
          </a:xfrm>
          <a:prstGeom prst="rect">
            <a:avLst/>
          </a:prstGeom>
          <a:noFill/>
          <a:ln/>
        </p:spPr>
        <p:txBody>
          <a:bodyPr wrap="square" lIns="0" tIns="0" rIns="0" bIns="0" rtlCol="0" anchor="t"/>
          <a:lstStyle/>
          <a:p>
            <a:pPr indent="0" marL="0">
              <a:buNone/>
            </a:pPr>
            <a:r>
              <a:rPr lang="en-US" sz="1500" dirty="0">
                <a:solidFill>
                  <a:schemeClr val="tx1"/>
                </a:solidFill>
              </a:rPr>
              <a:t>paling banyak 3 Granmax × 3 sekolah = 9 sekolah → cukup kecil untuk pencarian sistematis yang menjamin optimal</a:t>
            </a:r>
            <a:endParaRPr lang="en-US" sz="1500" dirty="0"/>
          </a:p>
        </p:txBody>
      </p:sp>
      <p:sp>
        <p:nvSpPr>
          <p:cNvPr id="16" name="Text 12"/>
          <p:cNvSpPr txBox="1"/>
          <p:nvPr/>
        </p:nvSpPr>
        <p:spPr>
          <a:xfrm>
            <a:off x="6629400" y="3840480"/>
            <a:ext cx="4754880" cy="914400"/>
          </a:xfrm>
          <a:prstGeom prst="rect">
            <a:avLst/>
          </a:prstGeom>
          <a:noFill/>
          <a:ln/>
        </p:spPr>
        <p:txBody>
          <a:bodyPr wrap="square" lIns="0" tIns="0" rIns="0" bIns="0" rtlCol="0" anchor="t"/>
          <a:lstStyle/>
          <a:p>
            <a:pPr indent="0" marL="0">
              <a:buNone/>
            </a:pPr>
            <a:r>
              <a:rPr lang="en-US" sz="1500" b="1" dirty="0">
                <a:solidFill>
                  <a:srgbClr val="1F5FAF"/>
                </a:solidFill>
              </a:rPr>
              <a:t>BFS · IDS · DFS + Branch &amp; Bound · UCS · A* · Greedy Best-First</a:t>
            </a:r>
            <a:endParaRPr lang="en-US" sz="1500" dirty="0"/>
          </a:p>
        </p:txBody>
      </p:sp>
      <p:sp>
        <p:nvSpPr>
          <p:cNvPr id="17" name="Text 13"/>
          <p:cNvSpPr txBox="1"/>
          <p:nvPr/>
        </p:nvSpPr>
        <p:spPr>
          <a:xfrm>
            <a:off x="5833872" y="2743200"/>
            <a:ext cx="548640" cy="548640"/>
          </a:xfrm>
          <a:prstGeom prst="rect">
            <a:avLst/>
          </a:prstGeom>
          <a:noFill/>
          <a:ln/>
        </p:spPr>
        <p:txBody>
          <a:bodyPr wrap="square" lIns="0" tIns="0" rIns="0" bIns="0" rtlCol="0" anchor="t"/>
          <a:lstStyle/>
          <a:p>
            <a:pPr algn="ctr" indent="0" marL="0">
              <a:buNone/>
            </a:pPr>
            <a:r>
              <a:rPr lang="en-US" sz="3000" b="1" dirty="0">
                <a:solidFill>
                  <a:srgbClr val="5E6B65"/>
                </a:solidFill>
              </a:rPr>
              <a:t>→</a:t>
            </a:r>
            <a:endParaRPr lang="en-US" sz="3000" dirty="0"/>
          </a:p>
        </p:txBody>
      </p:sp>
      <p:sp>
        <p:nvSpPr>
          <p:cNvPr id="18" name="Shape 14"/>
          <p:cNvSpPr/>
          <p:nvPr/>
        </p:nvSpPr>
        <p:spPr>
          <a:xfrm>
            <a:off x="548640" y="5166360"/>
            <a:ext cx="11094415" cy="1005840"/>
          </a:xfrm>
          <a:prstGeom prst="roundRect">
            <a:avLst>
              <a:gd name="adj" fmla="val 10909"/>
            </a:avLst>
          </a:prstGeom>
          <a:solidFill>
            <a:srgbClr val="FFF4E8"/>
          </a:solidFill>
          <a:ln w="12700">
            <a:solidFill>
              <a:srgbClr val="FFF4E8"/>
            </a:solidFill>
            <a:prstDash val="solid"/>
          </a:ln>
        </p:spPr>
      </p:sp>
      <p:sp>
        <p:nvSpPr>
          <p:cNvPr id="19" name="Text 15"/>
          <p:cNvSpPr txBox="1"/>
          <p:nvPr/>
        </p:nvSpPr>
        <p:spPr>
          <a:xfrm>
            <a:off x="822960" y="5257800"/>
            <a:ext cx="10545775" cy="8686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F(x) = Σ biaya rute optimal tiap SPPG</a:t>
            </a:r>
            <a:endParaRPr lang="en-US" sz="1600" dirty="0"/>
          </a:p>
          <a:p>
            <a:pPr indent="0" marL="0">
              <a:buNone/>
            </a:pPr>
            <a:r>
              <a:rPr lang="en-US" sz="1400" dirty="0">
                <a:solidFill>
                  <a:srgbClr val="5E6B65"/>
                </a:solidFill>
              </a:rPr>
              <a:t>Granmax antar-SPPG tidak berbagi apa pun → dekomposisi ini eksak: pembagian terbaik + rute optimal = optimum masalah asli.</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Bagian A: rute satu SPPG sebagai masalah pencarian</a:t>
            </a:r>
            <a:endParaRPr lang="en-US" sz="3200" dirty="0"/>
          </a:p>
        </p:txBody>
      </p:sp>
      <p:sp>
        <p:nvSpPr>
          <p:cNvPr id="3" name="Text 1"/>
          <p:cNvSpPr txBox="1"/>
          <p:nvPr/>
        </p:nvSpPr>
        <p:spPr>
          <a:xfrm>
            <a:off x="548640" y="1371600"/>
            <a:ext cx="1737360" cy="548640"/>
          </a:xfrm>
          <a:prstGeom prst="rect">
            <a:avLst/>
          </a:prstGeom>
          <a:noFill/>
          <a:ln/>
        </p:spPr>
        <p:txBody>
          <a:bodyPr wrap="square" lIns="0" tIns="0" rIns="0" bIns="0" rtlCol="0" anchor="ctr"/>
          <a:lstStyle/>
          <a:p>
            <a:pPr indent="0" marL="0">
              <a:buNone/>
            </a:pPr>
            <a:r>
              <a:rPr lang="en-US" sz="1500" b="1" dirty="0">
                <a:solidFill>
                  <a:schemeClr val="accent1"/>
                </a:solidFill>
              </a:rPr>
              <a:t>Keadaan</a:t>
            </a:r>
            <a:endParaRPr lang="en-US" sz="1500" dirty="0"/>
          </a:p>
        </p:txBody>
      </p:sp>
      <p:sp>
        <p:nvSpPr>
          <p:cNvPr id="4" name="Text 2"/>
          <p:cNvSpPr txBox="1"/>
          <p:nvPr/>
        </p:nvSpPr>
        <p:spPr>
          <a:xfrm>
            <a:off x="2331720" y="1371600"/>
            <a:ext cx="3429000" cy="548640"/>
          </a:xfrm>
          <a:prstGeom prst="rect">
            <a:avLst/>
          </a:prstGeom>
          <a:noFill/>
          <a:ln/>
        </p:spPr>
        <p:txBody>
          <a:bodyPr wrap="square" lIns="0" tIns="0" rIns="0" bIns="0" rtlCol="0" anchor="ctr"/>
          <a:lstStyle/>
          <a:p>
            <a:pPr indent="0" marL="0">
              <a:buNone/>
            </a:pPr>
            <a:r>
              <a:rPr lang="en-US" sz="1400" dirty="0">
                <a:solidFill>
                  <a:schemeClr val="tx1"/>
                </a:solidFill>
              </a:rPr>
              <a:t>sekolah tersisa, posisi, muatan Granmax, waktu, Granmax terpakai</a:t>
            </a:r>
            <a:endParaRPr lang="en-US" sz="1400" dirty="0"/>
          </a:p>
        </p:txBody>
      </p:sp>
      <p:sp>
        <p:nvSpPr>
          <p:cNvPr id="5" name="Text 3"/>
          <p:cNvSpPr txBox="1"/>
          <p:nvPr/>
        </p:nvSpPr>
        <p:spPr>
          <a:xfrm>
            <a:off x="548640" y="1993392"/>
            <a:ext cx="1737360" cy="548640"/>
          </a:xfrm>
          <a:prstGeom prst="rect">
            <a:avLst/>
          </a:prstGeom>
          <a:noFill/>
          <a:ln/>
        </p:spPr>
        <p:txBody>
          <a:bodyPr wrap="square" lIns="0" tIns="0" rIns="0" bIns="0" rtlCol="0" anchor="ctr"/>
          <a:lstStyle/>
          <a:p>
            <a:pPr indent="0" marL="0">
              <a:buNone/>
            </a:pPr>
            <a:r>
              <a:rPr lang="en-US" sz="1500" b="1" dirty="0">
                <a:solidFill>
                  <a:schemeClr val="accent1"/>
                </a:solidFill>
              </a:rPr>
              <a:t>Aksi</a:t>
            </a:r>
            <a:endParaRPr lang="en-US" sz="1500" dirty="0"/>
          </a:p>
        </p:txBody>
      </p:sp>
      <p:sp>
        <p:nvSpPr>
          <p:cNvPr id="6" name="Text 4"/>
          <p:cNvSpPr txBox="1"/>
          <p:nvPr/>
        </p:nvSpPr>
        <p:spPr>
          <a:xfrm>
            <a:off x="2331720" y="1993392"/>
            <a:ext cx="3429000" cy="548640"/>
          </a:xfrm>
          <a:prstGeom prst="rect">
            <a:avLst/>
          </a:prstGeom>
          <a:noFill/>
          <a:ln/>
        </p:spPr>
        <p:txBody>
          <a:bodyPr wrap="square" lIns="0" tIns="0" rIns="0" bIns="0" rtlCol="0" anchor="ctr"/>
          <a:lstStyle/>
          <a:p>
            <a:pPr indent="0" marL="0">
              <a:buNone/>
            </a:pPr>
            <a:r>
              <a:rPr lang="en-US" sz="1400" dirty="0">
                <a:solidFill>
                  <a:schemeClr val="tx1"/>
                </a:solidFill>
              </a:rPr>
              <a:t>antar ke sekolah s  /  pulang ke SPPG</a:t>
            </a:r>
            <a:endParaRPr lang="en-US" sz="1400" dirty="0"/>
          </a:p>
        </p:txBody>
      </p:sp>
      <p:sp>
        <p:nvSpPr>
          <p:cNvPr id="7" name="Text 5"/>
          <p:cNvSpPr txBox="1"/>
          <p:nvPr/>
        </p:nvSpPr>
        <p:spPr>
          <a:xfrm>
            <a:off x="548640" y="2615184"/>
            <a:ext cx="1737360" cy="548640"/>
          </a:xfrm>
          <a:prstGeom prst="rect">
            <a:avLst/>
          </a:prstGeom>
          <a:noFill/>
          <a:ln/>
        </p:spPr>
        <p:txBody>
          <a:bodyPr wrap="square" lIns="0" tIns="0" rIns="0" bIns="0" rtlCol="0" anchor="ctr"/>
          <a:lstStyle/>
          <a:p>
            <a:pPr indent="0" marL="0">
              <a:buNone/>
            </a:pPr>
            <a:r>
              <a:rPr lang="en-US" sz="1500" b="1" dirty="0">
                <a:solidFill>
                  <a:schemeClr val="accent1"/>
                </a:solidFill>
              </a:rPr>
              <a:t>Goal</a:t>
            </a:r>
            <a:endParaRPr lang="en-US" sz="1500" dirty="0"/>
          </a:p>
        </p:txBody>
      </p:sp>
      <p:sp>
        <p:nvSpPr>
          <p:cNvPr id="8" name="Text 6"/>
          <p:cNvSpPr txBox="1"/>
          <p:nvPr/>
        </p:nvSpPr>
        <p:spPr>
          <a:xfrm>
            <a:off x="2331720" y="2615184"/>
            <a:ext cx="3429000" cy="548640"/>
          </a:xfrm>
          <a:prstGeom prst="rect">
            <a:avLst/>
          </a:prstGeom>
          <a:noFill/>
          <a:ln/>
        </p:spPr>
        <p:txBody>
          <a:bodyPr wrap="square" lIns="0" tIns="0" rIns="0" bIns="0" rtlCol="0" anchor="ctr"/>
          <a:lstStyle/>
          <a:p>
            <a:pPr indent="0" marL="0">
              <a:buNone/>
            </a:pPr>
            <a:r>
              <a:rPr lang="en-US" sz="1400" dirty="0">
                <a:solidFill>
                  <a:schemeClr val="tx1"/>
                </a:solidFill>
              </a:rPr>
              <a:t>semua sekolah terlayani &amp; Granmax di SPPG</a:t>
            </a:r>
            <a:endParaRPr lang="en-US" sz="1400" dirty="0"/>
          </a:p>
        </p:txBody>
      </p:sp>
      <p:sp>
        <p:nvSpPr>
          <p:cNvPr id="9" name="Text 7"/>
          <p:cNvSpPr txBox="1"/>
          <p:nvPr/>
        </p:nvSpPr>
        <p:spPr>
          <a:xfrm>
            <a:off x="548640" y="3236976"/>
            <a:ext cx="1737360" cy="548640"/>
          </a:xfrm>
          <a:prstGeom prst="rect">
            <a:avLst/>
          </a:prstGeom>
          <a:noFill/>
          <a:ln/>
        </p:spPr>
        <p:txBody>
          <a:bodyPr wrap="square" lIns="0" tIns="0" rIns="0" bIns="0" rtlCol="0" anchor="ctr"/>
          <a:lstStyle/>
          <a:p>
            <a:pPr indent="0" marL="0">
              <a:buNone/>
            </a:pPr>
            <a:r>
              <a:rPr lang="en-US" sz="1500" b="1" dirty="0">
                <a:solidFill>
                  <a:schemeClr val="accent1"/>
                </a:solidFill>
              </a:rPr>
              <a:t>Biaya langkah</a:t>
            </a:r>
            <a:endParaRPr lang="en-US" sz="1500" dirty="0"/>
          </a:p>
        </p:txBody>
      </p:sp>
      <p:sp>
        <p:nvSpPr>
          <p:cNvPr id="10" name="Text 8"/>
          <p:cNvSpPr txBox="1"/>
          <p:nvPr/>
        </p:nvSpPr>
        <p:spPr>
          <a:xfrm>
            <a:off x="2331720" y="3236976"/>
            <a:ext cx="3429000" cy="548640"/>
          </a:xfrm>
          <a:prstGeom prst="rect">
            <a:avLst/>
          </a:prstGeom>
          <a:noFill/>
          <a:ln/>
        </p:spPr>
        <p:txBody>
          <a:bodyPr wrap="square" lIns="0" tIns="0" rIns="0" bIns="0" rtlCol="0" anchor="ctr"/>
          <a:lstStyle/>
          <a:p>
            <a:pPr indent="0" marL="0">
              <a:buNone/>
            </a:pPr>
            <a:r>
              <a:rPr lang="en-US" sz="1400" dirty="0">
                <a:solidFill>
                  <a:schemeClr val="tx1"/>
                </a:solidFill>
              </a:rPr>
              <a:t>kontribusi ruas ke F (bensin + waktu tiba)</a:t>
            </a:r>
            <a:endParaRPr lang="en-US" sz="1400" dirty="0"/>
          </a:p>
        </p:txBody>
      </p:sp>
      <p:sp>
        <p:nvSpPr>
          <p:cNvPr id="11" name="Text 9"/>
          <p:cNvSpPr txBox="1"/>
          <p:nvPr/>
        </p:nvSpPr>
        <p:spPr>
          <a:xfrm>
            <a:off x="548640" y="3858768"/>
            <a:ext cx="1737360" cy="548640"/>
          </a:xfrm>
          <a:prstGeom prst="rect">
            <a:avLst/>
          </a:prstGeom>
          <a:noFill/>
          <a:ln/>
        </p:spPr>
        <p:txBody>
          <a:bodyPr wrap="square" lIns="0" tIns="0" rIns="0" bIns="0" rtlCol="0" anchor="ctr"/>
          <a:lstStyle/>
          <a:p>
            <a:pPr indent="0" marL="0">
              <a:buNone/>
            </a:pPr>
            <a:r>
              <a:rPr lang="en-US" sz="1500" b="1" dirty="0">
                <a:solidFill>
                  <a:schemeClr val="accent1"/>
                </a:solidFill>
              </a:rPr>
              <a:t>Pangkas</a:t>
            </a:r>
            <a:endParaRPr lang="en-US" sz="1500" dirty="0"/>
          </a:p>
        </p:txBody>
      </p:sp>
      <p:sp>
        <p:nvSpPr>
          <p:cNvPr id="12" name="Text 10"/>
          <p:cNvSpPr txBox="1"/>
          <p:nvPr/>
        </p:nvSpPr>
        <p:spPr>
          <a:xfrm>
            <a:off x="2331720" y="3858768"/>
            <a:ext cx="3429000" cy="548640"/>
          </a:xfrm>
          <a:prstGeom prst="rect">
            <a:avLst/>
          </a:prstGeom>
          <a:noFill/>
          <a:ln/>
        </p:spPr>
        <p:txBody>
          <a:bodyPr wrap="square" lIns="0" tIns="0" rIns="0" bIns="0" rtlCol="0" anchor="ctr"/>
          <a:lstStyle/>
          <a:p>
            <a:pPr indent="0" marL="0">
              <a:buNone/>
            </a:pPr>
            <a:r>
              <a:rPr lang="en-US" sz="1400" dirty="0">
                <a:solidFill>
                  <a:schemeClr val="tx1"/>
                </a:solidFill>
              </a:rPr>
              <a:t>tiba &gt; 3 jam · sisa tak terangkut · simetri urutan Granmax</a:t>
            </a:r>
            <a:endParaRPr lang="en-US" sz="1400" dirty="0"/>
          </a:p>
        </p:txBody>
      </p:sp>
      <p:sp>
        <p:nvSpPr>
          <p:cNvPr id="13" name="Shape 11"/>
          <p:cNvSpPr/>
          <p:nvPr/>
        </p:nvSpPr>
        <p:spPr>
          <a:xfrm>
            <a:off x="6035040" y="1325880"/>
            <a:ext cx="2724912" cy="1078992"/>
          </a:xfrm>
          <a:prstGeom prst="roundRect">
            <a:avLst>
              <a:gd name="adj" fmla="val 10169"/>
            </a:avLst>
          </a:prstGeom>
          <a:solidFill>
            <a:srgbClr val="EEF4F0"/>
          </a:solidFill>
          <a:ln w="12700">
            <a:solidFill>
              <a:srgbClr val="EEF4F0"/>
            </a:solidFill>
            <a:prstDash val="solid"/>
          </a:ln>
        </p:spPr>
      </p:sp>
      <p:sp>
        <p:nvSpPr>
          <p:cNvPr id="14" name="Shape 12"/>
          <p:cNvSpPr/>
          <p:nvPr/>
        </p:nvSpPr>
        <p:spPr>
          <a:xfrm>
            <a:off x="6035040" y="1435608"/>
            <a:ext cx="82296" cy="859536"/>
          </a:xfrm>
          <a:prstGeom prst="rect">
            <a:avLst/>
          </a:prstGeom>
          <a:solidFill>
            <a:srgbClr val="2A78D6"/>
          </a:solidFill>
          <a:ln w="12700">
            <a:solidFill>
              <a:srgbClr val="2A78D6"/>
            </a:solidFill>
            <a:prstDash val="solid"/>
          </a:ln>
        </p:spPr>
      </p:sp>
      <p:sp>
        <p:nvSpPr>
          <p:cNvPr id="15" name="Text 13"/>
          <p:cNvSpPr txBox="1"/>
          <p:nvPr/>
        </p:nvSpPr>
        <p:spPr>
          <a:xfrm>
            <a:off x="6263640" y="1417320"/>
            <a:ext cx="1371600" cy="384048"/>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BFS</a:t>
            </a:r>
            <a:endParaRPr lang="en-US" sz="1800" dirty="0"/>
          </a:p>
        </p:txBody>
      </p:sp>
      <p:sp>
        <p:nvSpPr>
          <p:cNvPr id="16" name="Text 14"/>
          <p:cNvSpPr txBox="1"/>
          <p:nvPr/>
        </p:nvSpPr>
        <p:spPr>
          <a:xfrm>
            <a:off x="7452360" y="1453896"/>
            <a:ext cx="1188720" cy="320040"/>
          </a:xfrm>
          <a:prstGeom prst="rect">
            <a:avLst/>
          </a:prstGeom>
          <a:noFill/>
          <a:ln/>
        </p:spPr>
        <p:txBody>
          <a:bodyPr wrap="square" lIns="0" tIns="0" rIns="0" bIns="0" rtlCol="0" anchor="t"/>
          <a:lstStyle/>
          <a:p>
            <a:pPr algn="r" indent="0" marL="0">
              <a:buNone/>
            </a:pPr>
            <a:r>
              <a:rPr lang="en-US" sz="1100" b="1" dirty="0">
                <a:solidFill>
                  <a:srgbClr val="B4561A"/>
                </a:solidFill>
              </a:rPr>
              <a:t>tidak optimal</a:t>
            </a:r>
            <a:endParaRPr lang="en-US" sz="1100" dirty="0"/>
          </a:p>
        </p:txBody>
      </p:sp>
      <p:sp>
        <p:nvSpPr>
          <p:cNvPr id="17" name="Text 15"/>
          <p:cNvSpPr txBox="1"/>
          <p:nvPr/>
        </p:nvSpPr>
        <p:spPr>
          <a:xfrm>
            <a:off x="6263640" y="1828800"/>
            <a:ext cx="2377440" cy="502920"/>
          </a:xfrm>
          <a:prstGeom prst="rect">
            <a:avLst/>
          </a:prstGeom>
          <a:noFill/>
          <a:ln/>
        </p:spPr>
        <p:txBody>
          <a:bodyPr wrap="square" lIns="0" tIns="0" rIns="0" bIns="0" rtlCol="0" anchor="t"/>
          <a:lstStyle/>
          <a:p>
            <a:pPr indent="0" marL="0">
              <a:buNone/>
            </a:pPr>
            <a:r>
              <a:rPr lang="en-US" sz="1200" dirty="0">
                <a:solidFill>
                  <a:srgbClr val="5E6B65"/>
                </a:solidFill>
              </a:rPr>
              <a:t>FIFO · Granmax paling sedikit</a:t>
            </a:r>
            <a:endParaRPr lang="en-US" sz="1200" dirty="0"/>
          </a:p>
        </p:txBody>
      </p:sp>
      <p:sp>
        <p:nvSpPr>
          <p:cNvPr id="18" name="Shape 16"/>
          <p:cNvSpPr/>
          <p:nvPr/>
        </p:nvSpPr>
        <p:spPr>
          <a:xfrm>
            <a:off x="8869680" y="1325880"/>
            <a:ext cx="2724912" cy="1078992"/>
          </a:xfrm>
          <a:prstGeom prst="roundRect">
            <a:avLst>
              <a:gd name="adj" fmla="val 10169"/>
            </a:avLst>
          </a:prstGeom>
          <a:solidFill>
            <a:srgbClr val="EEF4F0"/>
          </a:solidFill>
          <a:ln w="12700">
            <a:solidFill>
              <a:srgbClr val="EEF4F0"/>
            </a:solidFill>
            <a:prstDash val="solid"/>
          </a:ln>
        </p:spPr>
      </p:sp>
      <p:sp>
        <p:nvSpPr>
          <p:cNvPr id="19" name="Shape 17"/>
          <p:cNvSpPr/>
          <p:nvPr/>
        </p:nvSpPr>
        <p:spPr>
          <a:xfrm>
            <a:off x="8869680" y="1435608"/>
            <a:ext cx="82296" cy="859536"/>
          </a:xfrm>
          <a:prstGeom prst="rect">
            <a:avLst/>
          </a:prstGeom>
          <a:solidFill>
            <a:srgbClr val="EB6834"/>
          </a:solidFill>
          <a:ln w="12700">
            <a:solidFill>
              <a:srgbClr val="EB6834"/>
            </a:solidFill>
            <a:prstDash val="solid"/>
          </a:ln>
        </p:spPr>
      </p:sp>
      <p:sp>
        <p:nvSpPr>
          <p:cNvPr id="20" name="Text 18"/>
          <p:cNvSpPr txBox="1"/>
          <p:nvPr/>
        </p:nvSpPr>
        <p:spPr>
          <a:xfrm>
            <a:off x="9098280" y="1417320"/>
            <a:ext cx="1371600" cy="384048"/>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IDS</a:t>
            </a:r>
            <a:endParaRPr lang="en-US" sz="1800" dirty="0"/>
          </a:p>
        </p:txBody>
      </p:sp>
      <p:sp>
        <p:nvSpPr>
          <p:cNvPr id="21" name="Text 19"/>
          <p:cNvSpPr txBox="1"/>
          <p:nvPr/>
        </p:nvSpPr>
        <p:spPr>
          <a:xfrm>
            <a:off x="10287000" y="1453896"/>
            <a:ext cx="1188720" cy="320040"/>
          </a:xfrm>
          <a:prstGeom prst="rect">
            <a:avLst/>
          </a:prstGeom>
          <a:noFill/>
          <a:ln/>
        </p:spPr>
        <p:txBody>
          <a:bodyPr wrap="square" lIns="0" tIns="0" rIns="0" bIns="0" rtlCol="0" anchor="t"/>
          <a:lstStyle/>
          <a:p>
            <a:pPr algn="r" indent="0" marL="0">
              <a:buNone/>
            </a:pPr>
            <a:r>
              <a:rPr lang="en-US" sz="1100" b="1" dirty="0">
                <a:solidFill>
                  <a:srgbClr val="B4561A"/>
                </a:solidFill>
              </a:rPr>
              <a:t>tidak optimal</a:t>
            </a:r>
            <a:endParaRPr lang="en-US" sz="1100" dirty="0"/>
          </a:p>
        </p:txBody>
      </p:sp>
      <p:sp>
        <p:nvSpPr>
          <p:cNvPr id="22" name="Text 20"/>
          <p:cNvSpPr txBox="1"/>
          <p:nvPr/>
        </p:nvSpPr>
        <p:spPr>
          <a:xfrm>
            <a:off x="9098280" y="1828800"/>
            <a:ext cx="2377440" cy="502920"/>
          </a:xfrm>
          <a:prstGeom prst="rect">
            <a:avLst/>
          </a:prstGeom>
          <a:noFill/>
          <a:ln/>
        </p:spPr>
        <p:txBody>
          <a:bodyPr wrap="square" lIns="0" tIns="0" rIns="0" bIns="0" rtlCol="0" anchor="t"/>
          <a:lstStyle/>
          <a:p>
            <a:pPr indent="0" marL="0">
              <a:buNone/>
            </a:pPr>
            <a:r>
              <a:rPr lang="en-US" sz="1200" dirty="0">
                <a:solidFill>
                  <a:srgbClr val="5E6B65"/>
                </a:solidFill>
              </a:rPr>
              <a:t>DFS berbatas naik · sama dengan BFS, memori kecil</a:t>
            </a:r>
            <a:endParaRPr lang="en-US" sz="1200" dirty="0"/>
          </a:p>
        </p:txBody>
      </p:sp>
      <p:sp>
        <p:nvSpPr>
          <p:cNvPr id="23" name="Shape 21"/>
          <p:cNvSpPr/>
          <p:nvPr/>
        </p:nvSpPr>
        <p:spPr>
          <a:xfrm>
            <a:off x="6035040" y="2532888"/>
            <a:ext cx="2724912" cy="1078992"/>
          </a:xfrm>
          <a:prstGeom prst="roundRect">
            <a:avLst>
              <a:gd name="adj" fmla="val 10169"/>
            </a:avLst>
          </a:prstGeom>
          <a:solidFill>
            <a:srgbClr val="EEF4F0"/>
          </a:solidFill>
          <a:ln w="12700">
            <a:solidFill>
              <a:srgbClr val="EEF4F0"/>
            </a:solidFill>
            <a:prstDash val="solid"/>
          </a:ln>
        </p:spPr>
      </p:sp>
      <p:sp>
        <p:nvSpPr>
          <p:cNvPr id="24" name="Shape 22"/>
          <p:cNvSpPr/>
          <p:nvPr/>
        </p:nvSpPr>
        <p:spPr>
          <a:xfrm>
            <a:off x="6035040" y="2642616"/>
            <a:ext cx="82296" cy="859536"/>
          </a:xfrm>
          <a:prstGeom prst="rect">
            <a:avLst/>
          </a:prstGeom>
          <a:solidFill>
            <a:srgbClr val="1BAF7A"/>
          </a:solidFill>
          <a:ln w="12700">
            <a:solidFill>
              <a:srgbClr val="1BAF7A"/>
            </a:solidFill>
            <a:prstDash val="solid"/>
          </a:ln>
        </p:spPr>
      </p:sp>
      <p:sp>
        <p:nvSpPr>
          <p:cNvPr id="25" name="Text 23"/>
          <p:cNvSpPr txBox="1"/>
          <p:nvPr/>
        </p:nvSpPr>
        <p:spPr>
          <a:xfrm>
            <a:off x="6263640" y="2624328"/>
            <a:ext cx="1371600" cy="384048"/>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DFS-B&amp;B</a:t>
            </a:r>
            <a:endParaRPr lang="en-US" sz="1800" dirty="0"/>
          </a:p>
        </p:txBody>
      </p:sp>
      <p:sp>
        <p:nvSpPr>
          <p:cNvPr id="26" name="Text 24"/>
          <p:cNvSpPr txBox="1"/>
          <p:nvPr/>
        </p:nvSpPr>
        <p:spPr>
          <a:xfrm>
            <a:off x="7452360" y="2660904"/>
            <a:ext cx="1188720" cy="320040"/>
          </a:xfrm>
          <a:prstGeom prst="rect">
            <a:avLst/>
          </a:prstGeom>
          <a:noFill/>
          <a:ln/>
        </p:spPr>
        <p:txBody>
          <a:bodyPr wrap="square" lIns="0" tIns="0" rIns="0" bIns="0" rtlCol="0" anchor="t"/>
          <a:lstStyle/>
          <a:p>
            <a:pPr algn="r" indent="0" marL="0">
              <a:buNone/>
            </a:pPr>
            <a:r>
              <a:rPr lang="en-US" sz="1100" b="1" dirty="0">
                <a:solidFill>
                  <a:srgbClr val="1F5C46"/>
                </a:solidFill>
              </a:rPr>
              <a:t>optimal</a:t>
            </a:r>
            <a:endParaRPr lang="en-US" sz="1100" dirty="0"/>
          </a:p>
        </p:txBody>
      </p:sp>
      <p:sp>
        <p:nvSpPr>
          <p:cNvPr id="27" name="Text 25"/>
          <p:cNvSpPr txBox="1"/>
          <p:nvPr/>
        </p:nvSpPr>
        <p:spPr>
          <a:xfrm>
            <a:off x="6263640" y="3035808"/>
            <a:ext cx="2377440" cy="502920"/>
          </a:xfrm>
          <a:prstGeom prst="rect">
            <a:avLst/>
          </a:prstGeom>
          <a:noFill/>
          <a:ln/>
        </p:spPr>
        <p:txBody>
          <a:bodyPr wrap="square" lIns="0" tIns="0" rIns="0" bIns="0" rtlCol="0" anchor="t"/>
          <a:lstStyle/>
          <a:p>
            <a:pPr indent="0" marL="0">
              <a:buNone/>
            </a:pPr>
            <a:r>
              <a:rPr lang="en-US" sz="1200" dirty="0">
                <a:solidFill>
                  <a:srgbClr val="5E6B65"/>
                </a:solidFill>
              </a:rPr>
              <a:t>LIFO + batas · pangkas jika g ≥ terbaik</a:t>
            </a:r>
            <a:endParaRPr lang="en-US" sz="1200" dirty="0"/>
          </a:p>
        </p:txBody>
      </p:sp>
      <p:sp>
        <p:nvSpPr>
          <p:cNvPr id="28" name="Shape 26"/>
          <p:cNvSpPr/>
          <p:nvPr/>
        </p:nvSpPr>
        <p:spPr>
          <a:xfrm>
            <a:off x="8869680" y="2532888"/>
            <a:ext cx="2724912" cy="1078992"/>
          </a:xfrm>
          <a:prstGeom prst="roundRect">
            <a:avLst>
              <a:gd name="adj" fmla="val 10169"/>
            </a:avLst>
          </a:prstGeom>
          <a:solidFill>
            <a:srgbClr val="EEF4F0"/>
          </a:solidFill>
          <a:ln w="12700">
            <a:solidFill>
              <a:srgbClr val="EEF4F0"/>
            </a:solidFill>
            <a:prstDash val="solid"/>
          </a:ln>
        </p:spPr>
      </p:sp>
      <p:sp>
        <p:nvSpPr>
          <p:cNvPr id="29" name="Shape 27"/>
          <p:cNvSpPr/>
          <p:nvPr/>
        </p:nvSpPr>
        <p:spPr>
          <a:xfrm>
            <a:off x="8869680" y="2642616"/>
            <a:ext cx="82296" cy="859536"/>
          </a:xfrm>
          <a:prstGeom prst="rect">
            <a:avLst/>
          </a:prstGeom>
          <a:solidFill>
            <a:srgbClr val="EDA100"/>
          </a:solidFill>
          <a:ln w="12700">
            <a:solidFill>
              <a:srgbClr val="EDA100"/>
            </a:solidFill>
            <a:prstDash val="solid"/>
          </a:ln>
        </p:spPr>
      </p:sp>
      <p:sp>
        <p:nvSpPr>
          <p:cNvPr id="30" name="Text 28"/>
          <p:cNvSpPr txBox="1"/>
          <p:nvPr/>
        </p:nvSpPr>
        <p:spPr>
          <a:xfrm>
            <a:off x="9098280" y="2624328"/>
            <a:ext cx="1371600" cy="384048"/>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UCS</a:t>
            </a:r>
            <a:endParaRPr lang="en-US" sz="1800" dirty="0"/>
          </a:p>
        </p:txBody>
      </p:sp>
      <p:sp>
        <p:nvSpPr>
          <p:cNvPr id="31" name="Text 29"/>
          <p:cNvSpPr txBox="1"/>
          <p:nvPr/>
        </p:nvSpPr>
        <p:spPr>
          <a:xfrm>
            <a:off x="10287000" y="2660904"/>
            <a:ext cx="1188720" cy="320040"/>
          </a:xfrm>
          <a:prstGeom prst="rect">
            <a:avLst/>
          </a:prstGeom>
          <a:noFill/>
          <a:ln/>
        </p:spPr>
        <p:txBody>
          <a:bodyPr wrap="square" lIns="0" tIns="0" rIns="0" bIns="0" rtlCol="0" anchor="t"/>
          <a:lstStyle/>
          <a:p>
            <a:pPr algn="r" indent="0" marL="0">
              <a:buNone/>
            </a:pPr>
            <a:r>
              <a:rPr lang="en-US" sz="1100" b="1" dirty="0">
                <a:solidFill>
                  <a:srgbClr val="1F5C46"/>
                </a:solidFill>
              </a:rPr>
              <a:t>optimal</a:t>
            </a:r>
            <a:endParaRPr lang="en-US" sz="1100" dirty="0"/>
          </a:p>
        </p:txBody>
      </p:sp>
      <p:sp>
        <p:nvSpPr>
          <p:cNvPr id="32" name="Text 30"/>
          <p:cNvSpPr txBox="1"/>
          <p:nvPr/>
        </p:nvSpPr>
        <p:spPr>
          <a:xfrm>
            <a:off x="9098280" y="3035808"/>
            <a:ext cx="2377440" cy="502920"/>
          </a:xfrm>
          <a:prstGeom prst="rect">
            <a:avLst/>
          </a:prstGeom>
          <a:noFill/>
          <a:ln/>
        </p:spPr>
        <p:txBody>
          <a:bodyPr wrap="square" lIns="0" tIns="0" rIns="0" bIns="0" rtlCol="0" anchor="t"/>
          <a:lstStyle/>
          <a:p>
            <a:pPr indent="0" marL="0">
              <a:buNone/>
            </a:pPr>
            <a:r>
              <a:rPr lang="en-US" sz="1200" dirty="0">
                <a:solidFill>
                  <a:srgbClr val="5E6B65"/>
                </a:solidFill>
              </a:rPr>
              <a:t>f = g · biaya jalur terkecil dulu</a:t>
            </a:r>
            <a:endParaRPr lang="en-US" sz="1200" dirty="0"/>
          </a:p>
        </p:txBody>
      </p:sp>
      <p:sp>
        <p:nvSpPr>
          <p:cNvPr id="33" name="Shape 31"/>
          <p:cNvSpPr/>
          <p:nvPr/>
        </p:nvSpPr>
        <p:spPr>
          <a:xfrm>
            <a:off x="6035040" y="3739896"/>
            <a:ext cx="2724912" cy="1078992"/>
          </a:xfrm>
          <a:prstGeom prst="roundRect">
            <a:avLst>
              <a:gd name="adj" fmla="val 10169"/>
            </a:avLst>
          </a:prstGeom>
          <a:solidFill>
            <a:srgbClr val="EEF4F0"/>
          </a:solidFill>
          <a:ln w="12700">
            <a:solidFill>
              <a:srgbClr val="EEF4F0"/>
            </a:solidFill>
            <a:prstDash val="solid"/>
          </a:ln>
        </p:spPr>
      </p:sp>
      <p:sp>
        <p:nvSpPr>
          <p:cNvPr id="34" name="Shape 32"/>
          <p:cNvSpPr/>
          <p:nvPr/>
        </p:nvSpPr>
        <p:spPr>
          <a:xfrm>
            <a:off x="6035040" y="3849624"/>
            <a:ext cx="82296" cy="859536"/>
          </a:xfrm>
          <a:prstGeom prst="rect">
            <a:avLst/>
          </a:prstGeom>
          <a:solidFill>
            <a:srgbClr val="008300"/>
          </a:solidFill>
          <a:ln w="12700">
            <a:solidFill>
              <a:srgbClr val="008300"/>
            </a:solidFill>
            <a:prstDash val="solid"/>
          </a:ln>
        </p:spPr>
      </p:sp>
      <p:sp>
        <p:nvSpPr>
          <p:cNvPr id="35" name="Text 33"/>
          <p:cNvSpPr txBox="1"/>
          <p:nvPr/>
        </p:nvSpPr>
        <p:spPr>
          <a:xfrm>
            <a:off x="6263640" y="3831336"/>
            <a:ext cx="1371600" cy="384048"/>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a:t>
            </a:r>
            <a:endParaRPr lang="en-US" sz="1800" dirty="0"/>
          </a:p>
        </p:txBody>
      </p:sp>
      <p:sp>
        <p:nvSpPr>
          <p:cNvPr id="36" name="Text 34"/>
          <p:cNvSpPr txBox="1"/>
          <p:nvPr/>
        </p:nvSpPr>
        <p:spPr>
          <a:xfrm>
            <a:off x="7452360" y="3867912"/>
            <a:ext cx="1188720" cy="320040"/>
          </a:xfrm>
          <a:prstGeom prst="rect">
            <a:avLst/>
          </a:prstGeom>
          <a:noFill/>
          <a:ln/>
        </p:spPr>
        <p:txBody>
          <a:bodyPr wrap="square" lIns="0" tIns="0" rIns="0" bIns="0" rtlCol="0" anchor="t"/>
          <a:lstStyle/>
          <a:p>
            <a:pPr algn="r" indent="0" marL="0">
              <a:buNone/>
            </a:pPr>
            <a:r>
              <a:rPr lang="en-US" sz="1100" b="1" dirty="0">
                <a:solidFill>
                  <a:srgbClr val="1F5C46"/>
                </a:solidFill>
              </a:rPr>
              <a:t>optimal</a:t>
            </a:r>
            <a:endParaRPr lang="en-US" sz="1100" dirty="0"/>
          </a:p>
        </p:txBody>
      </p:sp>
      <p:sp>
        <p:nvSpPr>
          <p:cNvPr id="37" name="Text 35"/>
          <p:cNvSpPr txBox="1"/>
          <p:nvPr/>
        </p:nvSpPr>
        <p:spPr>
          <a:xfrm>
            <a:off x="6263640" y="4242816"/>
            <a:ext cx="2377440" cy="502920"/>
          </a:xfrm>
          <a:prstGeom prst="rect">
            <a:avLst/>
          </a:prstGeom>
          <a:noFill/>
          <a:ln/>
        </p:spPr>
        <p:txBody>
          <a:bodyPr wrap="square" lIns="0" tIns="0" rIns="0" bIns="0" rtlCol="0" anchor="t"/>
          <a:lstStyle/>
          <a:p>
            <a:pPr indent="0" marL="0">
              <a:buNone/>
            </a:pPr>
            <a:r>
              <a:rPr lang="en-US" sz="1200" dirty="0">
                <a:solidFill>
                  <a:srgbClr val="5E6B65"/>
                </a:solidFill>
              </a:rPr>
              <a:t>f = g + h · h admissible (h1 / h2)</a:t>
            </a:r>
            <a:endParaRPr lang="en-US" sz="1200" dirty="0"/>
          </a:p>
        </p:txBody>
      </p:sp>
      <p:sp>
        <p:nvSpPr>
          <p:cNvPr id="38" name="Shape 36"/>
          <p:cNvSpPr/>
          <p:nvPr/>
        </p:nvSpPr>
        <p:spPr>
          <a:xfrm>
            <a:off x="8869680" y="3739896"/>
            <a:ext cx="2724912" cy="1078992"/>
          </a:xfrm>
          <a:prstGeom prst="roundRect">
            <a:avLst>
              <a:gd name="adj" fmla="val 10169"/>
            </a:avLst>
          </a:prstGeom>
          <a:solidFill>
            <a:srgbClr val="EEF4F0"/>
          </a:solidFill>
          <a:ln w="12700">
            <a:solidFill>
              <a:srgbClr val="EEF4F0"/>
            </a:solidFill>
            <a:prstDash val="solid"/>
          </a:ln>
        </p:spPr>
      </p:sp>
      <p:sp>
        <p:nvSpPr>
          <p:cNvPr id="39" name="Shape 37"/>
          <p:cNvSpPr/>
          <p:nvPr/>
        </p:nvSpPr>
        <p:spPr>
          <a:xfrm>
            <a:off x="8869680" y="3849624"/>
            <a:ext cx="82296" cy="859536"/>
          </a:xfrm>
          <a:prstGeom prst="rect">
            <a:avLst/>
          </a:prstGeom>
          <a:solidFill>
            <a:srgbClr val="6250D6"/>
          </a:solidFill>
          <a:ln w="12700">
            <a:solidFill>
              <a:srgbClr val="6250D6"/>
            </a:solidFill>
            <a:prstDash val="solid"/>
          </a:ln>
        </p:spPr>
      </p:sp>
      <p:sp>
        <p:nvSpPr>
          <p:cNvPr id="40" name="Text 38"/>
          <p:cNvSpPr txBox="1"/>
          <p:nvPr/>
        </p:nvSpPr>
        <p:spPr>
          <a:xfrm>
            <a:off x="9098280" y="3831336"/>
            <a:ext cx="1371600" cy="384048"/>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GBFS</a:t>
            </a:r>
            <a:endParaRPr lang="en-US" sz="1800" dirty="0"/>
          </a:p>
        </p:txBody>
      </p:sp>
      <p:sp>
        <p:nvSpPr>
          <p:cNvPr id="41" name="Text 39"/>
          <p:cNvSpPr txBox="1"/>
          <p:nvPr/>
        </p:nvSpPr>
        <p:spPr>
          <a:xfrm>
            <a:off x="10287000" y="3867912"/>
            <a:ext cx="1188720" cy="320040"/>
          </a:xfrm>
          <a:prstGeom prst="rect">
            <a:avLst/>
          </a:prstGeom>
          <a:noFill/>
          <a:ln/>
        </p:spPr>
        <p:txBody>
          <a:bodyPr wrap="square" lIns="0" tIns="0" rIns="0" bIns="0" rtlCol="0" anchor="t"/>
          <a:lstStyle/>
          <a:p>
            <a:pPr algn="r" indent="0" marL="0">
              <a:buNone/>
            </a:pPr>
            <a:r>
              <a:rPr lang="en-US" sz="1100" b="1" dirty="0">
                <a:solidFill>
                  <a:srgbClr val="B4561A"/>
                </a:solidFill>
              </a:rPr>
              <a:t>tidak optimal</a:t>
            </a:r>
            <a:endParaRPr lang="en-US" sz="1100" dirty="0"/>
          </a:p>
        </p:txBody>
      </p:sp>
      <p:sp>
        <p:nvSpPr>
          <p:cNvPr id="42" name="Text 40"/>
          <p:cNvSpPr txBox="1"/>
          <p:nvPr/>
        </p:nvSpPr>
        <p:spPr>
          <a:xfrm>
            <a:off x="9098280" y="4242816"/>
            <a:ext cx="2377440" cy="502920"/>
          </a:xfrm>
          <a:prstGeom prst="rect">
            <a:avLst/>
          </a:prstGeom>
          <a:noFill/>
          <a:ln/>
        </p:spPr>
        <p:txBody>
          <a:bodyPr wrap="square" lIns="0" tIns="0" rIns="0" bIns="0" rtlCol="0" anchor="t"/>
          <a:lstStyle/>
          <a:p>
            <a:pPr indent="0" marL="0">
              <a:buNone/>
            </a:pPr>
            <a:r>
              <a:rPr lang="en-US" sz="1200" dirty="0">
                <a:solidFill>
                  <a:srgbClr val="5E6B65"/>
                </a:solidFill>
              </a:rPr>
              <a:t>f = h · cepat, abaikan g</a:t>
            </a:r>
            <a:endParaRPr lang="en-US" sz="1200" dirty="0"/>
          </a:p>
        </p:txBody>
      </p:sp>
      <p:sp>
        <p:nvSpPr>
          <p:cNvPr id="43" name="Shape 41"/>
          <p:cNvSpPr/>
          <p:nvPr/>
        </p:nvSpPr>
        <p:spPr>
          <a:xfrm>
            <a:off x="548640" y="4709160"/>
            <a:ext cx="5212080" cy="1463040"/>
          </a:xfrm>
          <a:prstGeom prst="roundRect">
            <a:avLst>
              <a:gd name="adj" fmla="val 7500"/>
            </a:avLst>
          </a:prstGeom>
          <a:solidFill>
            <a:srgbClr val="FFF4E8"/>
          </a:solidFill>
          <a:ln w="12700">
            <a:solidFill>
              <a:srgbClr val="FFF4E8"/>
            </a:solidFill>
            <a:prstDash val="solid"/>
          </a:ln>
        </p:spPr>
      </p:sp>
      <p:sp>
        <p:nvSpPr>
          <p:cNvPr id="44" name="Text 42"/>
          <p:cNvSpPr txBox="1"/>
          <p:nvPr/>
        </p:nvSpPr>
        <p:spPr>
          <a:xfrm>
            <a:off x="777240" y="4800600"/>
            <a:ext cx="4754880" cy="1325880"/>
          </a:xfrm>
          <a:prstGeom prst="rect">
            <a:avLst/>
          </a:prstGeom>
          <a:noFill/>
          <a:ln/>
        </p:spPr>
        <p:txBody>
          <a:bodyPr wrap="square" lIns="0" tIns="0" rIns="0" bIns="0" rtlCol="0" anchor="t"/>
          <a:lstStyle/>
          <a:p>
            <a:pPr indent="0" marL="0">
              <a:buNone/>
            </a:pPr>
            <a:r>
              <a:rPr lang="en-US" sz="1500" b="1" dirty="0">
                <a:solidFill>
                  <a:schemeClr val="tx1"/>
                </a:solidFill>
              </a:rPr>
              <a:t>Heuristik h2 (rancangan kami)</a:t>
            </a:r>
            <a:endParaRPr lang="en-US" sz="1600" dirty="0"/>
          </a:p>
          <a:p>
            <a:pPr indent="0" marL="0">
              <a:buNone/>
            </a:pPr>
            <a:r>
              <a:rPr lang="en-US" sz="1300" dirty="0">
                <a:solidFill>
                  <a:srgbClr val="5E6B65"/>
                </a:solidFill>
              </a:rPr>
              <a:t>Tiap Granmax hanya punya 1 sekolah urutan ke-1, ke-2, ke-3. Sekolah dipasangkan ke slot termurah (algoritma Hungaria) → batas bawah yang ketat dan tetap admissible.</a:t>
            </a:r>
            <a:endParaRPr lang="en-US" sz="1600" dirty="0"/>
          </a:p>
        </p:txBody>
      </p:sp>
      <p:sp>
        <p:nvSpPr>
          <p:cNvPr id="45" name="Text 43"/>
          <p:cNvSpPr txBox="1"/>
          <p:nvPr/>
        </p:nvSpPr>
        <p:spPr>
          <a:xfrm>
            <a:off x="6035040" y="5029200"/>
            <a:ext cx="5577840" cy="822960"/>
          </a:xfrm>
          <a:prstGeom prst="rect">
            <a:avLst/>
          </a:prstGeom>
          <a:noFill/>
          <a:ln/>
        </p:spPr>
        <p:txBody>
          <a:bodyPr wrap="square" lIns="0" tIns="0" rIns="0" bIns="0" rtlCol="0" anchor="t"/>
          <a:lstStyle/>
          <a:p>
            <a:pPr indent="0" marL="0">
              <a:buNone/>
            </a:pPr>
            <a:r>
              <a:rPr lang="en-US" sz="1400" dirty="0">
                <a:solidFill>
                  <a:srgbClr val="5E6B65"/>
                </a:solidFill>
              </a:rPr>
              <a:t>h1 (pembanding): jalan masuk termurah ke tiap sekolah tersisa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Bagian A: heuristik yang baik memangkas pencarian</a:t>
            </a:r>
            <a:endParaRPr lang="en-US" sz="3200" dirty="0"/>
          </a:p>
        </p:txBody>
      </p:sp>
      <p:pic>
        <p:nvPicPr>
          <p:cNvPr id="3" name="Image 0" descr="C:\Users\Asus\Downloads\KKA-2026\Projek-ETS\results\fig_search_scaling.png">    </p:cNvPr>
          <p:cNvPicPr>
            <a:picLocks noChangeAspect="1"/>
          </p:cNvPicPr>
          <p:nvPr/>
        </p:nvPicPr>
        <p:blipFill>
          <a:blip r:embed="rId1"/>
          <a:stretch>
            <a:fillRect/>
          </a:stretch>
        </p:blipFill>
        <p:spPr>
          <a:xfrm>
            <a:off x="548640" y="1293460"/>
            <a:ext cx="7589520" cy="3173799"/>
          </a:xfrm>
          <a:prstGeom prst="rect">
            <a:avLst/>
          </a:prstGeom>
        </p:spPr>
      </p:pic>
      <p:graphicFrame>
        <p:nvGraphicFramePr>
          <p:cNvPr id="4" name="Chart 0" descr=""/>
          <p:cNvGraphicFramePr/>
          <p:nvPr/>
        </p:nvGraphicFramePr>
        <p:xfrm>
          <a:off x="8321040" y="1234440"/>
          <a:ext cx="3319272" cy="32918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548640" y="4754880"/>
            <a:ext cx="2743200" cy="1463040"/>
          </a:xfrm>
          <a:prstGeom prst="roundRect">
            <a:avLst>
              <a:gd name="adj" fmla="val 7500"/>
            </a:avLst>
          </a:prstGeom>
          <a:solidFill>
            <a:srgbClr val="EEF4F0"/>
          </a:solidFill>
          <a:ln w="12700">
            <a:solidFill>
              <a:srgbClr val="EEF4F0"/>
            </a:solidFill>
            <a:prstDash val="solid"/>
          </a:ln>
        </p:spPr>
      </p:sp>
      <p:sp>
        <p:nvSpPr>
          <p:cNvPr id="6" name="Text 2"/>
          <p:cNvSpPr txBox="1"/>
          <p:nvPr/>
        </p:nvSpPr>
        <p:spPr>
          <a:xfrm>
            <a:off x="731520" y="4892040"/>
            <a:ext cx="2377440" cy="59436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9/9</a:t>
            </a:r>
            <a:endParaRPr lang="en-US" sz="2600" dirty="0"/>
          </a:p>
        </p:txBody>
      </p:sp>
      <p:sp>
        <p:nvSpPr>
          <p:cNvPr id="7" name="Text 3"/>
          <p:cNvSpPr txBox="1"/>
          <p:nvPr/>
        </p:nvSpPr>
        <p:spPr>
          <a:xfrm>
            <a:off x="731520" y="5504688"/>
            <a:ext cx="2377440" cy="594360"/>
          </a:xfrm>
          <a:prstGeom prst="rect">
            <a:avLst/>
          </a:prstGeom>
          <a:noFill/>
          <a:ln/>
        </p:spPr>
        <p:txBody>
          <a:bodyPr wrap="square" lIns="0" tIns="0" rIns="0" bIns="0" rtlCol="0" anchor="t"/>
          <a:lstStyle/>
          <a:p>
            <a:pPr indent="0" marL="0">
              <a:buNone/>
            </a:pPr>
            <a:r>
              <a:rPr lang="en-US" sz="1300" dirty="0">
                <a:solidFill>
                  <a:srgbClr val="5E6B65"/>
                </a:solidFill>
              </a:rPr>
              <a:t>sub-masalah nyata: UCS, A*, DFS-B&amp;B selalu optimal</a:t>
            </a:r>
            <a:endParaRPr lang="en-US" sz="1300" dirty="0"/>
          </a:p>
        </p:txBody>
      </p:sp>
      <p:sp>
        <p:nvSpPr>
          <p:cNvPr id="8" name="Shape 4"/>
          <p:cNvSpPr/>
          <p:nvPr/>
        </p:nvSpPr>
        <p:spPr>
          <a:xfrm>
            <a:off x="3429000" y="4754880"/>
            <a:ext cx="2743200" cy="1463040"/>
          </a:xfrm>
          <a:prstGeom prst="roundRect">
            <a:avLst>
              <a:gd name="adj" fmla="val 7500"/>
            </a:avLst>
          </a:prstGeom>
          <a:solidFill>
            <a:srgbClr val="EEF4F0"/>
          </a:solidFill>
          <a:ln w="12700">
            <a:solidFill>
              <a:srgbClr val="EEF4F0"/>
            </a:solidFill>
            <a:prstDash val="solid"/>
          </a:ln>
        </p:spPr>
      </p:sp>
      <p:sp>
        <p:nvSpPr>
          <p:cNvPr id="9" name="Text 5"/>
          <p:cNvSpPr txBox="1"/>
          <p:nvPr/>
        </p:nvSpPr>
        <p:spPr>
          <a:xfrm>
            <a:off x="3611880" y="4892040"/>
            <a:ext cx="2377440" cy="59436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19×</a:t>
            </a:r>
            <a:endParaRPr lang="en-US" sz="2600" dirty="0"/>
          </a:p>
        </p:txBody>
      </p:sp>
      <p:sp>
        <p:nvSpPr>
          <p:cNvPr id="10" name="Text 6"/>
          <p:cNvSpPr txBox="1"/>
          <p:nvPr/>
        </p:nvSpPr>
        <p:spPr>
          <a:xfrm>
            <a:off x="3611880" y="5504688"/>
            <a:ext cx="2377440" cy="594360"/>
          </a:xfrm>
          <a:prstGeom prst="rect">
            <a:avLst/>
          </a:prstGeom>
          <a:noFill/>
          <a:ln/>
        </p:spPr>
        <p:txBody>
          <a:bodyPr wrap="square" lIns="0" tIns="0" rIns="0" bIns="0" rtlCol="0" anchor="t"/>
          <a:lstStyle/>
          <a:p>
            <a:pPr indent="0" marL="0">
              <a:buNone/>
            </a:pPr>
            <a:r>
              <a:rPr lang="en-US" sz="1300" dirty="0">
                <a:solidFill>
                  <a:srgbClr val="5E6B65"/>
                </a:solidFill>
              </a:rPr>
              <a:t>node lebih sedikit: A* (h2) vs UCS</a:t>
            </a:r>
            <a:endParaRPr lang="en-US" sz="1300" dirty="0"/>
          </a:p>
        </p:txBody>
      </p:sp>
      <p:sp>
        <p:nvSpPr>
          <p:cNvPr id="11" name="Shape 7"/>
          <p:cNvSpPr/>
          <p:nvPr/>
        </p:nvSpPr>
        <p:spPr>
          <a:xfrm>
            <a:off x="6309360" y="4754880"/>
            <a:ext cx="2743200" cy="1463040"/>
          </a:xfrm>
          <a:prstGeom prst="roundRect">
            <a:avLst>
              <a:gd name="adj" fmla="val 7500"/>
            </a:avLst>
          </a:prstGeom>
          <a:solidFill>
            <a:srgbClr val="EEF4F0"/>
          </a:solidFill>
          <a:ln w="12700">
            <a:solidFill>
              <a:srgbClr val="EEF4F0"/>
            </a:solidFill>
            <a:prstDash val="solid"/>
          </a:ln>
        </p:spPr>
      </p:sp>
      <p:sp>
        <p:nvSpPr>
          <p:cNvPr id="12" name="Text 8"/>
          <p:cNvSpPr txBox="1"/>
          <p:nvPr/>
        </p:nvSpPr>
        <p:spPr>
          <a:xfrm>
            <a:off x="6492240" y="4892040"/>
            <a:ext cx="2377440" cy="59436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+54%</a:t>
            </a:r>
            <a:endParaRPr lang="en-US" sz="2600" dirty="0"/>
          </a:p>
        </p:txBody>
      </p:sp>
      <p:sp>
        <p:nvSpPr>
          <p:cNvPr id="13" name="Text 9"/>
          <p:cNvSpPr txBox="1"/>
          <p:nvPr/>
        </p:nvSpPr>
        <p:spPr>
          <a:xfrm>
            <a:off x="6492240" y="5504688"/>
            <a:ext cx="2377440" cy="594360"/>
          </a:xfrm>
          <a:prstGeom prst="rect">
            <a:avLst/>
          </a:prstGeom>
          <a:noFill/>
          <a:ln/>
        </p:spPr>
        <p:txBody>
          <a:bodyPr wrap="square" lIns="0" tIns="0" rIns="0" bIns="0" rtlCol="0" anchor="t"/>
          <a:lstStyle/>
          <a:p>
            <a:pPr indent="0" marL="0">
              <a:buNone/>
            </a:pPr>
            <a:r>
              <a:rPr lang="en-US" sz="1300" dirty="0">
                <a:solidFill>
                  <a:srgbClr val="5E6B65"/>
                </a:solidFill>
              </a:rPr>
              <a:t>BFS/IDS: Granmax paling sedikit ≠ termurah</a:t>
            </a:r>
            <a:endParaRPr lang="en-US" sz="1300" dirty="0"/>
          </a:p>
        </p:txBody>
      </p:sp>
      <p:sp>
        <p:nvSpPr>
          <p:cNvPr id="14" name="Shape 10"/>
          <p:cNvSpPr/>
          <p:nvPr/>
        </p:nvSpPr>
        <p:spPr>
          <a:xfrm>
            <a:off x="9189720" y="4754880"/>
            <a:ext cx="2450592" cy="1463040"/>
          </a:xfrm>
          <a:prstGeom prst="roundRect">
            <a:avLst>
              <a:gd name="adj" fmla="val 7500"/>
            </a:avLst>
          </a:prstGeom>
          <a:solidFill>
            <a:srgbClr val="EEF4F0"/>
          </a:solidFill>
          <a:ln w="12700">
            <a:solidFill>
              <a:srgbClr val="EEF4F0"/>
            </a:solidFill>
            <a:prstDash val="solid"/>
          </a:ln>
        </p:spPr>
      </p:sp>
      <p:sp>
        <p:nvSpPr>
          <p:cNvPr id="15" name="Text 11"/>
          <p:cNvSpPr txBox="1"/>
          <p:nvPr/>
        </p:nvSpPr>
        <p:spPr>
          <a:xfrm>
            <a:off x="9372600" y="4892040"/>
            <a:ext cx="2084832" cy="59436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+52%</a:t>
            </a:r>
            <a:endParaRPr lang="en-US" sz="2600" dirty="0"/>
          </a:p>
        </p:txBody>
      </p:sp>
      <p:sp>
        <p:nvSpPr>
          <p:cNvPr id="16" name="Text 12"/>
          <p:cNvSpPr txBox="1"/>
          <p:nvPr/>
        </p:nvSpPr>
        <p:spPr>
          <a:xfrm>
            <a:off x="9372600" y="5504688"/>
            <a:ext cx="2084832" cy="594360"/>
          </a:xfrm>
          <a:prstGeom prst="rect">
            <a:avLst/>
          </a:prstGeom>
          <a:noFill/>
          <a:ln/>
        </p:spPr>
        <p:txBody>
          <a:bodyPr wrap="square" lIns="0" tIns="0" rIns="0" bIns="0" rtlCol="0" anchor="t"/>
          <a:lstStyle/>
          <a:p>
            <a:pPr indent="0" marL="0">
              <a:buNone/>
            </a:pPr>
            <a:r>
              <a:rPr lang="en-US" sz="1300" dirty="0">
                <a:solidFill>
                  <a:srgbClr val="5E6B65"/>
                </a:solidFill>
              </a:rPr>
              <a:t>GBFS: cepat, tapi tersesat tanpa g</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Bagian B: delapan algoritma pencarian lokal</a:t>
            </a:r>
            <a:endParaRPr lang="en-US" sz="3200" dirty="0"/>
          </a:p>
        </p:txBody>
      </p:sp>
      <p:sp>
        <p:nvSpPr>
          <p:cNvPr id="3" name="Shape 1"/>
          <p:cNvSpPr/>
          <p:nvPr/>
        </p:nvSpPr>
        <p:spPr>
          <a:xfrm>
            <a:off x="548640" y="1325880"/>
            <a:ext cx="2670048" cy="1783080"/>
          </a:xfrm>
          <a:prstGeom prst="roundRect">
            <a:avLst>
              <a:gd name="adj" fmla="val 6154"/>
            </a:avLst>
          </a:prstGeom>
          <a:solidFill>
            <a:srgbClr val="EEF4F0"/>
          </a:solidFill>
          <a:ln w="12700">
            <a:solidFill>
              <a:srgbClr val="EEF4F0"/>
            </a:solidFill>
            <a:prstDash val="solid"/>
          </a:ln>
        </p:spPr>
      </p:sp>
      <p:sp>
        <p:nvSpPr>
          <p:cNvPr id="4" name="Shape 2"/>
          <p:cNvSpPr/>
          <p:nvPr/>
        </p:nvSpPr>
        <p:spPr>
          <a:xfrm>
            <a:off x="731520" y="1527048"/>
            <a:ext cx="548640" cy="54864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863194" y="1658722"/>
            <a:ext cx="285293" cy="285293"/>
          </a:xfrm>
          <a:prstGeom prst="rect">
            <a:avLst/>
          </a:prstGeom>
        </p:spPr>
      </p:pic>
      <p:sp>
        <p:nvSpPr>
          <p:cNvPr id="6" name="Text 3"/>
          <p:cNvSpPr txBox="1"/>
          <p:nvPr/>
        </p:nvSpPr>
        <p:spPr>
          <a:xfrm>
            <a:off x="1389888" y="1572768"/>
            <a:ext cx="1755648" cy="4572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HC</a:t>
            </a:r>
            <a:endParaRPr lang="en-US" sz="1700" dirty="0"/>
          </a:p>
        </p:txBody>
      </p:sp>
      <p:sp>
        <p:nvSpPr>
          <p:cNvPr id="7" name="Text 4"/>
          <p:cNvSpPr txBox="1"/>
          <p:nvPr/>
        </p:nvSpPr>
        <p:spPr>
          <a:xfrm>
            <a:off x="731520" y="2194560"/>
            <a:ext cx="2304288" cy="822960"/>
          </a:xfrm>
          <a:prstGeom prst="rect">
            <a:avLst/>
          </a:prstGeom>
          <a:noFill/>
          <a:ln/>
        </p:spPr>
        <p:txBody>
          <a:bodyPr wrap="square" lIns="0" tIns="0" rIns="0" bIns="0" rtlCol="0" anchor="t"/>
          <a:lstStyle/>
          <a:p>
            <a:pPr indent="0" marL="0">
              <a:buNone/>
            </a:pPr>
            <a:r>
              <a:rPr lang="en-US" sz="1300" dirty="0">
                <a:solidFill>
                  <a:schemeClr val="tx1"/>
                </a:solidFill>
              </a:rPr>
              <a:t>Pindah ke tetangga terbaik; berhenti di optimum lokal</a:t>
            </a:r>
            <a:endParaRPr lang="en-US" sz="1300" dirty="0"/>
          </a:p>
        </p:txBody>
      </p:sp>
      <p:sp>
        <p:nvSpPr>
          <p:cNvPr id="8" name="Shape 5"/>
          <p:cNvSpPr/>
          <p:nvPr/>
        </p:nvSpPr>
        <p:spPr>
          <a:xfrm>
            <a:off x="3355848" y="1325880"/>
            <a:ext cx="2670048" cy="1783080"/>
          </a:xfrm>
          <a:prstGeom prst="roundRect">
            <a:avLst>
              <a:gd name="adj" fmla="val 6154"/>
            </a:avLst>
          </a:prstGeom>
          <a:solidFill>
            <a:srgbClr val="EEF4F0"/>
          </a:solidFill>
          <a:ln w="12700">
            <a:solidFill>
              <a:srgbClr val="EEF4F0"/>
            </a:solidFill>
            <a:prstDash val="solid"/>
          </a:ln>
        </p:spPr>
      </p:sp>
      <p:sp>
        <p:nvSpPr>
          <p:cNvPr id="9" name="Shape 6"/>
          <p:cNvSpPr/>
          <p:nvPr/>
        </p:nvSpPr>
        <p:spPr>
          <a:xfrm>
            <a:off x="3538728" y="1527048"/>
            <a:ext cx="548640" cy="548640"/>
          </a:xfrm>
          <a:prstGeom prst="ellipse">
            <a:avLst/>
          </a:prstGeom>
          <a:solidFill>
            <a:srgbClr val="EB6834"/>
          </a:solidFill>
          <a:ln w="12700">
            <a:solidFill>
              <a:srgbClr val="EB6834"/>
            </a:solidFill>
            <a:prstDash val="solid"/>
          </a:ln>
        </p:spPr>
      </p:sp>
      <p:pic>
        <p:nvPicPr>
          <p:cNvPr id="10" name="Image 1" descr="preencoded.png">    </p:cNvPr>
          <p:cNvPicPr>
            <a:picLocks noChangeAspect="1"/>
          </p:cNvPicPr>
          <p:nvPr/>
        </p:nvPicPr>
        <p:blipFill>
          <a:blip r:embed="rId2"/>
          <a:stretch>
            <a:fillRect/>
          </a:stretch>
        </p:blipFill>
        <p:spPr>
          <a:xfrm>
            <a:off x="3670402" y="1658722"/>
            <a:ext cx="285293" cy="285293"/>
          </a:xfrm>
          <a:prstGeom prst="rect">
            <a:avLst/>
          </a:prstGeom>
        </p:spPr>
      </p:pic>
      <p:sp>
        <p:nvSpPr>
          <p:cNvPr id="11" name="Text 7"/>
          <p:cNvSpPr txBox="1"/>
          <p:nvPr/>
        </p:nvSpPr>
        <p:spPr>
          <a:xfrm>
            <a:off x="4197096" y="1572768"/>
            <a:ext cx="1755648" cy="4572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HC-Sideways</a:t>
            </a:r>
            <a:endParaRPr lang="en-US" sz="1700" dirty="0"/>
          </a:p>
        </p:txBody>
      </p:sp>
      <p:sp>
        <p:nvSpPr>
          <p:cNvPr id="12" name="Text 8"/>
          <p:cNvSpPr txBox="1"/>
          <p:nvPr/>
        </p:nvSpPr>
        <p:spPr>
          <a:xfrm>
            <a:off x="3538728" y="2194560"/>
            <a:ext cx="2304288" cy="822960"/>
          </a:xfrm>
          <a:prstGeom prst="rect">
            <a:avLst/>
          </a:prstGeom>
          <a:noFill/>
          <a:ln/>
        </p:spPr>
        <p:txBody>
          <a:bodyPr wrap="square" lIns="0" tIns="0" rIns="0" bIns="0" rtlCol="0" anchor="t"/>
          <a:lstStyle/>
          <a:p>
            <a:pPr indent="0" marL="0">
              <a:buNone/>
            </a:pPr>
            <a:r>
              <a:rPr lang="en-US" sz="1300" dirty="0">
                <a:solidFill>
                  <a:schemeClr val="tx1"/>
                </a:solidFill>
              </a:rPr>
              <a:t>Boleh langkah datar (ΔF = 0), maks 100×</a:t>
            </a:r>
            <a:endParaRPr lang="en-US" sz="1300" dirty="0"/>
          </a:p>
        </p:txBody>
      </p:sp>
      <p:sp>
        <p:nvSpPr>
          <p:cNvPr id="13" name="Shape 9"/>
          <p:cNvSpPr/>
          <p:nvPr/>
        </p:nvSpPr>
        <p:spPr>
          <a:xfrm>
            <a:off x="6163056" y="1325880"/>
            <a:ext cx="2670048" cy="1783080"/>
          </a:xfrm>
          <a:prstGeom prst="roundRect">
            <a:avLst>
              <a:gd name="adj" fmla="val 6154"/>
            </a:avLst>
          </a:prstGeom>
          <a:solidFill>
            <a:srgbClr val="EEF4F0"/>
          </a:solidFill>
          <a:ln w="12700">
            <a:solidFill>
              <a:srgbClr val="EEF4F0"/>
            </a:solidFill>
            <a:prstDash val="solid"/>
          </a:ln>
        </p:spPr>
      </p:sp>
      <p:sp>
        <p:nvSpPr>
          <p:cNvPr id="14" name="Shape 10"/>
          <p:cNvSpPr/>
          <p:nvPr/>
        </p:nvSpPr>
        <p:spPr>
          <a:xfrm>
            <a:off x="6345936" y="1527048"/>
            <a:ext cx="548640" cy="548640"/>
          </a:xfrm>
          <a:prstGeom prst="ellipse">
            <a:avLst/>
          </a:prstGeom>
          <a:solidFill>
            <a:srgbClr val="1BAF7A"/>
          </a:solidFill>
          <a:ln w="12700">
            <a:solidFill>
              <a:srgbClr val="1BAF7A"/>
            </a:solidFill>
            <a:prstDash val="solid"/>
          </a:ln>
        </p:spPr>
      </p:sp>
      <p:pic>
        <p:nvPicPr>
          <p:cNvPr id="15" name="Image 2" descr="preencoded.png">    </p:cNvPr>
          <p:cNvPicPr>
            <a:picLocks noChangeAspect="1"/>
          </p:cNvPicPr>
          <p:nvPr/>
        </p:nvPicPr>
        <p:blipFill>
          <a:blip r:embed="rId3"/>
          <a:stretch>
            <a:fillRect/>
          </a:stretch>
        </p:blipFill>
        <p:spPr>
          <a:xfrm>
            <a:off x="6477610" y="1658722"/>
            <a:ext cx="285293" cy="285293"/>
          </a:xfrm>
          <a:prstGeom prst="rect">
            <a:avLst/>
          </a:prstGeom>
        </p:spPr>
      </p:pic>
      <p:sp>
        <p:nvSpPr>
          <p:cNvPr id="16" name="Text 11"/>
          <p:cNvSpPr txBox="1"/>
          <p:nvPr/>
        </p:nvSpPr>
        <p:spPr>
          <a:xfrm>
            <a:off x="7004304" y="1572768"/>
            <a:ext cx="1755648" cy="4572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Stochastic HC</a:t>
            </a:r>
            <a:endParaRPr lang="en-US" sz="1700" dirty="0"/>
          </a:p>
        </p:txBody>
      </p:sp>
      <p:sp>
        <p:nvSpPr>
          <p:cNvPr id="17" name="Text 12"/>
          <p:cNvSpPr txBox="1"/>
          <p:nvPr/>
        </p:nvSpPr>
        <p:spPr>
          <a:xfrm>
            <a:off x="6345936" y="2194560"/>
            <a:ext cx="2304288" cy="822960"/>
          </a:xfrm>
          <a:prstGeom prst="rect">
            <a:avLst/>
          </a:prstGeom>
          <a:noFill/>
          <a:ln/>
        </p:spPr>
        <p:txBody>
          <a:bodyPr wrap="square" lIns="0" tIns="0" rIns="0" bIns="0" rtlCol="0" anchor="t"/>
          <a:lstStyle/>
          <a:p>
            <a:pPr indent="0" marL="0">
              <a:buNone/>
            </a:pPr>
            <a:r>
              <a:rPr lang="en-US" sz="1300" dirty="0">
                <a:solidFill>
                  <a:schemeClr val="tx1"/>
                </a:solidFill>
              </a:rPr>
              <a:t>Acak di antara langkah yang memperbaiki</a:t>
            </a:r>
            <a:endParaRPr lang="en-US" sz="1300" dirty="0"/>
          </a:p>
        </p:txBody>
      </p:sp>
      <p:sp>
        <p:nvSpPr>
          <p:cNvPr id="18" name="Shape 13"/>
          <p:cNvSpPr/>
          <p:nvPr/>
        </p:nvSpPr>
        <p:spPr>
          <a:xfrm>
            <a:off x="8970264" y="1325880"/>
            <a:ext cx="2670048" cy="1783080"/>
          </a:xfrm>
          <a:prstGeom prst="roundRect">
            <a:avLst>
              <a:gd name="adj" fmla="val 6154"/>
            </a:avLst>
          </a:prstGeom>
          <a:solidFill>
            <a:srgbClr val="EEF4F0"/>
          </a:solidFill>
          <a:ln w="12700">
            <a:solidFill>
              <a:srgbClr val="EEF4F0"/>
            </a:solidFill>
            <a:prstDash val="solid"/>
          </a:ln>
        </p:spPr>
      </p:sp>
      <p:sp>
        <p:nvSpPr>
          <p:cNvPr id="19" name="Shape 14"/>
          <p:cNvSpPr/>
          <p:nvPr/>
        </p:nvSpPr>
        <p:spPr>
          <a:xfrm>
            <a:off x="9153144" y="1527048"/>
            <a:ext cx="548640" cy="548640"/>
          </a:xfrm>
          <a:prstGeom prst="ellipse">
            <a:avLst/>
          </a:prstGeom>
          <a:solidFill>
            <a:srgbClr val="EDA100"/>
          </a:solidFill>
          <a:ln w="12700">
            <a:solidFill>
              <a:srgbClr val="EDA100"/>
            </a:solidFill>
            <a:prstDash val="solid"/>
          </a:ln>
        </p:spPr>
      </p:sp>
      <p:pic>
        <p:nvPicPr>
          <p:cNvPr id="20" name="Image 3" descr="preencoded.png">    </p:cNvPr>
          <p:cNvPicPr>
            <a:picLocks noChangeAspect="1"/>
          </p:cNvPicPr>
          <p:nvPr/>
        </p:nvPicPr>
        <p:blipFill>
          <a:blip r:embed="rId4"/>
          <a:stretch>
            <a:fillRect/>
          </a:stretch>
        </p:blipFill>
        <p:spPr>
          <a:xfrm>
            <a:off x="9284818" y="1658722"/>
            <a:ext cx="285293" cy="285293"/>
          </a:xfrm>
          <a:prstGeom prst="rect">
            <a:avLst/>
          </a:prstGeom>
        </p:spPr>
      </p:pic>
      <p:sp>
        <p:nvSpPr>
          <p:cNvPr id="21" name="Text 15"/>
          <p:cNvSpPr txBox="1"/>
          <p:nvPr/>
        </p:nvSpPr>
        <p:spPr>
          <a:xfrm>
            <a:off x="9811512" y="1572768"/>
            <a:ext cx="1755648" cy="4572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Random-Walk HC</a:t>
            </a:r>
            <a:endParaRPr lang="en-US" sz="1700" dirty="0"/>
          </a:p>
        </p:txBody>
      </p:sp>
      <p:sp>
        <p:nvSpPr>
          <p:cNvPr id="22" name="Text 16"/>
          <p:cNvSpPr txBox="1"/>
          <p:nvPr/>
        </p:nvSpPr>
        <p:spPr>
          <a:xfrm>
            <a:off x="9153144" y="2194560"/>
            <a:ext cx="2304288" cy="822960"/>
          </a:xfrm>
          <a:prstGeom prst="rect">
            <a:avLst/>
          </a:prstGeom>
          <a:noFill/>
          <a:ln/>
        </p:spPr>
        <p:txBody>
          <a:bodyPr wrap="square" lIns="0" tIns="0" rIns="0" bIns="0" rtlCol="0" anchor="t"/>
          <a:lstStyle/>
          <a:p>
            <a:pPr indent="0" marL="0">
              <a:buNone/>
            </a:pPr>
            <a:r>
              <a:rPr lang="en-US" sz="1300" dirty="0">
                <a:solidFill>
                  <a:schemeClr val="tx1"/>
                </a:solidFill>
              </a:rPr>
              <a:t>Peluang 0,05 langkah acak, selain itu terbaik</a:t>
            </a:r>
            <a:endParaRPr lang="en-US" sz="1300" dirty="0"/>
          </a:p>
        </p:txBody>
      </p:sp>
      <p:sp>
        <p:nvSpPr>
          <p:cNvPr id="23" name="Shape 17"/>
          <p:cNvSpPr/>
          <p:nvPr/>
        </p:nvSpPr>
        <p:spPr>
          <a:xfrm>
            <a:off x="548640" y="3291840"/>
            <a:ext cx="2670048" cy="1783080"/>
          </a:xfrm>
          <a:prstGeom prst="roundRect">
            <a:avLst>
              <a:gd name="adj" fmla="val 6154"/>
            </a:avLst>
          </a:prstGeom>
          <a:solidFill>
            <a:srgbClr val="EEF4F0"/>
          </a:solidFill>
          <a:ln w="12700">
            <a:solidFill>
              <a:srgbClr val="EEF4F0"/>
            </a:solidFill>
            <a:prstDash val="solid"/>
          </a:ln>
        </p:spPr>
      </p:sp>
      <p:sp>
        <p:nvSpPr>
          <p:cNvPr id="24" name="Shape 18"/>
          <p:cNvSpPr/>
          <p:nvPr/>
        </p:nvSpPr>
        <p:spPr>
          <a:xfrm>
            <a:off x="731520" y="3493008"/>
            <a:ext cx="548640" cy="548640"/>
          </a:xfrm>
          <a:prstGeom prst="ellipse">
            <a:avLst/>
          </a:prstGeom>
          <a:solidFill>
            <a:srgbClr val="E87BA4"/>
          </a:solidFill>
          <a:ln w="12700">
            <a:solidFill>
              <a:srgbClr val="E87BA4"/>
            </a:solidFill>
            <a:prstDash val="solid"/>
          </a:ln>
        </p:spPr>
      </p:sp>
      <p:pic>
        <p:nvPicPr>
          <p:cNvPr id="25" name="Image 4" descr="preencoded.png">    </p:cNvPr>
          <p:cNvPicPr>
            <a:picLocks noChangeAspect="1"/>
          </p:cNvPicPr>
          <p:nvPr/>
        </p:nvPicPr>
        <p:blipFill>
          <a:blip r:embed="rId5"/>
          <a:stretch>
            <a:fillRect/>
          </a:stretch>
        </p:blipFill>
        <p:spPr>
          <a:xfrm>
            <a:off x="863194" y="3624682"/>
            <a:ext cx="285293" cy="285293"/>
          </a:xfrm>
          <a:prstGeom prst="rect">
            <a:avLst/>
          </a:prstGeom>
        </p:spPr>
      </p:pic>
      <p:sp>
        <p:nvSpPr>
          <p:cNvPr id="26" name="Text 19"/>
          <p:cNvSpPr txBox="1"/>
          <p:nvPr/>
        </p:nvSpPr>
        <p:spPr>
          <a:xfrm>
            <a:off x="1389888" y="3538728"/>
            <a:ext cx="1755648" cy="4572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RR-HC</a:t>
            </a:r>
            <a:endParaRPr lang="en-US" sz="1700" dirty="0"/>
          </a:p>
        </p:txBody>
      </p:sp>
      <p:sp>
        <p:nvSpPr>
          <p:cNvPr id="27" name="Text 20"/>
          <p:cNvSpPr txBox="1"/>
          <p:nvPr/>
        </p:nvSpPr>
        <p:spPr>
          <a:xfrm>
            <a:off x="731520" y="4160520"/>
            <a:ext cx="2304288" cy="822960"/>
          </a:xfrm>
          <a:prstGeom prst="rect">
            <a:avLst/>
          </a:prstGeom>
          <a:noFill/>
          <a:ln/>
        </p:spPr>
        <p:txBody>
          <a:bodyPr wrap="square" lIns="0" tIns="0" rIns="0" bIns="0" rtlCol="0" anchor="t"/>
          <a:lstStyle/>
          <a:p>
            <a:pPr indent="0" marL="0">
              <a:buNone/>
            </a:pPr>
            <a:r>
              <a:rPr lang="en-US" sz="1300" dirty="0">
                <a:solidFill>
                  <a:schemeClr val="tx1"/>
                </a:solidFill>
              </a:rPr>
              <a:t>Ulang HC dari pembagian acak sampai anggaran habis</a:t>
            </a:r>
            <a:endParaRPr lang="en-US" sz="1300" dirty="0"/>
          </a:p>
        </p:txBody>
      </p:sp>
      <p:sp>
        <p:nvSpPr>
          <p:cNvPr id="28" name="Shape 21"/>
          <p:cNvSpPr/>
          <p:nvPr/>
        </p:nvSpPr>
        <p:spPr>
          <a:xfrm>
            <a:off x="3355848" y="3291840"/>
            <a:ext cx="2670048" cy="1783080"/>
          </a:xfrm>
          <a:prstGeom prst="roundRect">
            <a:avLst>
              <a:gd name="adj" fmla="val 6154"/>
            </a:avLst>
          </a:prstGeom>
          <a:solidFill>
            <a:srgbClr val="EEF4F0"/>
          </a:solidFill>
          <a:ln w="12700">
            <a:solidFill>
              <a:srgbClr val="EEF4F0"/>
            </a:solidFill>
            <a:prstDash val="solid"/>
          </a:ln>
        </p:spPr>
      </p:sp>
      <p:sp>
        <p:nvSpPr>
          <p:cNvPr id="29" name="Shape 22"/>
          <p:cNvSpPr/>
          <p:nvPr/>
        </p:nvSpPr>
        <p:spPr>
          <a:xfrm>
            <a:off x="3538728" y="3493008"/>
            <a:ext cx="548640" cy="548640"/>
          </a:xfrm>
          <a:prstGeom prst="ellipse">
            <a:avLst/>
          </a:prstGeom>
          <a:solidFill>
            <a:srgbClr val="008300"/>
          </a:solidFill>
          <a:ln w="12700">
            <a:solidFill>
              <a:srgbClr val="008300"/>
            </a:solidFill>
            <a:prstDash val="solid"/>
          </a:ln>
        </p:spPr>
      </p:sp>
      <p:pic>
        <p:nvPicPr>
          <p:cNvPr id="30" name="Image 5" descr="preencoded.png">    </p:cNvPr>
          <p:cNvPicPr>
            <a:picLocks noChangeAspect="1"/>
          </p:cNvPicPr>
          <p:nvPr/>
        </p:nvPicPr>
        <p:blipFill>
          <a:blip r:embed="rId6"/>
          <a:stretch>
            <a:fillRect/>
          </a:stretch>
        </p:blipFill>
        <p:spPr>
          <a:xfrm>
            <a:off x="3670402" y="3624682"/>
            <a:ext cx="285293" cy="285293"/>
          </a:xfrm>
          <a:prstGeom prst="rect">
            <a:avLst/>
          </a:prstGeom>
        </p:spPr>
      </p:pic>
      <p:sp>
        <p:nvSpPr>
          <p:cNvPr id="31" name="Text 23"/>
          <p:cNvSpPr txBox="1"/>
          <p:nvPr/>
        </p:nvSpPr>
        <p:spPr>
          <a:xfrm>
            <a:off x="4197096" y="3538728"/>
            <a:ext cx="1755648" cy="4572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EHC</a:t>
            </a:r>
            <a:endParaRPr lang="en-US" sz="1700" dirty="0"/>
          </a:p>
        </p:txBody>
      </p:sp>
      <p:sp>
        <p:nvSpPr>
          <p:cNvPr id="32" name="Text 24"/>
          <p:cNvSpPr txBox="1"/>
          <p:nvPr/>
        </p:nvSpPr>
        <p:spPr>
          <a:xfrm>
            <a:off x="3538728" y="4160520"/>
            <a:ext cx="2304288" cy="822960"/>
          </a:xfrm>
          <a:prstGeom prst="rect">
            <a:avLst/>
          </a:prstGeom>
          <a:noFill/>
          <a:ln/>
        </p:spPr>
        <p:txBody>
          <a:bodyPr wrap="square" lIns="0" tIns="0" rIns="0" bIns="0" rtlCol="0" anchor="t"/>
          <a:lstStyle/>
          <a:p>
            <a:pPr indent="0" marL="0">
              <a:buNone/>
            </a:pPr>
            <a:r>
              <a:rPr lang="en-US" sz="1300" dirty="0">
                <a:solidFill>
                  <a:schemeClr val="tx1"/>
                </a:solidFill>
              </a:rPr>
              <a:t>BFS dari optimum lokal sampai ketemu yang lebih baik</a:t>
            </a:r>
            <a:endParaRPr lang="en-US" sz="1300" dirty="0"/>
          </a:p>
        </p:txBody>
      </p:sp>
      <p:sp>
        <p:nvSpPr>
          <p:cNvPr id="33" name="Shape 25"/>
          <p:cNvSpPr/>
          <p:nvPr/>
        </p:nvSpPr>
        <p:spPr>
          <a:xfrm>
            <a:off x="6163056" y="3291840"/>
            <a:ext cx="2670048" cy="1783080"/>
          </a:xfrm>
          <a:prstGeom prst="roundRect">
            <a:avLst>
              <a:gd name="adj" fmla="val 6154"/>
            </a:avLst>
          </a:prstGeom>
          <a:solidFill>
            <a:srgbClr val="EEF4F0"/>
          </a:solidFill>
          <a:ln w="12700">
            <a:solidFill>
              <a:srgbClr val="EEF4F0"/>
            </a:solidFill>
            <a:prstDash val="solid"/>
          </a:ln>
        </p:spPr>
      </p:sp>
      <p:sp>
        <p:nvSpPr>
          <p:cNvPr id="34" name="Shape 26"/>
          <p:cNvSpPr/>
          <p:nvPr/>
        </p:nvSpPr>
        <p:spPr>
          <a:xfrm>
            <a:off x="6345936" y="3493008"/>
            <a:ext cx="548640" cy="548640"/>
          </a:xfrm>
          <a:prstGeom prst="ellipse">
            <a:avLst/>
          </a:prstGeom>
          <a:solidFill>
            <a:srgbClr val="6250D6"/>
          </a:solidFill>
          <a:ln w="12700">
            <a:solidFill>
              <a:srgbClr val="6250D6"/>
            </a:solidFill>
            <a:prstDash val="solid"/>
          </a:ln>
        </p:spPr>
      </p:sp>
      <p:pic>
        <p:nvPicPr>
          <p:cNvPr id="35" name="Image 6" descr="preencoded.png">    </p:cNvPr>
          <p:cNvPicPr>
            <a:picLocks noChangeAspect="1"/>
          </p:cNvPicPr>
          <p:nvPr/>
        </p:nvPicPr>
        <p:blipFill>
          <a:blip r:embed="rId7"/>
          <a:stretch>
            <a:fillRect/>
          </a:stretch>
        </p:blipFill>
        <p:spPr>
          <a:xfrm>
            <a:off x="6477610" y="3624682"/>
            <a:ext cx="285293" cy="285293"/>
          </a:xfrm>
          <a:prstGeom prst="rect">
            <a:avLst/>
          </a:prstGeom>
        </p:spPr>
      </p:pic>
      <p:sp>
        <p:nvSpPr>
          <p:cNvPr id="36" name="Text 27"/>
          <p:cNvSpPr txBox="1"/>
          <p:nvPr/>
        </p:nvSpPr>
        <p:spPr>
          <a:xfrm>
            <a:off x="7004304" y="3538728"/>
            <a:ext cx="1755648" cy="4572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SA</a:t>
            </a:r>
            <a:endParaRPr lang="en-US" sz="1700" dirty="0"/>
          </a:p>
        </p:txBody>
      </p:sp>
      <p:sp>
        <p:nvSpPr>
          <p:cNvPr id="37" name="Text 28"/>
          <p:cNvSpPr txBox="1"/>
          <p:nvPr/>
        </p:nvSpPr>
        <p:spPr>
          <a:xfrm>
            <a:off x="6345936" y="4160520"/>
            <a:ext cx="2304288" cy="822960"/>
          </a:xfrm>
          <a:prstGeom prst="rect">
            <a:avLst/>
          </a:prstGeom>
          <a:noFill/>
          <a:ln/>
        </p:spPr>
        <p:txBody>
          <a:bodyPr wrap="square" lIns="0" tIns="0" rIns="0" bIns="0" rtlCol="0" anchor="t"/>
          <a:lstStyle/>
          <a:p>
            <a:pPr indent="0" marL="0">
              <a:buNone/>
            </a:pPr>
            <a:r>
              <a:rPr lang="en-US" sz="1300" dirty="0">
                <a:solidFill>
                  <a:schemeClr val="tx1"/>
                </a:solidFill>
              </a:rPr>
              <a:t>Terima langkah buruk dengan peluang e^(−ΔF/T)</a:t>
            </a:r>
            <a:endParaRPr lang="en-US" sz="1300" dirty="0"/>
          </a:p>
        </p:txBody>
      </p:sp>
      <p:sp>
        <p:nvSpPr>
          <p:cNvPr id="38" name="Shape 29"/>
          <p:cNvSpPr/>
          <p:nvPr/>
        </p:nvSpPr>
        <p:spPr>
          <a:xfrm>
            <a:off x="8970264" y="3291840"/>
            <a:ext cx="2670048" cy="1783080"/>
          </a:xfrm>
          <a:prstGeom prst="roundRect">
            <a:avLst>
              <a:gd name="adj" fmla="val 6154"/>
            </a:avLst>
          </a:prstGeom>
          <a:solidFill>
            <a:srgbClr val="EEF4F0"/>
          </a:solidFill>
          <a:ln w="12700">
            <a:solidFill>
              <a:srgbClr val="EEF4F0"/>
            </a:solidFill>
            <a:prstDash val="solid"/>
          </a:ln>
        </p:spPr>
      </p:sp>
      <p:sp>
        <p:nvSpPr>
          <p:cNvPr id="39" name="Shape 30"/>
          <p:cNvSpPr/>
          <p:nvPr/>
        </p:nvSpPr>
        <p:spPr>
          <a:xfrm>
            <a:off x="9153144" y="3493008"/>
            <a:ext cx="548640" cy="548640"/>
          </a:xfrm>
          <a:prstGeom prst="ellipse">
            <a:avLst/>
          </a:prstGeom>
          <a:solidFill>
            <a:srgbClr val="E34948"/>
          </a:solidFill>
          <a:ln w="12700">
            <a:solidFill>
              <a:srgbClr val="E34948"/>
            </a:solidFill>
            <a:prstDash val="solid"/>
          </a:ln>
        </p:spPr>
      </p:sp>
      <p:pic>
        <p:nvPicPr>
          <p:cNvPr id="40" name="Image 7" descr="preencoded.png">    </p:cNvPr>
          <p:cNvPicPr>
            <a:picLocks noChangeAspect="1"/>
          </p:cNvPicPr>
          <p:nvPr/>
        </p:nvPicPr>
        <p:blipFill>
          <a:blip r:embed="rId8"/>
          <a:stretch>
            <a:fillRect/>
          </a:stretch>
        </p:blipFill>
        <p:spPr>
          <a:xfrm>
            <a:off x="9284818" y="3624682"/>
            <a:ext cx="285293" cy="285293"/>
          </a:xfrm>
          <a:prstGeom prst="rect">
            <a:avLst/>
          </a:prstGeom>
        </p:spPr>
      </p:pic>
      <p:sp>
        <p:nvSpPr>
          <p:cNvPr id="41" name="Text 31"/>
          <p:cNvSpPr txBox="1"/>
          <p:nvPr/>
        </p:nvSpPr>
        <p:spPr>
          <a:xfrm>
            <a:off x="9811512" y="3538728"/>
            <a:ext cx="1755648" cy="45720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GA</a:t>
            </a:r>
            <a:endParaRPr lang="en-US" sz="1700" dirty="0"/>
          </a:p>
        </p:txBody>
      </p:sp>
      <p:sp>
        <p:nvSpPr>
          <p:cNvPr id="42" name="Text 32"/>
          <p:cNvSpPr txBox="1"/>
          <p:nvPr/>
        </p:nvSpPr>
        <p:spPr>
          <a:xfrm>
            <a:off x="9153144" y="4160520"/>
            <a:ext cx="2304288" cy="822960"/>
          </a:xfrm>
          <a:prstGeom prst="rect">
            <a:avLst/>
          </a:prstGeom>
          <a:noFill/>
          <a:ln/>
        </p:spPr>
        <p:txBody>
          <a:bodyPr wrap="square" lIns="0" tIns="0" rIns="0" bIns="0" rtlCol="0" anchor="t"/>
          <a:lstStyle/>
          <a:p>
            <a:pPr indent="0" marL="0">
              <a:buNone/>
            </a:pPr>
            <a:r>
              <a:rPr lang="en-US" sz="1300" dirty="0">
                <a:solidFill>
                  <a:schemeClr val="tx1"/>
                </a:solidFill>
              </a:rPr>
              <a:t>Kromosom = SPPG tiap sekolah, fitness = 1/F</a:t>
            </a:r>
            <a:endParaRPr lang="en-US" sz="1300" dirty="0"/>
          </a:p>
        </p:txBody>
      </p:sp>
      <p:sp>
        <p:nvSpPr>
          <p:cNvPr id="43" name="Text 33"/>
          <p:cNvSpPr txBox="1"/>
          <p:nvPr/>
        </p:nvSpPr>
        <p:spPr>
          <a:xfrm>
            <a:off x="548640" y="5440680"/>
            <a:ext cx="11094415" cy="731520"/>
          </a:xfrm>
          <a:prstGeom prst="rect">
            <a:avLst/>
          </a:prstGeom>
          <a:noFill/>
          <a:ln/>
        </p:spPr>
        <p:txBody>
          <a:bodyPr wrap="square" lIns="0" tIns="0" rIns="0" bIns="0" rtlCol="0" anchor="t"/>
          <a:lstStyle/>
          <a:p>
            <a:pPr indent="0" marL="0">
              <a:buNone/>
            </a:pPr>
            <a:r>
              <a:rPr lang="en-US" sz="1500" b="1" dirty="0">
                <a:solidFill>
                  <a:schemeClr val="tx1"/>
                </a:solidFill>
              </a:rPr>
              <a:t>Tetangga: </a:t>
            </a:r>
            <a:pPr indent="0" marL="0">
              <a:buNone/>
            </a:pPr>
            <a:r>
              <a:rPr lang="en-US" sz="1500" dirty="0">
                <a:solidFill>
                  <a:schemeClr val="tx1"/>
                </a:solidFill>
              </a:rPr>
              <a:t>pindah satu sekolah ke SPPG lain, atau tukar dua sekolah antar-SPPG.  </a:t>
            </a:r>
            <a:pPr indent="0" marL="0">
              <a:buNone/>
            </a:pPr>
            <a:r>
              <a:rPr lang="en-US" sz="1500" b="1" dirty="0">
                <a:solidFill>
                  <a:schemeClr val="tx1"/>
                </a:solidFill>
              </a:rPr>
              <a:t>Adil: </a:t>
            </a:r>
            <a:pPr indent="0" marL="0">
              <a:buNone/>
            </a:pPr>
            <a:r>
              <a:rPr lang="en-US" sz="1500" dirty="0">
                <a:solidFill>
                  <a:schemeClr val="tx1"/>
                </a:solidFill>
              </a:rPr>
              <a:t>200.000 evaluasi/run, 30 seed, titik awal acak yang sama per seed.</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Bagian B: kunci = cara keluar dari optimum lokal</a:t>
            </a:r>
            <a:endParaRPr lang="en-US" sz="3200" dirty="0"/>
          </a:p>
        </p:txBody>
      </p:sp>
      <p:pic>
        <p:nvPicPr>
          <p:cNvPr id="3" name="Image 0" descr="C:\Users\Asus\Downloads\KKA-2026\Projek-ETS\results\surabaya_6sppg\fig_ls_boxplot.png">    </p:cNvPr>
          <p:cNvPicPr>
            <a:picLocks noChangeAspect="1"/>
          </p:cNvPicPr>
          <p:nvPr/>
        </p:nvPicPr>
        <p:blipFill>
          <a:blip r:embed="rId1"/>
          <a:stretch>
            <a:fillRect/>
          </a:stretch>
        </p:blipFill>
        <p:spPr>
          <a:xfrm>
            <a:off x="1502229" y="1234440"/>
            <a:ext cx="4493623" cy="3931920"/>
          </a:xfrm>
          <a:prstGeom prst="rect">
            <a:avLst/>
          </a:prstGeom>
        </p:spPr>
      </p:pic>
      <p:graphicFrame>
        <p:nvGraphicFramePr>
          <p:cNvPr id="4" name="Chart 0" descr=""/>
          <p:cNvGraphicFramePr/>
          <p:nvPr/>
        </p:nvGraphicFramePr>
        <p:xfrm>
          <a:off x="7086600" y="1234440"/>
          <a:ext cx="4553712" cy="39319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303520"/>
            <a:ext cx="11094415" cy="10058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surabaya_utara: semua 8 algoritma mencapai solusi yang sama di semua seed.</a:t>
            </a:r>
            <a:endParaRPr lang="en-US" sz="1500" dirty="0"/>
          </a:p>
          <a:p>
            <a:pPr marL="228600" indent="-228600">
              <a:spcAft>
                <a:spcPts val="800"/>
              </a:spcAft>
              <a:buSzPct val="100000"/>
              <a:buChar char="•"/>
            </a:pPr>
            <a:r>
              <a:rPr lang="en-US" sz="1500" dirty="0">
                <a:solidFill>
                  <a:schemeClr val="tx1"/>
                </a:solidFill>
              </a:rPr>
              <a:t>surabaya_6sppg: HC biasa sering terjebak; sideways tidak membantu (fitness real, tanpa plateau).</a:t>
            </a:r>
            <a:endParaRPr lang="en-US" sz="1500" dirty="0"/>
          </a:p>
          <a:p>
            <a:pPr marL="228600" indent="-228600">
              <a:spcAft>
                <a:spcPts val="800"/>
              </a:spcAft>
              <a:buSzPct val="100000"/>
              <a:buChar char="•"/>
            </a:pPr>
            <a:r>
              <a:rPr lang="en-US" sz="1500" dirty="0">
                <a:solidFill>
                  <a:schemeClr val="tx1"/>
                </a:solidFill>
              </a:rPr>
              <a:t>RR-HC (rekomendasi kuliah) vs HC: p = 3×10⁻⁶. EHC paling hemat evaluasi.</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Efisiensi: berapa evaluasi sampai solusi terbaik?</a:t>
            </a:r>
            <a:endParaRPr lang="en-US" sz="3200" dirty="0"/>
          </a:p>
        </p:txBody>
      </p:sp>
      <p:pic>
        <p:nvPicPr>
          <p:cNvPr id="3" name="Image 0" descr="C:\Users\Asus\Downloads\KKA-2026\Projek-ETS\results\surabaya_6sppg\fig_ls_konvergensi.png">    </p:cNvPr>
          <p:cNvPicPr>
            <a:picLocks noChangeAspect="1"/>
          </p:cNvPicPr>
          <p:nvPr/>
        </p:nvPicPr>
        <p:blipFill>
          <a:blip r:embed="rId1"/>
          <a:stretch>
            <a:fillRect/>
          </a:stretch>
        </p:blipFill>
        <p:spPr>
          <a:xfrm>
            <a:off x="548640" y="1776984"/>
            <a:ext cx="7223760" cy="3852672"/>
          </a:xfrm>
          <a:prstGeom prst="rect">
            <a:avLst/>
          </a:prstGeom>
        </p:spPr>
      </p:pic>
      <p:graphicFrame>
        <p:nvGraphicFramePr>
          <p:cNvPr id="4" name="Chart 0" descr=""/>
          <p:cNvGraphicFramePr/>
          <p:nvPr/>
        </p:nvGraphicFramePr>
        <p:xfrm>
          <a:off x="7955280" y="1234440"/>
          <a:ext cx="3685032" cy="36576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955280" y="5029200"/>
            <a:ext cx="3685032" cy="1188720"/>
          </a:xfrm>
          <a:prstGeom prst="rect">
            <a:avLst/>
          </a:prstGeom>
          <a:noFill/>
          <a:ln/>
        </p:spPr>
        <p:txBody>
          <a:bodyPr wrap="square" lIns="0" tIns="0" rIns="0" bIns="0" rtlCol="0" anchor="t"/>
          <a:lstStyle/>
          <a:p>
            <a:pPr indent="0" marL="0">
              <a:buNone/>
            </a:pPr>
            <a:r>
              <a:rPr lang="en-US" sz="1400" dirty="0">
                <a:solidFill>
                  <a:srgbClr val="5E6B65"/>
                </a:solidFill>
              </a:rPr>
              <a:t>SA paling lambat per run (58 s) karena tiap langkah acak menghasilkan himpunan sekolah baru; EHC 7,6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Dua tingkat &gt; metaheuristik terintegrasi</a:t>
            </a:r>
            <a:endParaRPr lang="en-US" sz="3200" dirty="0"/>
          </a:p>
        </p:txBody>
      </p:sp>
      <p:graphicFrame>
        <p:nvGraphicFramePr>
          <p:cNvPr id="3" name="Chart 0" descr=""/>
          <p:cNvGraphicFramePr/>
          <p:nvPr/>
        </p:nvGraphicFramePr>
        <p:xfrm>
          <a:off x="548640" y="1234440"/>
          <a:ext cx="6949440" cy="49834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325880"/>
            <a:ext cx="3867912" cy="1417320"/>
          </a:xfrm>
          <a:prstGeom prst="roundRect">
            <a:avLst>
              <a:gd name="adj" fmla="val 7742"/>
            </a:avLst>
          </a:prstGeom>
          <a:solidFill>
            <a:srgbClr val="EEF4F0"/>
          </a:solidFill>
          <a:ln w="12700">
            <a:solidFill>
              <a:srgbClr val="EEF4F0"/>
            </a:solidFill>
            <a:prstDash val="solid"/>
          </a:ln>
        </p:spPr>
      </p:sp>
      <p:sp>
        <p:nvSpPr>
          <p:cNvPr id="5" name="Text 2"/>
          <p:cNvSpPr txBox="1"/>
          <p:nvPr/>
        </p:nvSpPr>
        <p:spPr>
          <a:xfrm>
            <a:off x="7955280" y="1463040"/>
            <a:ext cx="3502152" cy="59436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6 dari 8</a:t>
            </a:r>
            <a:endParaRPr lang="en-US" sz="2600" dirty="0"/>
          </a:p>
        </p:txBody>
      </p:sp>
      <p:sp>
        <p:nvSpPr>
          <p:cNvPr id="6" name="Text 3"/>
          <p:cNvSpPr txBox="1"/>
          <p:nvPr/>
        </p:nvSpPr>
        <p:spPr>
          <a:xfrm>
            <a:off x="7955280" y="2075688"/>
            <a:ext cx="3502152" cy="548640"/>
          </a:xfrm>
          <a:prstGeom prst="rect">
            <a:avLst/>
          </a:prstGeom>
          <a:noFill/>
          <a:ln/>
        </p:spPr>
        <p:txBody>
          <a:bodyPr wrap="square" lIns="0" tIns="0" rIns="0" bIns="0" rtlCol="0" anchor="t"/>
          <a:lstStyle/>
          <a:p>
            <a:pPr indent="0" marL="0">
              <a:buNone/>
            </a:pPr>
            <a:r>
              <a:rPr lang="en-US" sz="1300" dirty="0">
                <a:solidFill>
                  <a:srgbClr val="5E6B65"/>
                </a:solidFill>
              </a:rPr>
              <a:t>algoritma dua tingkat lebih baik dari ACO terintegrasi (terbaik di eksperimen awal)</a:t>
            </a:r>
            <a:endParaRPr lang="en-US" sz="1300" dirty="0"/>
          </a:p>
        </p:txBody>
      </p:sp>
      <p:sp>
        <p:nvSpPr>
          <p:cNvPr id="7" name="Shape 4"/>
          <p:cNvSpPr/>
          <p:nvPr/>
        </p:nvSpPr>
        <p:spPr>
          <a:xfrm>
            <a:off x="7772400" y="2880360"/>
            <a:ext cx="3867912" cy="1417320"/>
          </a:xfrm>
          <a:prstGeom prst="roundRect">
            <a:avLst>
              <a:gd name="adj" fmla="val 7742"/>
            </a:avLst>
          </a:prstGeom>
          <a:solidFill>
            <a:srgbClr val="EEF4F0"/>
          </a:solidFill>
          <a:ln w="12700">
            <a:solidFill>
              <a:srgbClr val="EEF4F0"/>
            </a:solidFill>
            <a:prstDash val="solid"/>
          </a:ln>
        </p:spPr>
      </p:sp>
      <p:sp>
        <p:nvSpPr>
          <p:cNvPr id="8" name="Text 5"/>
          <p:cNvSpPr txBox="1"/>
          <p:nvPr/>
        </p:nvSpPr>
        <p:spPr>
          <a:xfrm>
            <a:off x="7955280" y="3017520"/>
            <a:ext cx="3502152" cy="59436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−20,9%</a:t>
            </a:r>
            <a:endParaRPr lang="en-US" sz="2600" dirty="0"/>
          </a:p>
        </p:txBody>
      </p:sp>
      <p:sp>
        <p:nvSpPr>
          <p:cNvPr id="9" name="Text 6"/>
          <p:cNvSpPr txBox="1"/>
          <p:nvPr/>
        </p:nvSpPr>
        <p:spPr>
          <a:xfrm>
            <a:off x="7955280" y="3630168"/>
            <a:ext cx="3502152" cy="548640"/>
          </a:xfrm>
          <a:prstGeom prst="rect">
            <a:avLst/>
          </a:prstGeom>
          <a:noFill/>
          <a:ln/>
        </p:spPr>
        <p:txBody>
          <a:bodyPr wrap="square" lIns="0" tIns="0" rIns="0" bIns="0" rtlCol="0" anchor="t"/>
          <a:lstStyle/>
          <a:p>
            <a:pPr indent="0" marL="0">
              <a:buNone/>
            </a:pPr>
            <a:r>
              <a:rPr lang="en-US" sz="1300" dirty="0">
                <a:solidFill>
                  <a:srgbClr val="5E6B65"/>
                </a:solidFill>
              </a:rPr>
              <a:t>biaya bensin vs Greedy (Rp163.086 → Rp129.021/hari)</a:t>
            </a:r>
            <a:endParaRPr lang="en-US" sz="1300" dirty="0"/>
          </a:p>
        </p:txBody>
      </p:sp>
      <p:sp>
        <p:nvSpPr>
          <p:cNvPr id="10" name="Text 7"/>
          <p:cNvSpPr txBox="1"/>
          <p:nvPr/>
        </p:nvSpPr>
        <p:spPr>
          <a:xfrm>
            <a:off x="7772400" y="4480560"/>
            <a:ext cx="3867912" cy="1737360"/>
          </a:xfrm>
          <a:prstGeom prst="rect">
            <a:avLst/>
          </a:prstGeom>
          <a:noFill/>
          <a:ln/>
        </p:spPr>
        <p:txBody>
          <a:bodyPr wrap="square" lIns="0" tIns="0" rIns="0" bIns="0" rtlCol="0" anchor="t"/>
          <a:lstStyle/>
          <a:p>
            <a:pPr indent="0" marL="0">
              <a:buNone/>
            </a:pPr>
            <a:r>
              <a:rPr lang="en-US" sz="1400" dirty="0">
                <a:solidFill>
                  <a:schemeClr val="tx1"/>
                </a:solidFill>
              </a:rPr>
              <a:t>Algoritma yang sama (HC, SA, GA) jauh lebih kuat di ruang pembagian + rute optimal daripada di ruang rute penuh: ruangnya lebih kecil dan setiap titik langsung dinilai dengan rute terbaiknya.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Trade-off biaya bensin vs waktu tiba</a:t>
            </a:r>
            <a:endParaRPr lang="en-US" sz="3200" dirty="0"/>
          </a:p>
        </p:txBody>
      </p:sp>
      <p:pic>
        <p:nvPicPr>
          <p:cNvPr id="3" name="Image 0" descr="C:\Users\Asus\Downloads\KKA-2026\Projek-ETS\results\surabaya_6sppg\fig_ls_pareto.png">    </p:cNvPr>
          <p:cNvPicPr>
            <a:picLocks noChangeAspect="1"/>
          </p:cNvPicPr>
          <p:nvPr/>
        </p:nvPicPr>
        <p:blipFill>
          <a:blip r:embed="rId1"/>
          <a:stretch>
            <a:fillRect/>
          </a:stretch>
        </p:blipFill>
        <p:spPr>
          <a:xfrm>
            <a:off x="548640" y="1386840"/>
            <a:ext cx="6949440" cy="4632960"/>
          </a:xfrm>
          <a:prstGeom prst="rect">
            <a:avLst/>
          </a:prstGeom>
        </p:spPr>
      </p:pic>
      <p:sp>
        <p:nvSpPr>
          <p:cNvPr id="4" name="Shape 1"/>
          <p:cNvSpPr/>
          <p:nvPr/>
        </p:nvSpPr>
        <p:spPr>
          <a:xfrm>
            <a:off x="7772400" y="1325880"/>
            <a:ext cx="3867912" cy="749808"/>
          </a:xfrm>
          <a:prstGeom prst="roundRect">
            <a:avLst>
              <a:gd name="adj" fmla="val 14634"/>
            </a:avLst>
          </a:prstGeom>
          <a:solidFill>
            <a:srgbClr val="EEF4F0"/>
          </a:solidFill>
          <a:ln w="12700">
            <a:solidFill>
              <a:srgbClr val="EEF4F0"/>
            </a:solidFill>
            <a:prstDash val="solid"/>
          </a:ln>
        </p:spPr>
      </p:sp>
      <p:sp>
        <p:nvSpPr>
          <p:cNvPr id="5" name="Text 2"/>
          <p:cNvSpPr txBox="1"/>
          <p:nvPr/>
        </p:nvSpPr>
        <p:spPr>
          <a:xfrm>
            <a:off x="7955280" y="1417320"/>
            <a:ext cx="1097280" cy="566928"/>
          </a:xfrm>
          <a:prstGeom prst="rect">
            <a:avLst/>
          </a:prstGeom>
          <a:noFill/>
          <a:ln/>
        </p:spPr>
        <p:txBody>
          <a:bodyPr wrap="square" lIns="0" tIns="0" rIns="0" bIns="0" rtlCol="0" anchor="ctr"/>
          <a:lstStyle/>
          <a:p>
            <a:pPr indent="0" marL="0">
              <a:buNone/>
            </a:pPr>
            <a:r>
              <a:rPr lang="en-US" sz="1500" b="1" dirty="0">
                <a:solidFill>
                  <a:schemeClr val="tx1"/>
                </a:solidFill>
              </a:rPr>
              <a:t>w = 1,00</a:t>
            </a:r>
            <a:endParaRPr lang="en-US" sz="1500" dirty="0"/>
          </a:p>
        </p:txBody>
      </p:sp>
      <p:sp>
        <p:nvSpPr>
          <p:cNvPr id="6" name="Text 3"/>
          <p:cNvSpPr txBox="1"/>
          <p:nvPr/>
        </p:nvSpPr>
        <p:spPr>
          <a:xfrm>
            <a:off x="9052560" y="1417320"/>
            <a:ext cx="2514600" cy="566928"/>
          </a:xfrm>
          <a:prstGeom prst="rect">
            <a:avLst/>
          </a:prstGeom>
          <a:noFill/>
          <a:ln/>
        </p:spPr>
        <p:txBody>
          <a:bodyPr wrap="square" lIns="0" tIns="0" rIns="0" bIns="0" rtlCol="0" anchor="ctr"/>
          <a:lstStyle/>
          <a:p>
            <a:pPr indent="0" marL="0">
              <a:buNone/>
            </a:pPr>
            <a:r>
              <a:rPr lang="en-US" sz="1500" dirty="0">
                <a:solidFill>
                  <a:schemeClr val="tx1"/>
                </a:solidFill>
              </a:rPr>
              <a:t>Rp117.678 · 23,3 mnt</a:t>
            </a:r>
            <a:endParaRPr lang="en-US" sz="1500" dirty="0"/>
          </a:p>
        </p:txBody>
      </p:sp>
      <p:sp>
        <p:nvSpPr>
          <p:cNvPr id="7" name="Shape 4"/>
          <p:cNvSpPr/>
          <p:nvPr/>
        </p:nvSpPr>
        <p:spPr>
          <a:xfrm>
            <a:off x="7772400" y="2194560"/>
            <a:ext cx="3867912" cy="749808"/>
          </a:xfrm>
          <a:prstGeom prst="roundRect">
            <a:avLst>
              <a:gd name="adj" fmla="val 14634"/>
            </a:avLst>
          </a:prstGeom>
          <a:solidFill>
            <a:srgbClr val="EEF4F0"/>
          </a:solidFill>
          <a:ln w="12700">
            <a:solidFill>
              <a:srgbClr val="EEF4F0"/>
            </a:solidFill>
            <a:prstDash val="solid"/>
          </a:ln>
        </p:spPr>
      </p:sp>
      <p:sp>
        <p:nvSpPr>
          <p:cNvPr id="8" name="Text 5"/>
          <p:cNvSpPr txBox="1"/>
          <p:nvPr/>
        </p:nvSpPr>
        <p:spPr>
          <a:xfrm>
            <a:off x="7955280" y="2286000"/>
            <a:ext cx="1097280" cy="566928"/>
          </a:xfrm>
          <a:prstGeom prst="rect">
            <a:avLst/>
          </a:prstGeom>
          <a:noFill/>
          <a:ln/>
        </p:spPr>
        <p:txBody>
          <a:bodyPr wrap="square" lIns="0" tIns="0" rIns="0" bIns="0" rtlCol="0" anchor="ctr"/>
          <a:lstStyle/>
          <a:p>
            <a:pPr indent="0" marL="0">
              <a:buNone/>
            </a:pPr>
            <a:r>
              <a:rPr lang="en-US" sz="1500" b="1" dirty="0">
                <a:solidFill>
                  <a:schemeClr val="tx1"/>
                </a:solidFill>
              </a:rPr>
              <a:t>w = 0,75</a:t>
            </a:r>
            <a:endParaRPr lang="en-US" sz="1500" dirty="0"/>
          </a:p>
        </p:txBody>
      </p:sp>
      <p:sp>
        <p:nvSpPr>
          <p:cNvPr id="9" name="Text 6"/>
          <p:cNvSpPr txBox="1"/>
          <p:nvPr/>
        </p:nvSpPr>
        <p:spPr>
          <a:xfrm>
            <a:off x="9052560" y="2286000"/>
            <a:ext cx="2514600" cy="566928"/>
          </a:xfrm>
          <a:prstGeom prst="rect">
            <a:avLst/>
          </a:prstGeom>
          <a:noFill/>
          <a:ln/>
        </p:spPr>
        <p:txBody>
          <a:bodyPr wrap="square" lIns="0" tIns="0" rIns="0" bIns="0" rtlCol="0" anchor="ctr"/>
          <a:lstStyle/>
          <a:p>
            <a:pPr indent="0" marL="0">
              <a:buNone/>
            </a:pPr>
            <a:r>
              <a:rPr lang="en-US" sz="1500" dirty="0">
                <a:solidFill>
                  <a:schemeClr val="tx1"/>
                </a:solidFill>
              </a:rPr>
              <a:t>Rp126.745 · 17,5 mnt</a:t>
            </a:r>
            <a:endParaRPr lang="en-US" sz="1500" dirty="0"/>
          </a:p>
        </p:txBody>
      </p:sp>
      <p:sp>
        <p:nvSpPr>
          <p:cNvPr id="10" name="Shape 7"/>
          <p:cNvSpPr/>
          <p:nvPr/>
        </p:nvSpPr>
        <p:spPr>
          <a:xfrm>
            <a:off x="7772400" y="3063240"/>
            <a:ext cx="3867912" cy="749808"/>
          </a:xfrm>
          <a:prstGeom prst="roundRect">
            <a:avLst>
              <a:gd name="adj" fmla="val 14634"/>
            </a:avLst>
          </a:prstGeom>
          <a:solidFill>
            <a:srgbClr val="EEF4F0"/>
          </a:solidFill>
          <a:ln w="12700">
            <a:solidFill>
              <a:srgbClr val="EEF4F0"/>
            </a:solidFill>
            <a:prstDash val="solid"/>
          </a:ln>
        </p:spPr>
      </p:sp>
      <p:sp>
        <p:nvSpPr>
          <p:cNvPr id="11" name="Text 8"/>
          <p:cNvSpPr txBox="1"/>
          <p:nvPr/>
        </p:nvSpPr>
        <p:spPr>
          <a:xfrm>
            <a:off x="7955280" y="3154680"/>
            <a:ext cx="1097280" cy="566928"/>
          </a:xfrm>
          <a:prstGeom prst="rect">
            <a:avLst/>
          </a:prstGeom>
          <a:noFill/>
          <a:ln/>
        </p:spPr>
        <p:txBody>
          <a:bodyPr wrap="square" lIns="0" tIns="0" rIns="0" bIns="0" rtlCol="0" anchor="ctr"/>
          <a:lstStyle/>
          <a:p>
            <a:pPr indent="0" marL="0">
              <a:buNone/>
            </a:pPr>
            <a:r>
              <a:rPr lang="en-US" sz="1500" b="1" dirty="0">
                <a:solidFill>
                  <a:schemeClr val="tx1"/>
                </a:solidFill>
              </a:rPr>
              <a:t>w = 0,50</a:t>
            </a:r>
            <a:endParaRPr lang="en-US" sz="1500" dirty="0"/>
          </a:p>
        </p:txBody>
      </p:sp>
      <p:sp>
        <p:nvSpPr>
          <p:cNvPr id="12" name="Text 9"/>
          <p:cNvSpPr txBox="1"/>
          <p:nvPr/>
        </p:nvSpPr>
        <p:spPr>
          <a:xfrm>
            <a:off x="9052560" y="3154680"/>
            <a:ext cx="2514600" cy="566928"/>
          </a:xfrm>
          <a:prstGeom prst="rect">
            <a:avLst/>
          </a:prstGeom>
          <a:noFill/>
          <a:ln/>
        </p:spPr>
        <p:txBody>
          <a:bodyPr wrap="square" lIns="0" tIns="0" rIns="0" bIns="0" rtlCol="0" anchor="ctr"/>
          <a:lstStyle/>
          <a:p>
            <a:pPr indent="0" marL="0">
              <a:buNone/>
            </a:pPr>
            <a:r>
              <a:rPr lang="en-US" sz="1500" dirty="0">
                <a:solidFill>
                  <a:schemeClr val="tx1"/>
                </a:solidFill>
              </a:rPr>
              <a:t>Rp129.021 · 17,4 mnt</a:t>
            </a:r>
            <a:endParaRPr lang="en-US" sz="1500" dirty="0"/>
          </a:p>
        </p:txBody>
      </p:sp>
      <p:sp>
        <p:nvSpPr>
          <p:cNvPr id="13" name="Shape 10"/>
          <p:cNvSpPr/>
          <p:nvPr/>
        </p:nvSpPr>
        <p:spPr>
          <a:xfrm>
            <a:off x="7772400" y="3931920"/>
            <a:ext cx="3867912" cy="749808"/>
          </a:xfrm>
          <a:prstGeom prst="roundRect">
            <a:avLst>
              <a:gd name="adj" fmla="val 14634"/>
            </a:avLst>
          </a:prstGeom>
          <a:solidFill>
            <a:srgbClr val="EEF4F0"/>
          </a:solidFill>
          <a:ln w="12700">
            <a:solidFill>
              <a:srgbClr val="EEF4F0"/>
            </a:solidFill>
            <a:prstDash val="solid"/>
          </a:ln>
        </p:spPr>
      </p:sp>
      <p:sp>
        <p:nvSpPr>
          <p:cNvPr id="14" name="Text 11"/>
          <p:cNvSpPr txBox="1"/>
          <p:nvPr/>
        </p:nvSpPr>
        <p:spPr>
          <a:xfrm>
            <a:off x="7955280" y="4023360"/>
            <a:ext cx="1097280" cy="566928"/>
          </a:xfrm>
          <a:prstGeom prst="rect">
            <a:avLst/>
          </a:prstGeom>
          <a:noFill/>
          <a:ln/>
        </p:spPr>
        <p:txBody>
          <a:bodyPr wrap="square" lIns="0" tIns="0" rIns="0" bIns="0" rtlCol="0" anchor="ctr"/>
          <a:lstStyle/>
          <a:p>
            <a:pPr indent="0" marL="0">
              <a:buNone/>
            </a:pPr>
            <a:r>
              <a:rPr lang="en-US" sz="1500" b="1" dirty="0">
                <a:solidFill>
                  <a:schemeClr val="tx1"/>
                </a:solidFill>
              </a:rPr>
              <a:t>w = 0,25</a:t>
            </a:r>
            <a:endParaRPr lang="en-US" sz="1500" dirty="0"/>
          </a:p>
        </p:txBody>
      </p:sp>
      <p:sp>
        <p:nvSpPr>
          <p:cNvPr id="15" name="Text 12"/>
          <p:cNvSpPr txBox="1"/>
          <p:nvPr/>
        </p:nvSpPr>
        <p:spPr>
          <a:xfrm>
            <a:off x="9052560" y="4023360"/>
            <a:ext cx="2514600" cy="566928"/>
          </a:xfrm>
          <a:prstGeom prst="rect">
            <a:avLst/>
          </a:prstGeom>
          <a:noFill/>
          <a:ln/>
        </p:spPr>
        <p:txBody>
          <a:bodyPr wrap="square" lIns="0" tIns="0" rIns="0" bIns="0" rtlCol="0" anchor="ctr"/>
          <a:lstStyle/>
          <a:p>
            <a:pPr indent="0" marL="0">
              <a:buNone/>
            </a:pPr>
            <a:r>
              <a:rPr lang="en-US" sz="1500" dirty="0">
                <a:solidFill>
                  <a:schemeClr val="tx1"/>
                </a:solidFill>
              </a:rPr>
              <a:t>Rp135.573 · 17,3 mnt</a:t>
            </a:r>
            <a:endParaRPr lang="en-US" sz="1500" dirty="0"/>
          </a:p>
        </p:txBody>
      </p:sp>
      <p:sp>
        <p:nvSpPr>
          <p:cNvPr id="16" name="Shape 13"/>
          <p:cNvSpPr/>
          <p:nvPr/>
        </p:nvSpPr>
        <p:spPr>
          <a:xfrm>
            <a:off x="7772400" y="4800600"/>
            <a:ext cx="3867912" cy="749808"/>
          </a:xfrm>
          <a:prstGeom prst="roundRect">
            <a:avLst>
              <a:gd name="adj" fmla="val 14634"/>
            </a:avLst>
          </a:prstGeom>
          <a:solidFill>
            <a:srgbClr val="EEF4F0"/>
          </a:solidFill>
          <a:ln w="12700">
            <a:solidFill>
              <a:srgbClr val="EEF4F0"/>
            </a:solidFill>
            <a:prstDash val="solid"/>
          </a:ln>
        </p:spPr>
      </p:sp>
      <p:sp>
        <p:nvSpPr>
          <p:cNvPr id="17" name="Text 14"/>
          <p:cNvSpPr txBox="1"/>
          <p:nvPr/>
        </p:nvSpPr>
        <p:spPr>
          <a:xfrm>
            <a:off x="7955280" y="4892040"/>
            <a:ext cx="1097280" cy="566928"/>
          </a:xfrm>
          <a:prstGeom prst="rect">
            <a:avLst/>
          </a:prstGeom>
          <a:noFill/>
          <a:ln/>
        </p:spPr>
        <p:txBody>
          <a:bodyPr wrap="square" lIns="0" tIns="0" rIns="0" bIns="0" rtlCol="0" anchor="ctr"/>
          <a:lstStyle/>
          <a:p>
            <a:pPr indent="0" marL="0">
              <a:buNone/>
            </a:pPr>
            <a:r>
              <a:rPr lang="en-US" sz="1500" b="1" dirty="0">
                <a:solidFill>
                  <a:schemeClr val="tx1"/>
                </a:solidFill>
              </a:rPr>
              <a:t>w = 0,00</a:t>
            </a:r>
            <a:endParaRPr lang="en-US" sz="1500" dirty="0"/>
          </a:p>
        </p:txBody>
      </p:sp>
      <p:sp>
        <p:nvSpPr>
          <p:cNvPr id="18" name="Text 15"/>
          <p:cNvSpPr txBox="1"/>
          <p:nvPr/>
        </p:nvSpPr>
        <p:spPr>
          <a:xfrm>
            <a:off x="9052560" y="4892040"/>
            <a:ext cx="2514600" cy="566928"/>
          </a:xfrm>
          <a:prstGeom prst="rect">
            <a:avLst/>
          </a:prstGeom>
          <a:noFill/>
          <a:ln/>
        </p:spPr>
        <p:txBody>
          <a:bodyPr wrap="square" lIns="0" tIns="0" rIns="0" bIns="0" rtlCol="0" anchor="ctr"/>
          <a:lstStyle/>
          <a:p>
            <a:pPr indent="0" marL="0">
              <a:buNone/>
            </a:pPr>
            <a:r>
              <a:rPr lang="en-US" sz="1500" dirty="0">
                <a:solidFill>
                  <a:schemeClr val="tx1"/>
                </a:solidFill>
              </a:rPr>
              <a:t>Rp139.172 · 17,3 mnt</a:t>
            </a:r>
            <a:endParaRPr lang="en-US" sz="1500" dirty="0"/>
          </a:p>
        </p:txBody>
      </p:sp>
      <p:sp>
        <p:nvSpPr>
          <p:cNvPr id="19" name="Text 16"/>
          <p:cNvSpPr txBox="1"/>
          <p:nvPr/>
        </p:nvSpPr>
        <p:spPr>
          <a:xfrm>
            <a:off x="7772400" y="5715000"/>
            <a:ext cx="3867912" cy="365760"/>
          </a:xfrm>
          <a:prstGeom prst="rect">
            <a:avLst/>
          </a:prstGeom>
          <a:noFill/>
          <a:ln/>
        </p:spPr>
        <p:txBody>
          <a:bodyPr wrap="square" lIns="0" tIns="0" rIns="0" bIns="0" rtlCol="0" anchor="t"/>
          <a:lstStyle/>
          <a:p>
            <a:pPr indent="0" marL="0">
              <a:buNone/>
            </a:pPr>
            <a:r>
              <a:rPr lang="en-US" sz="1200" dirty="0">
                <a:solidFill>
                  <a:srgbClr val="5E6B65"/>
                </a:solidFill>
              </a:rPr>
              <a:t>w = 1: murni bensin · w = 0: murni waktu</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Rute terbaik di peta</a:t>
            </a:r>
            <a:endParaRPr lang="en-US" sz="3200" dirty="0"/>
          </a:p>
        </p:txBody>
      </p:sp>
      <p:pic>
        <p:nvPicPr>
          <p:cNvPr id="3" name="Image 0" descr="C:\Users\Asus\Downloads\KKA-2026\Projek-ETS\report\figs\fig_rute_surabaya_6sppg_terbaik.png">    </p:cNvPr>
          <p:cNvPicPr>
            <a:picLocks noChangeAspect="1"/>
          </p:cNvPicPr>
          <p:nvPr/>
        </p:nvPicPr>
        <p:blipFill>
          <a:blip r:embed="rId1"/>
          <a:stretch>
            <a:fillRect/>
          </a:stretch>
        </p:blipFill>
        <p:spPr>
          <a:xfrm>
            <a:off x="571500" y="1234440"/>
            <a:ext cx="5074920" cy="5074920"/>
          </a:xfrm>
          <a:prstGeom prst="rect">
            <a:avLst/>
          </a:prstGeom>
        </p:spPr>
      </p:pic>
      <p:sp>
        <p:nvSpPr>
          <p:cNvPr id="4" name="Shape 1"/>
          <p:cNvSpPr/>
          <p:nvPr/>
        </p:nvSpPr>
        <p:spPr>
          <a:xfrm>
            <a:off x="6172200" y="1417320"/>
            <a:ext cx="2651760" cy="1645920"/>
          </a:xfrm>
          <a:prstGeom prst="roundRect">
            <a:avLst>
              <a:gd name="adj" fmla="val 6667"/>
            </a:avLst>
          </a:prstGeom>
          <a:solidFill>
            <a:srgbClr val="EEF4F0"/>
          </a:solidFill>
          <a:ln w="12700">
            <a:solidFill>
              <a:srgbClr val="EEF4F0"/>
            </a:solidFill>
            <a:prstDash val="solid"/>
          </a:ln>
        </p:spPr>
      </p:sp>
      <p:sp>
        <p:nvSpPr>
          <p:cNvPr id="5" name="Text 2"/>
          <p:cNvSpPr txBox="1"/>
          <p:nvPr/>
        </p:nvSpPr>
        <p:spPr>
          <a:xfrm>
            <a:off x="6355080" y="1554480"/>
            <a:ext cx="2286000" cy="5943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Rp129.021</a:t>
            </a:r>
            <a:endParaRPr lang="en-US" sz="2400" dirty="0"/>
          </a:p>
        </p:txBody>
      </p:sp>
      <p:sp>
        <p:nvSpPr>
          <p:cNvPr id="6" name="Text 3"/>
          <p:cNvSpPr txBox="1"/>
          <p:nvPr/>
        </p:nvSpPr>
        <p:spPr>
          <a:xfrm>
            <a:off x="6355080" y="2167128"/>
            <a:ext cx="2286000" cy="777240"/>
          </a:xfrm>
          <a:prstGeom prst="rect">
            <a:avLst/>
          </a:prstGeom>
          <a:noFill/>
          <a:ln/>
        </p:spPr>
        <p:txBody>
          <a:bodyPr wrap="square" lIns="0" tIns="0" rIns="0" bIns="0" rtlCol="0" anchor="t"/>
          <a:lstStyle/>
          <a:p>
            <a:pPr indent="0" marL="0">
              <a:buNone/>
            </a:pPr>
            <a:r>
              <a:rPr lang="en-US" sz="1300" dirty="0">
                <a:solidFill>
                  <a:srgbClr val="5E6B65"/>
                </a:solidFill>
              </a:rPr>
              <a:t>bensin per hari (180,6 km, 18 Granmax)</a:t>
            </a:r>
            <a:endParaRPr lang="en-US" sz="1300" dirty="0"/>
          </a:p>
        </p:txBody>
      </p:sp>
      <p:sp>
        <p:nvSpPr>
          <p:cNvPr id="7" name="Shape 4"/>
          <p:cNvSpPr/>
          <p:nvPr/>
        </p:nvSpPr>
        <p:spPr>
          <a:xfrm>
            <a:off x="8961120" y="1417320"/>
            <a:ext cx="2651760" cy="1645920"/>
          </a:xfrm>
          <a:prstGeom prst="roundRect">
            <a:avLst>
              <a:gd name="adj" fmla="val 6667"/>
            </a:avLst>
          </a:prstGeom>
          <a:solidFill>
            <a:srgbClr val="EEF4F0"/>
          </a:solidFill>
          <a:ln w="12700">
            <a:solidFill>
              <a:srgbClr val="EEF4F0"/>
            </a:solidFill>
            <a:prstDash val="solid"/>
          </a:ln>
        </p:spPr>
      </p:sp>
      <p:sp>
        <p:nvSpPr>
          <p:cNvPr id="8" name="Text 5"/>
          <p:cNvSpPr txBox="1"/>
          <p:nvPr/>
        </p:nvSpPr>
        <p:spPr>
          <a:xfrm>
            <a:off x="9144000" y="1554480"/>
            <a:ext cx="2286000" cy="5943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17,4 mnt</a:t>
            </a:r>
            <a:endParaRPr lang="en-US" sz="2400" dirty="0"/>
          </a:p>
        </p:txBody>
      </p:sp>
      <p:sp>
        <p:nvSpPr>
          <p:cNvPr id="9" name="Text 6"/>
          <p:cNvSpPr txBox="1"/>
          <p:nvPr/>
        </p:nvSpPr>
        <p:spPr>
          <a:xfrm>
            <a:off x="9144000" y="2167128"/>
            <a:ext cx="2286000" cy="777240"/>
          </a:xfrm>
          <a:prstGeom prst="rect">
            <a:avLst/>
          </a:prstGeom>
          <a:noFill/>
          <a:ln/>
        </p:spPr>
        <p:txBody>
          <a:bodyPr wrap="square" lIns="0" tIns="0" rIns="0" bIns="0" rtlCol="0" anchor="t"/>
          <a:lstStyle/>
          <a:p>
            <a:pPr indent="0" marL="0">
              <a:buNone/>
            </a:pPr>
            <a:r>
              <a:rPr lang="en-US" sz="1300" dirty="0">
                <a:solidFill>
                  <a:srgbClr val="5E6B65"/>
                </a:solidFill>
              </a:rPr>
              <a:t>rata-rata makanan tiba; terakhir 44 mnt</a:t>
            </a:r>
            <a:endParaRPr lang="en-US" sz="1300" dirty="0"/>
          </a:p>
        </p:txBody>
      </p:sp>
      <p:sp>
        <p:nvSpPr>
          <p:cNvPr id="10" name="Shape 7"/>
          <p:cNvSpPr/>
          <p:nvPr/>
        </p:nvSpPr>
        <p:spPr>
          <a:xfrm>
            <a:off x="6172200" y="3291840"/>
            <a:ext cx="2651760" cy="1645920"/>
          </a:xfrm>
          <a:prstGeom prst="roundRect">
            <a:avLst>
              <a:gd name="adj" fmla="val 6667"/>
            </a:avLst>
          </a:prstGeom>
          <a:solidFill>
            <a:srgbClr val="EEF4F0"/>
          </a:solidFill>
          <a:ln w="12700">
            <a:solidFill>
              <a:srgbClr val="EEF4F0"/>
            </a:solidFill>
            <a:prstDash val="solid"/>
          </a:ln>
        </p:spPr>
      </p:sp>
      <p:sp>
        <p:nvSpPr>
          <p:cNvPr id="11" name="Text 8"/>
          <p:cNvSpPr txBox="1"/>
          <p:nvPr/>
        </p:nvSpPr>
        <p:spPr>
          <a:xfrm>
            <a:off x="6355080" y="3429000"/>
            <a:ext cx="2286000" cy="5943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−Rp34.065</a:t>
            </a:r>
            <a:endParaRPr lang="en-US" sz="2400" dirty="0"/>
          </a:p>
        </p:txBody>
      </p:sp>
      <p:sp>
        <p:nvSpPr>
          <p:cNvPr id="12" name="Text 9"/>
          <p:cNvSpPr txBox="1"/>
          <p:nvPr/>
        </p:nvSpPr>
        <p:spPr>
          <a:xfrm>
            <a:off x="6355080" y="4041648"/>
            <a:ext cx="2286000" cy="777240"/>
          </a:xfrm>
          <a:prstGeom prst="rect">
            <a:avLst/>
          </a:prstGeom>
          <a:noFill/>
          <a:ln/>
        </p:spPr>
        <p:txBody>
          <a:bodyPr wrap="square" lIns="0" tIns="0" rIns="0" bIns="0" rtlCol="0" anchor="t"/>
          <a:lstStyle/>
          <a:p>
            <a:pPr indent="0" marL="0">
              <a:buNone/>
            </a:pPr>
            <a:r>
              <a:rPr lang="en-US" sz="1300" dirty="0">
                <a:solidFill>
                  <a:srgbClr val="5E6B65"/>
                </a:solidFill>
              </a:rPr>
              <a:t>per hari dibanding Greedy</a:t>
            </a:r>
            <a:endParaRPr lang="en-US" sz="1300" dirty="0"/>
          </a:p>
        </p:txBody>
      </p:sp>
      <p:sp>
        <p:nvSpPr>
          <p:cNvPr id="13" name="Shape 10"/>
          <p:cNvSpPr/>
          <p:nvPr/>
        </p:nvSpPr>
        <p:spPr>
          <a:xfrm>
            <a:off x="8961120" y="3291840"/>
            <a:ext cx="2651760" cy="1645920"/>
          </a:xfrm>
          <a:prstGeom prst="roundRect">
            <a:avLst>
              <a:gd name="adj" fmla="val 6667"/>
            </a:avLst>
          </a:prstGeom>
          <a:solidFill>
            <a:srgbClr val="EEF4F0"/>
          </a:solidFill>
          <a:ln w="12700">
            <a:solidFill>
              <a:srgbClr val="EEF4F0"/>
            </a:solidFill>
            <a:prstDash val="solid"/>
          </a:ln>
        </p:spPr>
      </p:sp>
      <p:sp>
        <p:nvSpPr>
          <p:cNvPr id="14" name="Text 11"/>
          <p:cNvSpPr txBox="1"/>
          <p:nvPr/>
        </p:nvSpPr>
        <p:spPr>
          <a:xfrm>
            <a:off x="9144000" y="3429000"/>
            <a:ext cx="2286000" cy="59436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±Rp6.812.914</a:t>
            </a:r>
            <a:endParaRPr lang="en-US" sz="2400" dirty="0"/>
          </a:p>
        </p:txBody>
      </p:sp>
      <p:sp>
        <p:nvSpPr>
          <p:cNvPr id="15" name="Text 12"/>
          <p:cNvSpPr txBox="1"/>
          <p:nvPr/>
        </p:nvSpPr>
        <p:spPr>
          <a:xfrm>
            <a:off x="9144000" y="4041648"/>
            <a:ext cx="2286000" cy="777240"/>
          </a:xfrm>
          <a:prstGeom prst="rect">
            <a:avLst/>
          </a:prstGeom>
          <a:noFill/>
          <a:ln/>
        </p:spPr>
        <p:txBody>
          <a:bodyPr wrap="square" lIns="0" tIns="0" rIns="0" bIns="0" rtlCol="0" anchor="t"/>
          <a:lstStyle/>
          <a:p>
            <a:pPr indent="0" marL="0">
              <a:buNone/>
            </a:pPr>
            <a:r>
              <a:rPr lang="en-US" sz="1300" dirty="0">
                <a:solidFill>
                  <a:srgbClr val="5E6B65"/>
                </a:solidFill>
              </a:rPr>
              <a:t>per tahun (asumsi 200 hari sekolah) untuk 42 sekolah</a:t>
            </a:r>
            <a:endParaRPr lang="en-US" sz="1300" dirty="0"/>
          </a:p>
        </p:txBody>
      </p:sp>
      <p:sp>
        <p:nvSpPr>
          <p:cNvPr id="16" name="Text 13"/>
          <p:cNvSpPr txBox="1"/>
          <p:nvPr/>
        </p:nvSpPr>
        <p:spPr>
          <a:xfrm>
            <a:off x="6172200" y="5257800"/>
            <a:ext cx="5468112" cy="822960"/>
          </a:xfrm>
          <a:prstGeom prst="rect">
            <a:avLst/>
          </a:prstGeom>
          <a:noFill/>
          <a:ln/>
        </p:spPr>
        <p:txBody>
          <a:bodyPr wrap="square" lIns="0" tIns="0" rIns="0" bIns="0" rtlCol="0" anchor="t"/>
          <a:lstStyle/>
          <a:p>
            <a:pPr indent="0" marL="0">
              <a:buNone/>
            </a:pPr>
            <a:r>
              <a:rPr lang="en-US" sz="1400" dirty="0">
                <a:solidFill>
                  <a:schemeClr val="tx1"/>
                </a:solidFill>
              </a:rPr>
              <a:t>Demo interaktif: results/&lt;instance&gt;/peta_rute_terbaik.html (rute per Granmax, jam tiba tiap sekolah).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822960"/>
          </a:xfrm>
          <a:prstGeom prst="rect">
            <a:avLst/>
          </a:prstGeom>
          <a:noFill/>
          <a:ln/>
        </p:spPr>
        <p:txBody>
          <a:bodyPr wrap="square" lIns="0" tIns="0" rIns="0" bIns="0" rtlCol="0" anchor="ctr"/>
          <a:lstStyle/>
          <a:p>
            <a:pPr indent="0" marL="0">
              <a:buNone/>
            </a:pPr>
            <a:r>
              <a:rPr lang="en-US" sz="3200" b="1" dirty="0">
                <a:solidFill>
                  <a:schemeClr val="tx2"/>
                </a:solidFill>
              </a:rPr>
              <a:t>Sensitivitas: kapasitas penting, batas 3 jam tidak</a:t>
            </a:r>
            <a:endParaRPr lang="en-US" sz="3200" dirty="0"/>
          </a:p>
        </p:txBody>
      </p:sp>
      <p:graphicFrame>
        <p:nvGraphicFramePr>
          <p:cNvPr id="3" name="Chart 0" descr=""/>
          <p:cNvGraphicFramePr/>
          <p:nvPr/>
        </p:nvGraphicFramePr>
        <p:xfrm>
          <a:off x="548640" y="1325880"/>
          <a:ext cx="539496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45352" y="1325880"/>
          <a:ext cx="5394960" cy="384048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394960"/>
            <a:ext cx="11094415" cy="777240"/>
          </a:xfrm>
          <a:prstGeom prst="rect">
            <a:avLst/>
          </a:prstGeom>
          <a:noFill/>
          <a:ln/>
        </p:spPr>
        <p:txBody>
          <a:bodyPr wrap="square" lIns="0" tIns="0" rIns="0" bIns="0" rtlCol="0" anchor="t"/>
          <a:lstStyle/>
          <a:p>
            <a:pPr indent="0" marL="0">
              <a:buNone/>
            </a:pPr>
            <a:r>
              <a:rPr lang="en-US" sz="1600" dirty="0">
                <a:solidFill>
                  <a:schemeClr val="tx1"/>
                </a:solidFill>
              </a:rPr>
              <a:t>Jika 1 Granmax hanya ke 1 sekolah, biaya naik 78%. Bahkan dengan macet 10× (±5 km/jam), sekolah terakhir tiba dalam 172 menit.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B6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50292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Kesimpulan</a:t>
            </a:r>
            <a:endParaRPr lang="en-US" sz="3600" dirty="0"/>
          </a:p>
        </p:txBody>
      </p:sp>
      <p:sp>
        <p:nvSpPr>
          <p:cNvPr id="3" name="Shape 1"/>
          <p:cNvSpPr/>
          <p:nvPr/>
        </p:nvSpPr>
        <p:spPr>
          <a:xfrm>
            <a:off x="548640" y="1417320"/>
            <a:ext cx="658368" cy="658368"/>
          </a:xfrm>
          <a:prstGeom prst="ellipse">
            <a:avLst/>
          </a:prstGeom>
          <a:solidFill>
            <a:srgbClr val="2E6B55"/>
          </a:solidFill>
          <a:ln w="12700">
            <a:solidFill>
              <a:srgbClr val="2E6B55"/>
            </a:solidFill>
            <a:prstDash val="solid"/>
          </a:ln>
        </p:spPr>
      </p:sp>
      <p:pic>
        <p:nvPicPr>
          <p:cNvPr id="4" name="Image 0" descr="preencoded.png">    </p:cNvPr>
          <p:cNvPicPr>
            <a:picLocks noChangeAspect="1"/>
          </p:cNvPicPr>
          <p:nvPr/>
        </p:nvPicPr>
        <p:blipFill>
          <a:blip r:embed="rId1"/>
          <a:stretch>
            <a:fillRect/>
          </a:stretch>
        </p:blipFill>
        <p:spPr>
          <a:xfrm>
            <a:off x="706648" y="1575328"/>
            <a:ext cx="342351" cy="342351"/>
          </a:xfrm>
          <a:prstGeom prst="rect">
            <a:avLst/>
          </a:prstGeom>
        </p:spPr>
      </p:pic>
      <p:sp>
        <p:nvSpPr>
          <p:cNvPr id="5" name="Text 2"/>
          <p:cNvSpPr txBox="1"/>
          <p:nvPr/>
        </p:nvSpPr>
        <p:spPr>
          <a:xfrm>
            <a:off x="1463040" y="1380744"/>
            <a:ext cx="10149840" cy="749808"/>
          </a:xfrm>
          <a:prstGeom prst="rect">
            <a:avLst/>
          </a:prstGeom>
          <a:noFill/>
          <a:ln/>
        </p:spPr>
        <p:txBody>
          <a:bodyPr wrap="square" lIns="0" tIns="0" rIns="0" bIns="0" rtlCol="0" anchor="ctr"/>
          <a:lstStyle/>
          <a:p>
            <a:pPr indent="0" marL="0">
              <a:buNone/>
            </a:pPr>
            <a:r>
              <a:rPr lang="en-US" sz="1800" dirty="0">
                <a:solidFill>
                  <a:srgbClr val="FFFFFF"/>
                </a:solidFill>
              </a:rPr>
              <a:t>Dekomposisi eksak: pembagian sekolah (pencarian lokal) + rute per SPPG (algoritma pencarian).</a:t>
            </a:r>
            <a:endParaRPr lang="en-US" sz="1800" dirty="0"/>
          </a:p>
        </p:txBody>
      </p:sp>
      <p:sp>
        <p:nvSpPr>
          <p:cNvPr id="6" name="Shape 3"/>
          <p:cNvSpPr/>
          <p:nvPr/>
        </p:nvSpPr>
        <p:spPr>
          <a:xfrm>
            <a:off x="548640" y="2423160"/>
            <a:ext cx="658368" cy="658368"/>
          </a:xfrm>
          <a:prstGeom prst="ellipse">
            <a:avLst/>
          </a:prstGeom>
          <a:solidFill>
            <a:srgbClr val="2E6B55"/>
          </a:solidFill>
          <a:ln w="12700">
            <a:solidFill>
              <a:srgbClr val="2E6B55"/>
            </a:solidFill>
            <a:prstDash val="solid"/>
          </a:ln>
        </p:spPr>
      </p:sp>
      <p:pic>
        <p:nvPicPr>
          <p:cNvPr id="7" name="Image 1" descr="preencoded.png">    </p:cNvPr>
          <p:cNvPicPr>
            <a:picLocks noChangeAspect="1"/>
          </p:cNvPicPr>
          <p:nvPr/>
        </p:nvPicPr>
        <p:blipFill>
          <a:blip r:embed="rId2"/>
          <a:stretch>
            <a:fillRect/>
          </a:stretch>
        </p:blipFill>
        <p:spPr>
          <a:xfrm>
            <a:off x="706648" y="2581168"/>
            <a:ext cx="342351" cy="342351"/>
          </a:xfrm>
          <a:prstGeom prst="rect">
            <a:avLst/>
          </a:prstGeom>
        </p:spPr>
      </p:pic>
      <p:sp>
        <p:nvSpPr>
          <p:cNvPr id="8" name="Text 4"/>
          <p:cNvSpPr txBox="1"/>
          <p:nvPr/>
        </p:nvSpPr>
        <p:spPr>
          <a:xfrm>
            <a:off x="1463040" y="2386584"/>
            <a:ext cx="10149840" cy="749808"/>
          </a:xfrm>
          <a:prstGeom prst="rect">
            <a:avLst/>
          </a:prstGeom>
          <a:noFill/>
          <a:ln/>
        </p:spPr>
        <p:txBody>
          <a:bodyPr wrap="square" lIns="0" tIns="0" rIns="0" bIns="0" rtlCol="0" anchor="ctr"/>
          <a:lstStyle/>
          <a:p>
            <a:pPr indent="0" marL="0">
              <a:buNone/>
            </a:pPr>
            <a:r>
              <a:rPr lang="en-US" sz="1800" dirty="0">
                <a:solidFill>
                  <a:srgbClr val="FFFFFF"/>
                </a:solidFill>
              </a:rPr>
              <a:t>Bagian A: UCS, A*, DFS-B&amp;B optimal; BFS/IDS +54%, GBFS +52%. Heuristik h2: 19× lebih sedikit node.</a:t>
            </a:r>
            <a:endParaRPr lang="en-US" sz="1800" dirty="0"/>
          </a:p>
        </p:txBody>
      </p:sp>
      <p:sp>
        <p:nvSpPr>
          <p:cNvPr id="9" name="Shape 5"/>
          <p:cNvSpPr/>
          <p:nvPr/>
        </p:nvSpPr>
        <p:spPr>
          <a:xfrm>
            <a:off x="548640" y="3429000"/>
            <a:ext cx="658368" cy="658368"/>
          </a:xfrm>
          <a:prstGeom prst="ellipse">
            <a:avLst/>
          </a:prstGeom>
          <a:solidFill>
            <a:srgbClr val="2E6B55"/>
          </a:solidFill>
          <a:ln w="12700">
            <a:solidFill>
              <a:srgbClr val="2E6B55"/>
            </a:solidFill>
            <a:prstDash val="solid"/>
          </a:ln>
        </p:spPr>
      </p:sp>
      <p:pic>
        <p:nvPicPr>
          <p:cNvPr id="10" name="Image 2" descr="preencoded.png">    </p:cNvPr>
          <p:cNvPicPr>
            <a:picLocks noChangeAspect="1"/>
          </p:cNvPicPr>
          <p:nvPr/>
        </p:nvPicPr>
        <p:blipFill>
          <a:blip r:embed="rId3"/>
          <a:stretch>
            <a:fillRect/>
          </a:stretch>
        </p:blipFill>
        <p:spPr>
          <a:xfrm>
            <a:off x="706648" y="3587008"/>
            <a:ext cx="342351" cy="342351"/>
          </a:xfrm>
          <a:prstGeom prst="rect">
            <a:avLst/>
          </a:prstGeom>
        </p:spPr>
      </p:pic>
      <p:sp>
        <p:nvSpPr>
          <p:cNvPr id="11" name="Text 6"/>
          <p:cNvSpPr txBox="1"/>
          <p:nvPr/>
        </p:nvSpPr>
        <p:spPr>
          <a:xfrm>
            <a:off x="1463040" y="3392424"/>
            <a:ext cx="10149840" cy="749808"/>
          </a:xfrm>
          <a:prstGeom prst="rect">
            <a:avLst/>
          </a:prstGeom>
          <a:noFill/>
          <a:ln/>
        </p:spPr>
        <p:txBody>
          <a:bodyPr wrap="square" lIns="0" tIns="0" rIns="0" bIns="0" rtlCol="0" anchor="ctr"/>
          <a:lstStyle/>
          <a:p>
            <a:pPr indent="0" marL="0">
              <a:buNone/>
            </a:pPr>
            <a:r>
              <a:rPr lang="en-US" sz="1800" dirty="0">
                <a:solidFill>
                  <a:srgbClr val="FFFFFF"/>
                </a:solidFill>
              </a:rPr>
              <a:t>Bagian B: HC biasa terjebak; mekanisme keluar (RR-HC, EHC, SA, GA, random walk) yang menentukan. Terbaik: SA ≈ EHC ≈ RR-HC (tidak beda signifikan).</a:t>
            </a:r>
            <a:endParaRPr lang="en-US" sz="1800" dirty="0"/>
          </a:p>
        </p:txBody>
      </p:sp>
      <p:sp>
        <p:nvSpPr>
          <p:cNvPr id="12" name="Shape 7"/>
          <p:cNvSpPr/>
          <p:nvPr/>
        </p:nvSpPr>
        <p:spPr>
          <a:xfrm>
            <a:off x="548640" y="4434840"/>
            <a:ext cx="658368" cy="658368"/>
          </a:xfrm>
          <a:prstGeom prst="ellipse">
            <a:avLst/>
          </a:prstGeom>
          <a:solidFill>
            <a:srgbClr val="2E6B55"/>
          </a:solidFill>
          <a:ln w="12700">
            <a:solidFill>
              <a:srgbClr val="2E6B55"/>
            </a:solidFill>
            <a:prstDash val="solid"/>
          </a:ln>
        </p:spPr>
      </p:sp>
      <p:pic>
        <p:nvPicPr>
          <p:cNvPr id="13" name="Image 3" descr="preencoded.png">    </p:cNvPr>
          <p:cNvPicPr>
            <a:picLocks noChangeAspect="1"/>
          </p:cNvPicPr>
          <p:nvPr/>
        </p:nvPicPr>
        <p:blipFill>
          <a:blip r:embed="rId4"/>
          <a:stretch>
            <a:fillRect/>
          </a:stretch>
        </p:blipFill>
        <p:spPr>
          <a:xfrm>
            <a:off x="706648" y="4592848"/>
            <a:ext cx="342351" cy="342351"/>
          </a:xfrm>
          <a:prstGeom prst="rect">
            <a:avLst/>
          </a:prstGeom>
        </p:spPr>
      </p:pic>
      <p:sp>
        <p:nvSpPr>
          <p:cNvPr id="14" name="Text 8"/>
          <p:cNvSpPr txBox="1"/>
          <p:nvPr/>
        </p:nvSpPr>
        <p:spPr>
          <a:xfrm>
            <a:off x="1463040" y="4398264"/>
            <a:ext cx="10149840" cy="749808"/>
          </a:xfrm>
          <a:prstGeom prst="rect">
            <a:avLst/>
          </a:prstGeom>
          <a:noFill/>
          <a:ln/>
        </p:spPr>
        <p:txBody>
          <a:bodyPr wrap="square" lIns="0" tIns="0" rIns="0" bIns="0" rtlCol="0" anchor="ctr"/>
          <a:lstStyle/>
          <a:p>
            <a:pPr indent="0" marL="0">
              <a:buNone/>
            </a:pPr>
            <a:r>
              <a:rPr lang="en-US" sz="1800" dirty="0">
                <a:solidFill>
                  <a:srgbClr val="FFFFFF"/>
                </a:solidFill>
              </a:rPr>
              <a:t>Lebih baik dari metaheuristik terintegrasi; bensin −21% vs Greedy. Batas 3 jam tidak aktif.</a:t>
            </a:r>
            <a:endParaRPr lang="en-US" sz="1800" dirty="0"/>
          </a:p>
        </p:txBody>
      </p:sp>
      <p:sp>
        <p:nvSpPr>
          <p:cNvPr id="15" name="Shape 9"/>
          <p:cNvSpPr/>
          <p:nvPr/>
        </p:nvSpPr>
        <p:spPr>
          <a:xfrm>
            <a:off x="548640" y="5623560"/>
            <a:ext cx="548640" cy="548640"/>
          </a:xfrm>
          <a:prstGeom prst="ellipse">
            <a:avLst/>
          </a:prstGeom>
          <a:solidFill>
            <a:srgbClr val="FFFFFF"/>
          </a:solidFill>
          <a:ln w="12700">
            <a:solidFill>
              <a:srgbClr val="FFFFFF"/>
            </a:solidFill>
            <a:prstDash val="solid"/>
          </a:ln>
        </p:spPr>
      </p:sp>
      <p:pic>
        <p:nvPicPr>
          <p:cNvPr id="16" name="Image 4" descr="preencoded.png">    </p:cNvPr>
          <p:cNvPicPr>
            <a:picLocks noChangeAspect="1"/>
          </p:cNvPicPr>
          <p:nvPr/>
        </p:nvPicPr>
        <p:blipFill>
          <a:blip r:embed="rId5"/>
          <a:stretch>
            <a:fillRect/>
          </a:stretch>
        </p:blipFill>
        <p:spPr>
          <a:xfrm>
            <a:off x="680314" y="5755234"/>
            <a:ext cx="285293" cy="285293"/>
          </a:xfrm>
          <a:prstGeom prst="rect">
            <a:avLst/>
          </a:prstGeom>
        </p:spPr>
      </p:pic>
      <p:sp>
        <p:nvSpPr>
          <p:cNvPr id="17" name="Text 10">
            <a:hlinkClick r:id="rId6" tooltip=""/>
          </p:cNvPr>
          <p:cNvSpPr txBox="1"/>
          <p:nvPr/>
        </p:nvSpPr>
        <p:spPr>
          <a:xfrm>
            <a:off x="1280160" y="5641848"/>
            <a:ext cx="5486400" cy="502920"/>
          </a:xfrm>
          <a:prstGeom prst="rect">
            <a:avLst/>
          </a:prstGeom>
          <a:noFill/>
          <a:ln/>
        </p:spPr>
        <p:txBody>
          <a:bodyPr wrap="square" lIns="0" tIns="0" rIns="0" bIns="0" rtlCol="0" anchor="ctr"/>
          <a:lstStyle/>
          <a:p>
            <a:pPr indent="0" marL="0">
              <a:buNone/>
            </a:pPr>
            <a:r>
              <a:rPr lang="en-US" sz="1800" b="1" u="sng" dirty="0">
                <a:solidFill>
                  <a:srgbClr val="9FD3B9"/>
                </a:solidFill>
                <a:hlinkClick r:id="rId6" invalidUrl="" action="" tgtFrame="" tooltip="" history="1" highlightClick="0" endSnd="0">
                  <a:extLst>
                    <a:ext uri="{A12FA001-AC4F-418D-AE19-62706E023703}">
                      <ahyp:hlinkClr xmlns:ahyp="http://schemas.microsoft.com/office/drawing/2018/hyperlinkcolor" val="tx"/>
                    </a:ext>
                  </a:extLst>
                </a:hlinkClick>
              </a:rPr>
              <a:t>github.com/Mitschess/kka-2026</a:t>
            </a:r>
            <a:endParaRPr lang="en-US" sz="1800" dirty="0"/>
          </a:p>
        </p:txBody>
      </p:sp>
      <p:sp>
        <p:nvSpPr>
          <p:cNvPr id="18" name="Text 11"/>
          <p:cNvSpPr txBox="1"/>
          <p:nvPr/>
        </p:nvSpPr>
        <p:spPr>
          <a:xfrm>
            <a:off x="6858000" y="5641848"/>
            <a:ext cx="4782312" cy="502920"/>
          </a:xfrm>
          <a:prstGeom prst="rect">
            <a:avLst/>
          </a:prstGeom>
          <a:noFill/>
          <a:ln/>
        </p:spPr>
        <p:txBody>
          <a:bodyPr wrap="square" lIns="0" tIns="0" rIns="0" bIns="0" rtlCol="0" anchor="ctr"/>
          <a:lstStyle/>
          <a:p>
            <a:pPr algn="r" indent="0" marL="0">
              <a:buNone/>
            </a:pPr>
            <a:r>
              <a:rPr lang="en-US" sz="1800" dirty="0">
                <a:solidFill>
                  <a:srgbClr val="D7E7DF"/>
                </a:solidFill>
              </a:rPr>
              <a:t>Terima kasih · Pertanyaan?</a:t>
            </a:r>
            <a:endParaRPr lang="en-US" sz="1800" dirty="0"/>
          </a:p>
        </p:txBody>
      </p:sp>
      <p:sp>
        <p:nvSpPr>
          <p:cNvPr id="20" name="Text 0"/>
          <p:cNvSpPr/>
          <p:nvPr>
            <p:ph idx="100" type="title" hasCustomPrompt="1"/>
          </p:nvPr>
        </p:nvSpPr>
        <p:spPr>
          <a:xfrm>
            <a:off x="548640" y="1691640"/>
            <a:ext cx="6309360" cy="2103120"/>
          </a:xfrm>
          <a:prstGeom prst="rect">
            <a:avLst/>
          </a:prstGeom>
          <a:noFill/>
          <a:ln/>
        </p:spPr>
        <p:txBody>
          <a:bodyPr wrap="square" lIns="0" tIns="0" rIns="0" bIns="0" rtlCol="0" anchor="t"/>
          <a:lstStyle/>
          <a:p>
            <a:pPr algn="l" indent="0" marL="0">
              <a:buNone/>
            </a:pPr>
            <a:endParaRPr lang="en-US" sz="3800" dirty="0"/>
          </a:p>
        </p:txBody>
      </p:sp>
    </p:spTree>
  </p:cSld>
  <p:clrMapOvr>
    <a:masterClrMapping/>
  </p:clrMapOvr>
</p:sld>
</file>

<file path=ppt/theme/theme1.xml><?xml version="1.0" encoding="utf-8"?>
<a:theme xmlns:a="http://schemas.openxmlformats.org/drawingml/2006/main" name="MBG Surabaya">
  <a:themeElements>
    <a:clrScheme name="MBG Surabaya">
      <a:dk1>
        <a:srgbClr val="1B1B1B"/>
      </a:dk1>
      <a:lt1>
        <a:srgbClr val="FFFFFF"/>
      </a:lt1>
      <a:dk2>
        <a:srgbClr val="16382C"/>
      </a:dk2>
      <a:lt2>
        <a:srgbClr val="EEF4F0"/>
      </a:lt2>
      <a:accent1>
        <a:srgbClr val="1F5C46"/>
      </a:accent1>
      <a:accent2>
        <a:srgbClr val="E07A2E"/>
      </a:accent2>
      <a:accent3>
        <a:srgbClr val="2A78D6"/>
      </a:accent3>
      <a:accent4>
        <a:srgbClr val="1BAF7A"/>
      </a:accent4>
      <a:accent5>
        <a:srgbClr val="E87BA4"/>
      </a:accent5>
      <a:accent6>
        <a:srgbClr val="4A3AA7"/>
      </a:accent6>
      <a:hlink>
        <a:srgbClr val="1F5C46"/>
      </a:hlink>
      <a:folHlink>
        <a:srgbClr val="4A3AA7"/>
      </a:folHlink>
    </a:clrScheme>
    <a:fontScheme name="MBG Surabay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Optimasi Rute Distribusi MBG di Surabaya</dc:title>
  <dc:subject>Final Project Konsep Kecerdasan Artifisial</dc:subject>
  <dc:creator>Tim ETS KKA</dc:creator>
  <cp:lastModifiedBy>Tim ETS KKA</cp:lastModifiedBy>
  <cp:revision>1</cp:revision>
  <dcterms:created xsi:type="dcterms:W3CDTF">2026-10-20T06:38:56Z</dcterms:created>
  <dcterms:modified xsi:type="dcterms:W3CDTF">2026-10-20T06:38:56Z</dcterms:modified>
</cp:coreProperties>
</file>
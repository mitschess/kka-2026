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97fa2a6-c095-76bb-8a97-9b460f79b0fd}">
          <p14:sldIdLst>
            <p14:sldId id="256"/>
          </p14:sldIdLst>
        </p14:section>
        <p14:section name="Masalah" id="{6fefa4a2-cd82-143c-64ca-1df22d1b0186}">
          <p14:sldIdLst>
            <p14:sldId id="257"/>
            <p14:sldId id="258"/>
            <p14:sldId id="259"/>
          </p14:sldIdLst>
        </p14:section>
        <p14:section name="Metode" id="{037f9823-5b14-54f8-cecf-980c73e8e09c}">
          <p14:sldIdLst>
            <p14:sldId id="260"/>
            <p14:sldId id="261"/>
          </p14:sldIdLst>
        </p14:section>
        <p14:section name="Hasil" id="{fbf9eb25-2510-90a9-1976-591164268d55}">
          <p14:sldIdLst>
            <p14:sldId id="262"/>
            <p14:sldId id="263"/>
            <p14:sldId id="264"/>
          </p14:sldIdLst>
        </p14:section>
        <p14:section name="Penutup" id="{875aab2a-1eff-30bf-0a1a-8030d5e1c47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B1B"/>
                </a:solidFill>
                <a:latin typeface="+mn-lt"/>
              </a:defRPr>
            </a:pPr>
            <a:r>
              <a:rPr sz="1400" b="0" i="0" u="none" strike="noStrike">
                <a:solidFill>
                  <a:srgbClr val="1B1B1B"/>
                </a:solidFill>
                <a:latin typeface="+mn-lt"/>
              </a:rPr>
              <a:t>Lebih mahal dari optimum</a:t>
            </a:r>
          </a:p>
        </c:rich>
      </c:tx>
      <c:layout/>
      <c:overlay val="0"/>
    </c:title>
    <c:autoTitleDeleted val="0"/>
    <c:plotArea>
      <c:layout/>
      <c:barChart>
        <c:barDir val="bar"/>
        <c:grouping val="clustered"/>
        <c:varyColors val="0"/>
        <c:ser>
          <c:idx val="0"/>
          <c:order val="0"/>
          <c:tx>
            <c:strRef>
              <c:f>Sheet1!$B$1</c:f>
              <c:strCache>
                <c:ptCount val="1"/>
                <c:pt idx="0">
                  <c:v>Selisih dari optimum (%)</c:v>
                </c:pt>
              </c:strCache>
            </c:strRef>
          </c:tx>
          <c:spPr>
            <a:solidFill>
              <a:srgbClr val="EDA100"/>
            </a:solidFill>
            <a:effectLst/>
          </c:spPr>
          <c:invertIfNegative val="0"/>
          <c:dLbls>
            <c:numFmt formatCode="0.0&quot;%&quot;" sourceLinked="0"/>
            <c:txPr>
              <a:bodyPr/>
              <a:lstStyle/>
              <a:p>
                <a:pPr>
                  <a:defRPr b="0" i="0" strike="noStrike" sz="1100" u="none">
                    <a:solidFill>
                      <a:srgbClr val="3A3A3A"/>
                    </a:solidFill>
                    <a:latin typeface="+mn-lt"/>
                  </a:defRPr>
                </a:pPr>
              </a:p>
            </c:txPr>
            <c:showLegendKey val="0"/>
            <c:showVal val="1"/>
            <c:showCatName val="0"/>
            <c:showSerName val="0"/>
            <c:showPercent val="0"/>
            <c:showBubbleSize val="0"/>
            <c:showLeaderLines val="0"/>
          </c:dLbls>
          <c:dPt>
            <c:idx val="0"/>
            <c:invertIfNegative val="0"/>
            <c:bubble3D val="0"/>
            <c:spPr>
              <a:solidFill>
                <a:srgbClr val="EDA100"/>
              </a:solidFill>
              <a:effectLst/>
            </c:spPr>
          </c:dPt>
          <c:dPt>
            <c:idx val="1"/>
            <c:invertIfNegative val="0"/>
            <c:bubble3D val="0"/>
            <c:spPr>
              <a:solidFill>
                <a:srgbClr val="E87BA4"/>
              </a:solidFill>
              <a:effectLst/>
            </c:spPr>
          </c:dPt>
          <c:dPt>
            <c:idx val="2"/>
            <c:invertIfNegative val="0"/>
            <c:bubble3D val="0"/>
            <c:spPr>
              <a:solidFill>
                <a:srgbClr val="008300"/>
              </a:solidFill>
              <a:effectLst/>
            </c:spPr>
          </c:dPt>
          <c:dPt>
            <c:idx val="3"/>
            <c:invertIfNegative val="0"/>
            <c:bubble3D val="0"/>
            <c:spPr>
              <a:solidFill>
                <a:srgbClr val="1BAF7A"/>
              </a:solidFill>
              <a:effectLst/>
            </c:spPr>
          </c:dPt>
          <c:dPt>
            <c:idx val="4"/>
            <c:invertIfNegative val="0"/>
            <c:bubble3D val="0"/>
            <c:spPr>
              <a:solidFill>
                <a:srgbClr val="2A78D6"/>
              </a:solidFill>
              <a:effectLst/>
            </c:spPr>
          </c:dPt>
          <c:dPt>
            <c:idx val="5"/>
            <c:invertIfNegative val="0"/>
            <c:bubble3D val="0"/>
            <c:spPr>
              <a:solidFill>
                <a:srgbClr val="6250D6"/>
              </a:solidFill>
              <a:effectLst/>
            </c:spPr>
          </c:dPt>
          <c:cat>
            <c:multiLvlStrRef>
              <c:f>Sheet1!$A$2:$A$7</c:f>
              <c:multiLvlStrCache>
                <c:ptCount val="6"/>
                <c:lvl>
                  <c:pt idx="0">
                    <c:v>UCS</c:v>
                  </c:pt>
                  <c:pt idx="1">
                    <c:v>A* (h1)</c:v>
                  </c:pt>
                  <c:pt idx="2">
                    <c:v>A* (h2)</c:v>
                  </c:pt>
                  <c:pt idx="3">
                    <c:v>DFS-B&amp;B</c:v>
                  </c:pt>
                  <c:pt idx="4">
                    <c:v>BFS</c:v>
                  </c:pt>
                  <c:pt idx="5">
                    <c:v>GBFS</c:v>
                  </c:pt>
                </c:lvl>
              </c:multiLvlStrCache>
            </c:multiLvlStrRef>
          </c:cat>
          <c:val>
            <c:numRef>
              <c:f>Sheet1!$B$2:$B$7</c:f>
              <c:numCache>
                <c:formatCode>General</c:formatCode>
                <c:ptCount val="6"/>
                <c:pt idx="0">
                  <c:v>0</c:v>
                </c:pt>
                <c:pt idx="1">
                  <c:v>0</c:v>
                </c:pt>
                <c:pt idx="2">
                  <c:v>0</c:v>
                </c:pt>
                <c:pt idx="3">
                  <c:v>0</c:v>
                </c:pt>
                <c:pt idx="4">
                  <c:v>65.8</c:v>
                </c:pt>
                <c:pt idx="5">
                  <c:v>73.4</c:v>
                </c:pt>
              </c:numCache>
            </c:numRef>
          </c:val>
        </c:ser>
        <c:dLbls>
          <c:numFmt formatCode="0.0&quot;%&quot;" sourceLinked="0"/>
          <c:txPr>
            <a:bodyPr/>
            <a:lstStyle/>
            <a:p>
              <a:pPr>
                <a:defRPr b="0" i="0" strike="noStrike" sz="1100" u="none">
                  <a:solidFill>
                    <a:srgbClr val="3A3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E6B65"/>
                </a:solidFill>
                <a:latin typeface="+mn-lt"/>
              </a:defRPr>
            </a:pPr>
            <a:endParaRPr lang="en-US"/>
          </a:p>
        </c:txPr>
        <c:crossAx val="2094734552"/>
        <c:crosses val="autoZero"/>
        <c:auto val="1"/>
        <c:lblAlgn val="ctr"/>
        <c:noMultiLvlLbl val="1"/>
      </c:catAx>
      <c:valAx>
        <c:axId val="2094734552"/>
        <c:scaling>
          <c:orientation val="minMax"/>
          <c:min val="0"/>
        </c:scaling>
        <c:delete val="1"/>
        <c:axPos val="b"/>
        <c:majorGridlines>
          <c:spPr>
            <a:ln w="9525" cap="flat">
              <a:solidFill>
                <a:srgbClr val="E2E6E3"/>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E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(±30 detik). Kami mengoptimasi rute Granmax yang mengantar Makan Bergizi Gratis dari dapur SPPG ke sekolah di Surabaya. Setiap sekolah dilayani SPPG terdekat, lalu rute di dalam tiap SPPG kami cari dengan tujuh algoritma pencarian dari Kuliah 2–3 dan kami bandingkan.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Konteks (±45 detik). Program MBG berjalan sejak Januari 2025. Di Surabaya ada 133 SPPG; satu SPPG bisa melayani ribuan porsi. Ada dua kepentingan yang bertentangan: biaya bensin dan keamanan pangan (waktu tunggu makanan).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Formulasi (±1 menit). Depot = SPPG, pelanggan = sekolah. Objektif kedua rata-rata waktu tiba, bukan total waktu tempuh, karena tanpa macet total waktu sebanding dengan jarak. Kedua objektif digabung jadi satu biaya F dengan bobot w; F ini bisa dipecah menjadi jumlah biaya per ruas perjalanan, sehingga bisa dipakai langsung sebagai biaya jalur di algoritma pencarian.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(±45 detik). Sekolah dari OpenStreetMap, SPPG dari pemberitaan lalu di-geocode (koordinat perkiraan). Setiap SPPG mengambil sekolah acak dalam radius 3 km. Matriks jarak dan waktu dari OSRM mengikuti jalan sebenarnya.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Pendekatan (±1 menit). Kami menyederhanakan pembagian sekolah: tiap sekolah dilayani SPPG terdekat. Setelah itu tiap SPPG hanya mengurus beberapa sekolah, sehingga rutenya bisa dicari sistematis dengan algoritma pencarian. Fokus perbandingan ada di tujuh algoritma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Ruang keadaan (±1 menit). Keadaan, aksi, goal, dan biaya langkah mengikuti format pencarian di kuliah. Biaya langkah adalah kontribusi ruas itu ke fitness, jadi biaya jalur = biaya SPPG. Kami membandingkan enam algoritma (A* dengan dua heuristik, jadi tujuh konfigurasi). Untuk A* kami merancang dua heuristik admissible. h1 sederhana: jalan masuk termurah ke tiap sekolah. h2 memperhitungkan bahwa setiap Granmax hanya punya satu urutan pertama, jadi tidak semua sekolah bisa dianggap tiba langsung dari SPPG.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(±1,5 menit). Grafik kiri: node yang diekspansi dan memori terhadap jumlah sekolah, skala log. Pada sub-masalah nyata, UCS dan A* selalu optimal; DFS-B&amp;B optimal selama tidak kena batas node. BFS dan IDS memilih Granmax paling sedikit sehingga sekolah kedua dan ketiga menunggu lama: rata-rata 65,8% lebih mahal. GBFS mengabaikan biaya yang sudah dikeluarkan sehingga mengunjungi sekolah jauh lebih dulu. A* dengan h2 mengekspansi 9 kali lebih sedikit node daripada UCS, sedangkan h1 hanya 1,0 kali. IDS hanya selesai sampai k = 9; DFS-B&amp;B hanya selesai sampai k = 9 sebelum batas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(±45 detik). Kolom optimal menghitung sub-masalah yang selesai dengan biaya sama dengan UCS. Pencarian yang kena batas node tidak dihitung 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Rute (±45 detik). Rute optimal (A*) di setiap SPPG. Warna menunjukkan SPPG asal, angka urutan kunjungan, garis mengikuti jalan asli. Bila waktu memungkinkan, buka peta interaktif.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(±45 detik). Tutup dengan empat temuan, sebutkan repositori GitHub, lalu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38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91640"/>
            <a:ext cx="6309360" cy="21031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rgbClr val="5E6B65"/>
                </a:solidFill>
              </a:rPr>
              <a:t>Rute MBG Surabaya · ETS Konsep Kecerdasan Artifisial</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6" Type="http://schemas.openxmlformats.org/officeDocument/2006/relationships/hyperlink" Target="https://github.com/Mitschess/kka-2026"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roxasz/project/kka-2026/report/figs/fig_cover_surabaya_6sppg.png">    </p:cNvPr>
          <p:cNvPicPr>
            <a:picLocks noChangeAspect="1"/>
          </p:cNvPicPr>
          <p:nvPr/>
        </p:nvPicPr>
        <p:blipFill>
          <a:blip r:embed="rId1"/>
          <a:srcRect l="0" r="0" t="0" b="0"/>
          <a:stretch/>
        </p:blipFill>
        <p:spPr>
          <a:xfrm>
            <a:off x="7223760" y="0"/>
            <a:ext cx="4967935" cy="6858000"/>
          </a:xfrm>
          <a:prstGeom prst="rect">
            <a:avLst/>
          </a:prstGeom>
        </p:spPr>
      </p:pic>
      <p:sp>
        <p:nvSpPr>
          <p:cNvPr id="3" name="Text 0"/>
          <p:cNvSpPr txBox="1"/>
          <p:nvPr/>
        </p:nvSpPr>
        <p:spPr>
          <a:xfrm>
            <a:off x="548640" y="1097280"/>
            <a:ext cx="6400800" cy="365760"/>
          </a:xfrm>
          <a:prstGeom prst="rect">
            <a:avLst/>
          </a:prstGeom>
          <a:noFill/>
          <a:ln/>
        </p:spPr>
        <p:txBody>
          <a:bodyPr wrap="square" lIns="0" tIns="0" rIns="0" bIns="0" rtlCol="0" anchor="t"/>
          <a:lstStyle/>
          <a:p>
            <a:pPr indent="0" marL="0">
              <a:buNone/>
            </a:pPr>
            <a:r>
              <a:rPr lang="en-US" sz="1300" b="1" spc="200" kern="0" dirty="0">
                <a:solidFill>
                  <a:srgbClr val="9FD3B9"/>
                </a:solidFill>
              </a:rPr>
              <a:t>MIDTERM PROJECT · KONSEP KECERDASAN ARTIFISIAL</a:t>
            </a:r>
            <a:endParaRPr lang="en-US" sz="1300" dirty="0"/>
          </a:p>
        </p:txBody>
      </p:sp>
      <p:sp>
        <p:nvSpPr>
          <p:cNvPr id="4" name="Text 0"/>
          <p:cNvSpPr/>
          <p:nvPr>
            <p:ph idx="100" type="title" hasCustomPrompt="1"/>
          </p:nvPr>
        </p:nvSpPr>
        <p:spPr>
          <a:xfrm>
            <a:off x="548640" y="1691640"/>
            <a:ext cx="6309360" cy="2103120"/>
          </a:xfrm>
          <a:prstGeom prst="rect">
            <a:avLst/>
          </a:prstGeom>
          <a:noFill/>
          <a:ln/>
        </p:spPr>
        <p:txBody>
          <a:bodyPr wrap="square" lIns="0" tIns="0" rIns="0" bIns="0" rtlCol="0" anchor="t"/>
          <a:lstStyle/>
          <a:p>
            <a:pPr algn="l" indent="0" marL="0">
              <a:buNone/>
            </a:pPr>
            <a:r>
              <a:rPr lang="en-US" sz="3800" b="1" dirty="0">
                <a:solidFill>
                  <a:schemeClr val="bg1"/>
                </a:solidFill>
              </a:rPr>
              <a:t>Optimasi Rute Distribusi Makan Bergizi Gratis di Surabaya</a:t>
            </a:r>
            <a:endParaRPr lang="en-US" sz="3800" dirty="0"/>
          </a:p>
        </p:txBody>
      </p:sp>
      <p:sp>
        <p:nvSpPr>
          <p:cNvPr id="5" name="Text 2"/>
          <p:cNvSpPr txBox="1"/>
          <p:nvPr/>
        </p:nvSpPr>
        <p:spPr>
          <a:xfrm>
            <a:off x="548640" y="3977640"/>
            <a:ext cx="6400800" cy="822960"/>
          </a:xfrm>
          <a:prstGeom prst="rect">
            <a:avLst/>
          </a:prstGeom>
          <a:noFill/>
          <a:ln/>
        </p:spPr>
        <p:txBody>
          <a:bodyPr wrap="square" lIns="0" tIns="0" rIns="0" bIns="0" rtlCol="0" anchor="t"/>
          <a:lstStyle/>
          <a:p>
            <a:pPr indent="0" marL="0">
              <a:buNone/>
            </a:pPr>
            <a:r>
              <a:rPr lang="en-US" sz="1700" dirty="0">
                <a:solidFill>
                  <a:srgbClr val="D7E7DF"/>
                </a:solidFill>
              </a:rPr>
              <a:t>Perbandingan algoritma pencarian: BFS, IDS, DFS-B&amp;B, UCS, A*, Greedy Best-First</a:t>
            </a:r>
            <a:endParaRPr lang="en-US" sz="1700" dirty="0"/>
          </a:p>
        </p:txBody>
      </p:sp>
      <p:sp>
        <p:nvSpPr>
          <p:cNvPr id="6" name="Text 3"/>
          <p:cNvSpPr txBox="1"/>
          <p:nvPr/>
        </p:nvSpPr>
        <p:spPr>
          <a:xfrm>
            <a:off x="548640" y="5394960"/>
            <a:ext cx="6400800" cy="365760"/>
          </a:xfrm>
          <a:prstGeom prst="rect">
            <a:avLst/>
          </a:prstGeom>
          <a:noFill/>
          <a:ln/>
        </p:spPr>
        <p:txBody>
          <a:bodyPr wrap="square" lIns="0" tIns="0" rIns="0" bIns="0" rtlCol="0" anchor="t"/>
          <a:lstStyle/>
          <a:p>
            <a:pPr indent="0" marL="0">
              <a:buNone/>
            </a:pPr>
            <a:r>
              <a:rPr lang="en-US" sz="1400" dirty="0">
                <a:solidFill>
                  <a:srgbClr val="FFFFFF"/>
                </a:solidFill>
              </a:rPr>
              <a:t>[Nama Anggota 1] · [Nama Anggota 2] · [Nama Anggota 3]</a:t>
            </a:r>
            <a:endParaRPr lang="en-US" sz="1400" dirty="0"/>
          </a:p>
        </p:txBody>
      </p:sp>
      <p:sp>
        <p:nvSpPr>
          <p:cNvPr id="7" name="Text 4"/>
          <p:cNvSpPr txBox="1"/>
          <p:nvPr/>
        </p:nvSpPr>
        <p:spPr>
          <a:xfrm>
            <a:off x="548640" y="5806440"/>
            <a:ext cx="6400800" cy="320040"/>
          </a:xfrm>
          <a:prstGeom prst="rect">
            <a:avLst/>
          </a:prstGeom>
          <a:noFill/>
          <a:ln/>
        </p:spPr>
        <p:txBody>
          <a:bodyPr wrap="square" lIns="0" tIns="0" rIns="0" bIns="0" rtlCol="0" anchor="t"/>
          <a:lstStyle/>
          <a:p>
            <a:pPr indent="0" marL="0">
              <a:buNone/>
            </a:pPr>
            <a:r>
              <a:rPr lang="en-US" sz="1200" dirty="0">
                <a:solidFill>
                  <a:srgbClr val="9FB5AA"/>
                </a:solidFill>
              </a:rPr>
              <a:t>Oktober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Hemat bensin atau makanan cepat sampai?</a:t>
            </a:r>
            <a:endParaRPr lang="en-US" sz="3200" dirty="0"/>
          </a:p>
        </p:txBody>
      </p:sp>
      <p:sp>
        <p:nvSpPr>
          <p:cNvPr id="3" name="Text 1"/>
          <p:cNvSpPr txBox="1"/>
          <p:nvPr/>
        </p:nvSpPr>
        <p:spPr>
          <a:xfrm>
            <a:off x="548640" y="1463040"/>
            <a:ext cx="5669280" cy="42062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Setiap hari, dapur SPPG mengantar makanan matang ke banyak sekolah dengan Granmax.</a:t>
            </a:r>
            <a:endParaRPr lang="en-US" sz="1800" dirty="0"/>
          </a:p>
          <a:p>
            <a:pPr marL="228600" indent="-228600">
              <a:spcAft>
                <a:spcPts val="800"/>
              </a:spcAft>
              <a:buSzPct val="100000"/>
              <a:buChar char="•"/>
            </a:pPr>
            <a:r>
              <a:rPr lang="en-US" sz="1800" dirty="0">
                <a:solidFill>
                  <a:schemeClr val="tx1"/>
                </a:solidFill>
              </a:rPr>
              <a:t>Menggabungkan sekolah dalam satu perjalanan menghemat bensin, tetapi sekolah terakhir menunggu lebih lama.</a:t>
            </a:r>
            <a:endParaRPr lang="en-US" sz="1800" dirty="0"/>
          </a:p>
          <a:p>
            <a:pPr marL="228600" indent="-228600">
              <a:spcAft>
                <a:spcPts val="800"/>
              </a:spcAft>
              <a:buSzPct val="100000"/>
              <a:buChar char="•"/>
            </a:pPr>
            <a:r>
              <a:rPr lang="en-US" sz="1800" dirty="0">
                <a:solidFill>
                  <a:schemeClr val="tx1"/>
                </a:solidFill>
              </a:rPr>
              <a:t>Mengantar langsung ke tiap sekolah mempercepat waktu tiba, tetapi boros bensin.</a:t>
            </a:r>
            <a:endParaRPr lang="en-US" sz="1800" dirty="0"/>
          </a:p>
          <a:p>
            <a:pPr marL="228600" indent="-228600">
              <a:spcAft>
                <a:spcPts val="800"/>
              </a:spcAft>
              <a:buSzPct val="100000"/>
              <a:buChar char="•"/>
            </a:pPr>
            <a:r>
              <a:rPr lang="en-US" sz="1800" dirty="0">
                <a:solidFill>
                  <a:schemeClr val="tx1"/>
                </a:solidFill>
              </a:rPr>
              <a:t>Pertanyaan: rute seperti apa yang terbaik, dan algoritma AI mana yang paling andal menemukannya?</a:t>
            </a:r>
            <a:endParaRPr lang="en-US" sz="1800" dirty="0"/>
          </a:p>
        </p:txBody>
      </p:sp>
      <p:sp>
        <p:nvSpPr>
          <p:cNvPr id="4" name="Shape 2"/>
          <p:cNvSpPr/>
          <p:nvPr/>
        </p:nvSpPr>
        <p:spPr>
          <a:xfrm>
            <a:off x="6766560" y="1417320"/>
            <a:ext cx="4873752" cy="1371600"/>
          </a:xfrm>
          <a:prstGeom prst="roundRect">
            <a:avLst>
              <a:gd name="adj" fmla="val 8000"/>
            </a:avLst>
          </a:prstGeom>
          <a:solidFill>
            <a:srgbClr val="EEF4F0"/>
          </a:solidFill>
          <a:ln w="12700">
            <a:solidFill>
              <a:srgbClr val="EEF4F0"/>
            </a:solidFill>
            <a:prstDash val="solid"/>
          </a:ln>
        </p:spPr>
      </p:sp>
      <p:sp>
        <p:nvSpPr>
          <p:cNvPr id="5" name="Shape 3"/>
          <p:cNvSpPr/>
          <p:nvPr/>
        </p:nvSpPr>
        <p:spPr>
          <a:xfrm>
            <a:off x="6995160" y="1691640"/>
            <a:ext cx="822960" cy="822960"/>
          </a:xfrm>
          <a:prstGeom prst="ellipse">
            <a:avLst/>
          </a:prstGeom>
          <a:solidFill>
            <a:srgbClr val="1F5C46"/>
          </a:solidFill>
          <a:ln w="12700">
            <a:solidFill>
              <a:srgbClr val="1F5C46"/>
            </a:solidFill>
            <a:prstDash val="solid"/>
          </a:ln>
        </p:spPr>
      </p:sp>
      <p:pic>
        <p:nvPicPr>
          <p:cNvPr id="6" name="Image 0" descr="preencoded.png">    </p:cNvPr>
          <p:cNvPicPr>
            <a:picLocks noChangeAspect="1"/>
          </p:cNvPicPr>
          <p:nvPr/>
        </p:nvPicPr>
        <p:blipFill>
          <a:blip r:embed="rId1"/>
          <a:stretch>
            <a:fillRect/>
          </a:stretch>
        </p:blipFill>
        <p:spPr>
          <a:xfrm>
            <a:off x="7192670" y="1889150"/>
            <a:ext cx="427939" cy="427939"/>
          </a:xfrm>
          <a:prstGeom prst="rect">
            <a:avLst/>
          </a:prstGeom>
        </p:spPr>
      </p:pic>
      <p:sp>
        <p:nvSpPr>
          <p:cNvPr id="7" name="Text 4"/>
          <p:cNvSpPr txBox="1"/>
          <p:nvPr/>
        </p:nvSpPr>
        <p:spPr>
          <a:xfrm>
            <a:off x="8046720" y="1581912"/>
            <a:ext cx="347472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133</a:t>
            </a:r>
            <a:endParaRPr lang="en-US" sz="3000" dirty="0"/>
          </a:p>
        </p:txBody>
      </p:sp>
      <p:sp>
        <p:nvSpPr>
          <p:cNvPr id="8" name="Text 5"/>
          <p:cNvSpPr txBox="1"/>
          <p:nvPr/>
        </p:nvSpPr>
        <p:spPr>
          <a:xfrm>
            <a:off x="8046720" y="2167128"/>
            <a:ext cx="3474720" cy="548640"/>
          </a:xfrm>
          <a:prstGeom prst="rect">
            <a:avLst/>
          </a:prstGeom>
          <a:noFill/>
          <a:ln/>
        </p:spPr>
        <p:txBody>
          <a:bodyPr wrap="square" lIns="0" tIns="0" rIns="0" bIns="0" rtlCol="0" anchor="t"/>
          <a:lstStyle/>
          <a:p>
            <a:pPr indent="0" marL="0">
              <a:buNone/>
            </a:pPr>
            <a:r>
              <a:rPr lang="en-US" sz="1300" dirty="0">
                <a:solidFill>
                  <a:srgbClr val="5E6B65"/>
                </a:solidFill>
              </a:rPr>
              <a:t>SPPG di Kota Surabaya (Mei 2026)</a:t>
            </a:r>
            <a:endParaRPr lang="en-US" sz="1300" dirty="0"/>
          </a:p>
        </p:txBody>
      </p:sp>
      <p:sp>
        <p:nvSpPr>
          <p:cNvPr id="9" name="Shape 6"/>
          <p:cNvSpPr/>
          <p:nvPr/>
        </p:nvSpPr>
        <p:spPr>
          <a:xfrm>
            <a:off x="6766560" y="3017520"/>
            <a:ext cx="4873752" cy="1371600"/>
          </a:xfrm>
          <a:prstGeom prst="roundRect">
            <a:avLst>
              <a:gd name="adj" fmla="val 8000"/>
            </a:avLst>
          </a:prstGeom>
          <a:solidFill>
            <a:srgbClr val="EEF4F0"/>
          </a:solidFill>
          <a:ln w="12700">
            <a:solidFill>
              <a:srgbClr val="EEF4F0"/>
            </a:solidFill>
            <a:prstDash val="solid"/>
          </a:ln>
        </p:spPr>
      </p:sp>
      <p:sp>
        <p:nvSpPr>
          <p:cNvPr id="10" name="Shape 7"/>
          <p:cNvSpPr/>
          <p:nvPr/>
        </p:nvSpPr>
        <p:spPr>
          <a:xfrm>
            <a:off x="6995160" y="3291840"/>
            <a:ext cx="822960" cy="822960"/>
          </a:xfrm>
          <a:prstGeom prst="ellipse">
            <a:avLst/>
          </a:prstGeom>
          <a:solidFill>
            <a:srgbClr val="1F5C46"/>
          </a:solidFill>
          <a:ln w="12700">
            <a:solidFill>
              <a:srgbClr val="1F5C46"/>
            </a:solidFill>
            <a:prstDash val="solid"/>
          </a:ln>
        </p:spPr>
      </p:sp>
      <p:pic>
        <p:nvPicPr>
          <p:cNvPr id="11" name="Image 1" descr="preencoded.png">    </p:cNvPr>
          <p:cNvPicPr>
            <a:picLocks noChangeAspect="1"/>
          </p:cNvPicPr>
          <p:nvPr/>
        </p:nvPicPr>
        <p:blipFill>
          <a:blip r:embed="rId2"/>
          <a:stretch>
            <a:fillRect/>
          </a:stretch>
        </p:blipFill>
        <p:spPr>
          <a:xfrm>
            <a:off x="7192670" y="3489350"/>
            <a:ext cx="427939" cy="427939"/>
          </a:xfrm>
          <a:prstGeom prst="rect">
            <a:avLst/>
          </a:prstGeom>
        </p:spPr>
      </p:pic>
      <p:sp>
        <p:nvSpPr>
          <p:cNvPr id="12" name="Text 8"/>
          <p:cNvSpPr txBox="1"/>
          <p:nvPr/>
        </p:nvSpPr>
        <p:spPr>
          <a:xfrm>
            <a:off x="8046720" y="3182112"/>
            <a:ext cx="347472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3.119</a:t>
            </a:r>
            <a:endParaRPr lang="en-US" sz="3000" dirty="0"/>
          </a:p>
        </p:txBody>
      </p:sp>
      <p:sp>
        <p:nvSpPr>
          <p:cNvPr id="13" name="Text 9"/>
          <p:cNvSpPr txBox="1"/>
          <p:nvPr/>
        </p:nvSpPr>
        <p:spPr>
          <a:xfrm>
            <a:off x="8046720" y="3767328"/>
            <a:ext cx="3474720" cy="548640"/>
          </a:xfrm>
          <a:prstGeom prst="rect">
            <a:avLst/>
          </a:prstGeom>
          <a:noFill/>
          <a:ln/>
        </p:spPr>
        <p:txBody>
          <a:bodyPr wrap="square" lIns="0" tIns="0" rIns="0" bIns="0" rtlCol="0" anchor="t"/>
          <a:lstStyle/>
          <a:p>
            <a:pPr indent="0" marL="0">
              <a:buNone/>
            </a:pPr>
            <a:r>
              <a:rPr lang="en-US" sz="1300" dirty="0">
                <a:solidFill>
                  <a:srgbClr val="5E6B65"/>
                </a:solidFill>
              </a:rPr>
              <a:t>porsi ke 16 sekolah dari satu SPPG (Krembangan)</a:t>
            </a:r>
            <a:endParaRPr lang="en-US" sz="1300" dirty="0"/>
          </a:p>
        </p:txBody>
      </p:sp>
      <p:sp>
        <p:nvSpPr>
          <p:cNvPr id="14" name="Shape 10"/>
          <p:cNvSpPr/>
          <p:nvPr/>
        </p:nvSpPr>
        <p:spPr>
          <a:xfrm>
            <a:off x="6766560" y="4617720"/>
            <a:ext cx="4873752" cy="1371600"/>
          </a:xfrm>
          <a:prstGeom prst="roundRect">
            <a:avLst>
              <a:gd name="adj" fmla="val 8000"/>
            </a:avLst>
          </a:prstGeom>
          <a:solidFill>
            <a:srgbClr val="EEF4F0"/>
          </a:solidFill>
          <a:ln w="12700">
            <a:solidFill>
              <a:srgbClr val="EEF4F0"/>
            </a:solidFill>
            <a:prstDash val="solid"/>
          </a:ln>
        </p:spPr>
      </p:sp>
      <p:sp>
        <p:nvSpPr>
          <p:cNvPr id="15" name="Shape 11"/>
          <p:cNvSpPr/>
          <p:nvPr/>
        </p:nvSpPr>
        <p:spPr>
          <a:xfrm>
            <a:off x="6995160" y="4892040"/>
            <a:ext cx="822960" cy="822960"/>
          </a:xfrm>
          <a:prstGeom prst="ellipse">
            <a:avLst/>
          </a:prstGeom>
          <a:solidFill>
            <a:srgbClr val="1F5C46"/>
          </a:solidFill>
          <a:ln w="12700">
            <a:solidFill>
              <a:srgbClr val="1F5C46"/>
            </a:solidFill>
            <a:prstDash val="solid"/>
          </a:ln>
        </p:spPr>
      </p:sp>
      <p:pic>
        <p:nvPicPr>
          <p:cNvPr id="16" name="Image 2" descr="preencoded.png">    </p:cNvPr>
          <p:cNvPicPr>
            <a:picLocks noChangeAspect="1"/>
          </p:cNvPicPr>
          <p:nvPr/>
        </p:nvPicPr>
        <p:blipFill>
          <a:blip r:embed="rId3"/>
          <a:stretch>
            <a:fillRect/>
          </a:stretch>
        </p:blipFill>
        <p:spPr>
          <a:xfrm>
            <a:off x="7192670" y="5089550"/>
            <a:ext cx="427939" cy="427939"/>
          </a:xfrm>
          <a:prstGeom prst="rect">
            <a:avLst/>
          </a:prstGeom>
        </p:spPr>
      </p:pic>
      <p:sp>
        <p:nvSpPr>
          <p:cNvPr id="17" name="Text 12"/>
          <p:cNvSpPr txBox="1"/>
          <p:nvPr/>
        </p:nvSpPr>
        <p:spPr>
          <a:xfrm>
            <a:off x="8046720" y="4782312"/>
            <a:ext cx="347472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 jam</a:t>
            </a:r>
            <a:endParaRPr lang="en-US" sz="3000" dirty="0"/>
          </a:p>
        </p:txBody>
      </p:sp>
      <p:sp>
        <p:nvSpPr>
          <p:cNvPr id="18" name="Text 13"/>
          <p:cNvSpPr txBox="1"/>
          <p:nvPr/>
        </p:nvSpPr>
        <p:spPr>
          <a:xfrm>
            <a:off x="8046720" y="5367528"/>
            <a:ext cx="3474720" cy="548640"/>
          </a:xfrm>
          <a:prstGeom prst="rect">
            <a:avLst/>
          </a:prstGeom>
          <a:noFill/>
          <a:ln/>
        </p:spPr>
        <p:txBody>
          <a:bodyPr wrap="square" lIns="0" tIns="0" rIns="0" bIns="0" rtlCol="0" anchor="t"/>
          <a:lstStyle/>
          <a:p>
            <a:pPr indent="0" marL="0">
              <a:buNone/>
            </a:pPr>
            <a:r>
              <a:rPr lang="en-US" sz="1300" dirty="0">
                <a:solidFill>
                  <a:srgbClr val="5E6B65"/>
                </a:solidFill>
              </a:rPr>
              <a:t>anjuran WHO: makanan matang jangan dibiarkan lebih lama di suhu ruang</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Model: Multi-Depot VRP dengan dua objektif</a:t>
            </a:r>
            <a:endParaRPr lang="en-US" sz="3200" dirty="0"/>
          </a:p>
        </p:txBody>
      </p:sp>
      <p:sp>
        <p:nvSpPr>
          <p:cNvPr id="3" name="Shape 1"/>
          <p:cNvSpPr/>
          <p:nvPr/>
        </p:nvSpPr>
        <p:spPr>
          <a:xfrm>
            <a:off x="548640" y="1371600"/>
            <a:ext cx="5120640" cy="4754880"/>
          </a:xfrm>
          <a:prstGeom prst="roundRect">
            <a:avLst>
              <a:gd name="adj" fmla="val 2308"/>
            </a:avLst>
          </a:prstGeom>
          <a:solidFill>
            <a:srgbClr val="F6F8F7"/>
          </a:solidFill>
          <a:ln w="12700">
            <a:solidFill>
              <a:srgbClr val="F6F8F7"/>
            </a:solidFill>
            <a:prstDash val="solid"/>
          </a:ln>
        </p:spPr>
      </p:sp>
      <p:sp>
        <p:nvSpPr>
          <p:cNvPr id="4" name="Shape 2"/>
          <p:cNvSpPr/>
          <p:nvPr/>
        </p:nvSpPr>
        <p:spPr>
          <a:xfrm>
            <a:off x="1097280" y="2103120"/>
            <a:ext cx="914400" cy="1737360"/>
          </a:xfrm>
          <a:prstGeom prst="line">
            <a:avLst/>
          </a:prstGeom>
          <a:noFill/>
          <a:ln w="31750">
            <a:solidFill>
              <a:srgbClr val="2A78D6"/>
            </a:solidFill>
            <a:prstDash val="solid"/>
          </a:ln>
        </p:spPr>
      </p:sp>
      <p:sp>
        <p:nvSpPr>
          <p:cNvPr id="5" name="Shape 3"/>
          <p:cNvSpPr/>
          <p:nvPr/>
        </p:nvSpPr>
        <p:spPr>
          <a:xfrm flipH="1">
            <a:off x="1097280" y="1828800"/>
            <a:ext cx="1280160" cy="274320"/>
          </a:xfrm>
          <a:prstGeom prst="line">
            <a:avLst/>
          </a:prstGeom>
          <a:noFill/>
          <a:ln w="31750">
            <a:solidFill>
              <a:srgbClr val="2A78D6"/>
            </a:solidFill>
            <a:prstDash val="solid"/>
          </a:ln>
        </p:spPr>
      </p:sp>
      <p:sp>
        <p:nvSpPr>
          <p:cNvPr id="6" name="Shape 4"/>
          <p:cNvSpPr/>
          <p:nvPr/>
        </p:nvSpPr>
        <p:spPr>
          <a:xfrm flipH="1">
            <a:off x="2011680" y="1828800"/>
            <a:ext cx="365760" cy="2011680"/>
          </a:xfrm>
          <a:prstGeom prst="line">
            <a:avLst/>
          </a:prstGeom>
          <a:noFill/>
          <a:ln w="31750">
            <a:solidFill>
              <a:srgbClr val="2A78D6"/>
            </a:solidFill>
            <a:prstDash val="solid"/>
          </a:ln>
        </p:spPr>
      </p:sp>
      <p:sp>
        <p:nvSpPr>
          <p:cNvPr id="7" name="Shape 5"/>
          <p:cNvSpPr/>
          <p:nvPr/>
        </p:nvSpPr>
        <p:spPr>
          <a:xfrm flipH="1">
            <a:off x="2011680" y="2377440"/>
            <a:ext cx="2011680" cy="1463040"/>
          </a:xfrm>
          <a:prstGeom prst="line">
            <a:avLst/>
          </a:prstGeom>
          <a:noFill/>
          <a:ln w="31750">
            <a:solidFill>
              <a:srgbClr val="E07A2E"/>
            </a:solidFill>
            <a:prstDash val="solid"/>
          </a:ln>
        </p:spPr>
      </p:sp>
      <p:sp>
        <p:nvSpPr>
          <p:cNvPr id="8" name="Shape 6"/>
          <p:cNvSpPr/>
          <p:nvPr/>
        </p:nvSpPr>
        <p:spPr>
          <a:xfrm>
            <a:off x="4023360" y="2377440"/>
            <a:ext cx="457200" cy="1554480"/>
          </a:xfrm>
          <a:prstGeom prst="line">
            <a:avLst/>
          </a:prstGeom>
          <a:noFill/>
          <a:ln w="31750">
            <a:solidFill>
              <a:srgbClr val="E07A2E"/>
            </a:solidFill>
            <a:prstDash val="solid"/>
          </a:ln>
        </p:spPr>
      </p:sp>
      <p:sp>
        <p:nvSpPr>
          <p:cNvPr id="9" name="Shape 7"/>
          <p:cNvSpPr/>
          <p:nvPr/>
        </p:nvSpPr>
        <p:spPr>
          <a:xfrm>
            <a:off x="2011680" y="3840480"/>
            <a:ext cx="2468880" cy="91440"/>
          </a:xfrm>
          <a:prstGeom prst="line">
            <a:avLst/>
          </a:prstGeom>
          <a:noFill/>
          <a:ln w="31750">
            <a:solidFill>
              <a:srgbClr val="E07A2E"/>
            </a:solidFill>
            <a:prstDash val="solid"/>
          </a:ln>
        </p:spPr>
      </p:sp>
      <p:sp>
        <p:nvSpPr>
          <p:cNvPr id="10" name="Shape 8"/>
          <p:cNvSpPr/>
          <p:nvPr/>
        </p:nvSpPr>
        <p:spPr>
          <a:xfrm>
            <a:off x="2011680" y="3840480"/>
            <a:ext cx="1828800" cy="1463040"/>
          </a:xfrm>
          <a:prstGeom prst="line">
            <a:avLst/>
          </a:prstGeom>
          <a:noFill/>
          <a:ln w="31750">
            <a:solidFill>
              <a:srgbClr val="1BAF7A"/>
            </a:solidFill>
            <a:prstDash val="solid"/>
          </a:ln>
        </p:spPr>
      </p:sp>
      <p:sp>
        <p:nvSpPr>
          <p:cNvPr id="11" name="Shape 9"/>
          <p:cNvSpPr/>
          <p:nvPr/>
        </p:nvSpPr>
        <p:spPr>
          <a:xfrm>
            <a:off x="2011680" y="3840480"/>
            <a:ext cx="1828800" cy="1463040"/>
          </a:xfrm>
          <a:prstGeom prst="line">
            <a:avLst/>
          </a:prstGeom>
          <a:noFill/>
          <a:ln w="31750">
            <a:solidFill>
              <a:srgbClr val="1BAF7A"/>
            </a:solidFill>
            <a:prstDash val="solid"/>
          </a:ln>
        </p:spPr>
      </p:sp>
      <p:sp>
        <p:nvSpPr>
          <p:cNvPr id="12" name="Shape 10"/>
          <p:cNvSpPr/>
          <p:nvPr/>
        </p:nvSpPr>
        <p:spPr>
          <a:xfrm flipH="1">
            <a:off x="1280160" y="3840480"/>
            <a:ext cx="731520" cy="1371600"/>
          </a:xfrm>
          <a:prstGeom prst="line">
            <a:avLst/>
          </a:prstGeom>
          <a:noFill/>
          <a:ln w="31750">
            <a:solidFill>
              <a:srgbClr val="4A3AA7"/>
            </a:solidFill>
            <a:prstDash val="solid"/>
          </a:ln>
        </p:spPr>
      </p:sp>
      <p:sp>
        <p:nvSpPr>
          <p:cNvPr id="13" name="Shape 11"/>
          <p:cNvSpPr/>
          <p:nvPr/>
        </p:nvSpPr>
        <p:spPr>
          <a:xfrm flipH="1">
            <a:off x="1280160" y="3840480"/>
            <a:ext cx="731520" cy="1371600"/>
          </a:xfrm>
          <a:prstGeom prst="line">
            <a:avLst/>
          </a:prstGeom>
          <a:noFill/>
          <a:ln w="31750">
            <a:solidFill>
              <a:srgbClr val="4A3AA7"/>
            </a:solidFill>
            <a:prstDash val="solid"/>
          </a:ln>
        </p:spPr>
      </p:sp>
      <p:sp>
        <p:nvSpPr>
          <p:cNvPr id="14" name="Shape 12"/>
          <p:cNvSpPr/>
          <p:nvPr/>
        </p:nvSpPr>
        <p:spPr>
          <a:xfrm>
            <a:off x="941832" y="1947672"/>
            <a:ext cx="310896" cy="310896"/>
          </a:xfrm>
          <a:prstGeom prst="ellipse">
            <a:avLst/>
          </a:prstGeom>
          <a:solidFill>
            <a:srgbClr val="FFFFFF"/>
          </a:solidFill>
          <a:ln w="15875">
            <a:solidFill>
              <a:srgbClr val="1B1B1B"/>
            </a:solidFill>
            <a:prstDash val="solid"/>
          </a:ln>
        </p:spPr>
      </p:sp>
      <p:sp>
        <p:nvSpPr>
          <p:cNvPr id="15" name="Shape 13"/>
          <p:cNvSpPr/>
          <p:nvPr/>
        </p:nvSpPr>
        <p:spPr>
          <a:xfrm>
            <a:off x="2221992" y="1673352"/>
            <a:ext cx="310896" cy="310896"/>
          </a:xfrm>
          <a:prstGeom prst="ellipse">
            <a:avLst/>
          </a:prstGeom>
          <a:solidFill>
            <a:srgbClr val="FFFFFF"/>
          </a:solidFill>
          <a:ln w="15875">
            <a:solidFill>
              <a:srgbClr val="1B1B1B"/>
            </a:solidFill>
            <a:prstDash val="solid"/>
          </a:ln>
        </p:spPr>
      </p:sp>
      <p:sp>
        <p:nvSpPr>
          <p:cNvPr id="16" name="Shape 14"/>
          <p:cNvSpPr/>
          <p:nvPr/>
        </p:nvSpPr>
        <p:spPr>
          <a:xfrm>
            <a:off x="3867912" y="2221992"/>
            <a:ext cx="310896" cy="310896"/>
          </a:xfrm>
          <a:prstGeom prst="ellipse">
            <a:avLst/>
          </a:prstGeom>
          <a:solidFill>
            <a:srgbClr val="FFFFFF"/>
          </a:solidFill>
          <a:ln w="15875">
            <a:solidFill>
              <a:srgbClr val="1B1B1B"/>
            </a:solidFill>
            <a:prstDash val="solid"/>
          </a:ln>
        </p:spPr>
      </p:sp>
      <p:sp>
        <p:nvSpPr>
          <p:cNvPr id="17" name="Shape 15"/>
          <p:cNvSpPr/>
          <p:nvPr/>
        </p:nvSpPr>
        <p:spPr>
          <a:xfrm>
            <a:off x="4325112" y="3776472"/>
            <a:ext cx="310896" cy="310896"/>
          </a:xfrm>
          <a:prstGeom prst="ellipse">
            <a:avLst/>
          </a:prstGeom>
          <a:solidFill>
            <a:srgbClr val="FFFFFF"/>
          </a:solidFill>
          <a:ln w="15875">
            <a:solidFill>
              <a:srgbClr val="1B1B1B"/>
            </a:solidFill>
            <a:prstDash val="solid"/>
          </a:ln>
        </p:spPr>
      </p:sp>
      <p:sp>
        <p:nvSpPr>
          <p:cNvPr id="18" name="Shape 16"/>
          <p:cNvSpPr/>
          <p:nvPr/>
        </p:nvSpPr>
        <p:spPr>
          <a:xfrm>
            <a:off x="3685032" y="5148072"/>
            <a:ext cx="310896" cy="310896"/>
          </a:xfrm>
          <a:prstGeom prst="ellipse">
            <a:avLst/>
          </a:prstGeom>
          <a:solidFill>
            <a:srgbClr val="FFFFFF"/>
          </a:solidFill>
          <a:ln w="15875">
            <a:solidFill>
              <a:srgbClr val="1B1B1B"/>
            </a:solidFill>
            <a:prstDash val="solid"/>
          </a:ln>
        </p:spPr>
      </p:sp>
      <p:sp>
        <p:nvSpPr>
          <p:cNvPr id="19" name="Shape 17"/>
          <p:cNvSpPr/>
          <p:nvPr/>
        </p:nvSpPr>
        <p:spPr>
          <a:xfrm>
            <a:off x="1124712" y="5056632"/>
            <a:ext cx="310896" cy="310896"/>
          </a:xfrm>
          <a:prstGeom prst="ellipse">
            <a:avLst/>
          </a:prstGeom>
          <a:solidFill>
            <a:srgbClr val="FFFFFF"/>
          </a:solidFill>
          <a:ln w="15875">
            <a:solidFill>
              <a:srgbClr val="1B1B1B"/>
            </a:solidFill>
            <a:prstDash val="solid"/>
          </a:ln>
        </p:spPr>
      </p:sp>
      <p:sp>
        <p:nvSpPr>
          <p:cNvPr id="20" name="Shape 18"/>
          <p:cNvSpPr/>
          <p:nvPr/>
        </p:nvSpPr>
        <p:spPr>
          <a:xfrm>
            <a:off x="1645920" y="3474720"/>
            <a:ext cx="731520" cy="731520"/>
          </a:xfrm>
          <a:prstGeom prst="ellipse">
            <a:avLst/>
          </a:prstGeom>
          <a:solidFill>
            <a:srgbClr val="1F5C46"/>
          </a:solidFill>
          <a:ln w="12700">
            <a:solidFill>
              <a:srgbClr val="1F5C46"/>
            </a:solidFill>
            <a:prstDash val="solid"/>
          </a:ln>
        </p:spPr>
      </p:sp>
      <p:pic>
        <p:nvPicPr>
          <p:cNvPr id="21" name="Image 0" descr="preencoded.png">    </p:cNvPr>
          <p:cNvPicPr>
            <a:picLocks noChangeAspect="1"/>
          </p:cNvPicPr>
          <p:nvPr/>
        </p:nvPicPr>
        <p:blipFill>
          <a:blip r:embed="rId1"/>
          <a:stretch>
            <a:fillRect/>
          </a:stretch>
        </p:blipFill>
        <p:spPr>
          <a:xfrm>
            <a:off x="1821485" y="3650285"/>
            <a:ext cx="380390" cy="380390"/>
          </a:xfrm>
          <a:prstGeom prst="rect">
            <a:avLst/>
          </a:prstGeom>
        </p:spPr>
      </p:pic>
      <p:sp>
        <p:nvSpPr>
          <p:cNvPr id="22" name="Text 19"/>
          <p:cNvSpPr txBox="1"/>
          <p:nvPr/>
        </p:nvSpPr>
        <p:spPr>
          <a:xfrm>
            <a:off x="1463040" y="4251960"/>
            <a:ext cx="1097280" cy="274320"/>
          </a:xfrm>
          <a:prstGeom prst="rect">
            <a:avLst/>
          </a:prstGeom>
          <a:noFill/>
          <a:ln/>
        </p:spPr>
        <p:txBody>
          <a:bodyPr wrap="square" lIns="0" tIns="0" rIns="0" bIns="0" rtlCol="0" anchor="t"/>
          <a:lstStyle/>
          <a:p>
            <a:pPr algn="ctr" indent="0" marL="0">
              <a:buNone/>
            </a:pPr>
            <a:r>
              <a:rPr lang="en-US" sz="1200" b="1" dirty="0">
                <a:solidFill>
                  <a:schemeClr val="tx1"/>
                </a:solidFill>
              </a:rPr>
              <a:t>SPPG</a:t>
            </a:r>
            <a:endParaRPr lang="en-US" sz="1200" dirty="0"/>
          </a:p>
        </p:txBody>
      </p:sp>
      <p:sp>
        <p:nvSpPr>
          <p:cNvPr id="23" name="Text 20"/>
          <p:cNvSpPr txBox="1"/>
          <p:nvPr/>
        </p:nvSpPr>
        <p:spPr>
          <a:xfrm>
            <a:off x="777240" y="5715000"/>
            <a:ext cx="4663440" cy="320040"/>
          </a:xfrm>
          <a:prstGeom prst="rect">
            <a:avLst/>
          </a:prstGeom>
          <a:noFill/>
          <a:ln/>
        </p:spPr>
        <p:txBody>
          <a:bodyPr wrap="square" lIns="0" tIns="0" rIns="0" bIns="0" rtlCol="0" anchor="t"/>
          <a:lstStyle/>
          <a:p>
            <a:pPr indent="0" marL="0">
              <a:buNone/>
            </a:pPr>
            <a:r>
              <a:rPr lang="en-US" sz="1200" dirty="0">
                <a:solidFill>
                  <a:srgbClr val="5E6B65"/>
                </a:solidFill>
              </a:rPr>
              <a:t>Setiap warna = 1 Granmax (maks 3 sekolah, kembali ke SPPG)</a:t>
            </a:r>
            <a:endParaRPr lang="en-US" sz="1200" dirty="0"/>
          </a:p>
        </p:txBody>
      </p:sp>
      <p:sp>
        <p:nvSpPr>
          <p:cNvPr id="24" name="Shape 21"/>
          <p:cNvSpPr/>
          <p:nvPr/>
        </p:nvSpPr>
        <p:spPr>
          <a:xfrm>
            <a:off x="6217920" y="1463040"/>
            <a:ext cx="777240" cy="777240"/>
          </a:xfrm>
          <a:prstGeom prst="ellipse">
            <a:avLst/>
          </a:prstGeom>
          <a:solidFill>
            <a:srgbClr val="E07A2E"/>
          </a:solidFill>
          <a:ln w="12700">
            <a:solidFill>
              <a:srgbClr val="E07A2E"/>
            </a:solidFill>
            <a:prstDash val="solid"/>
          </a:ln>
        </p:spPr>
      </p:sp>
      <p:pic>
        <p:nvPicPr>
          <p:cNvPr id="25" name="Image 1" descr="preencoded.png">    </p:cNvPr>
          <p:cNvPicPr>
            <a:picLocks noChangeAspect="1"/>
          </p:cNvPicPr>
          <p:nvPr/>
        </p:nvPicPr>
        <p:blipFill>
          <a:blip r:embed="rId2"/>
          <a:stretch>
            <a:fillRect/>
          </a:stretch>
        </p:blipFill>
        <p:spPr>
          <a:xfrm>
            <a:off x="6404458" y="1649578"/>
            <a:ext cx="404165" cy="404165"/>
          </a:xfrm>
          <a:prstGeom prst="rect">
            <a:avLst/>
          </a:prstGeom>
        </p:spPr>
      </p:pic>
      <p:sp>
        <p:nvSpPr>
          <p:cNvPr id="26" name="Text 22"/>
          <p:cNvSpPr txBox="1"/>
          <p:nvPr/>
        </p:nvSpPr>
        <p:spPr>
          <a:xfrm>
            <a:off x="7178040" y="1371600"/>
            <a:ext cx="448056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f₁  Biaya bensin</a:t>
            </a:r>
            <a:endParaRPr lang="en-US" sz="2000" dirty="0"/>
          </a:p>
        </p:txBody>
      </p:sp>
      <p:sp>
        <p:nvSpPr>
          <p:cNvPr id="27" name="Text 23"/>
          <p:cNvSpPr txBox="1"/>
          <p:nvPr/>
        </p:nvSpPr>
        <p:spPr>
          <a:xfrm>
            <a:off x="7178040" y="1828800"/>
            <a:ext cx="4480560" cy="548640"/>
          </a:xfrm>
          <a:prstGeom prst="rect">
            <a:avLst/>
          </a:prstGeom>
          <a:noFill/>
          <a:ln/>
        </p:spPr>
        <p:txBody>
          <a:bodyPr wrap="square" lIns="0" tIns="0" rIns="0" bIns="0" rtlCol="0" anchor="t"/>
          <a:lstStyle/>
          <a:p>
            <a:pPr indent="0" marL="0">
              <a:buNone/>
            </a:pPr>
            <a:r>
              <a:rPr lang="en-US" sz="1500" dirty="0">
                <a:solidFill>
                  <a:srgbClr val="5E6B65"/>
                </a:solidFill>
              </a:rPr>
              <a:t>total km ÷ 14 km/L × Rp10.000 (Pertalite)</a:t>
            </a:r>
            <a:endParaRPr lang="en-US" sz="1500" dirty="0"/>
          </a:p>
        </p:txBody>
      </p:sp>
      <p:sp>
        <p:nvSpPr>
          <p:cNvPr id="28" name="Shape 24"/>
          <p:cNvSpPr/>
          <p:nvPr/>
        </p:nvSpPr>
        <p:spPr>
          <a:xfrm>
            <a:off x="6217920" y="2651760"/>
            <a:ext cx="777240" cy="777240"/>
          </a:xfrm>
          <a:prstGeom prst="ellipse">
            <a:avLst/>
          </a:prstGeom>
          <a:solidFill>
            <a:srgbClr val="2A78D6"/>
          </a:solidFill>
          <a:ln w="12700">
            <a:solidFill>
              <a:srgbClr val="2A78D6"/>
            </a:solidFill>
            <a:prstDash val="solid"/>
          </a:ln>
        </p:spPr>
      </p:sp>
      <p:pic>
        <p:nvPicPr>
          <p:cNvPr id="29" name="Image 2" descr="preencoded.png">    </p:cNvPr>
          <p:cNvPicPr>
            <a:picLocks noChangeAspect="1"/>
          </p:cNvPicPr>
          <p:nvPr/>
        </p:nvPicPr>
        <p:blipFill>
          <a:blip r:embed="rId3"/>
          <a:stretch>
            <a:fillRect/>
          </a:stretch>
        </p:blipFill>
        <p:spPr>
          <a:xfrm>
            <a:off x="6404458" y="2838298"/>
            <a:ext cx="404165" cy="404165"/>
          </a:xfrm>
          <a:prstGeom prst="rect">
            <a:avLst/>
          </a:prstGeom>
        </p:spPr>
      </p:pic>
      <p:sp>
        <p:nvSpPr>
          <p:cNvPr id="30" name="Text 25"/>
          <p:cNvSpPr txBox="1"/>
          <p:nvPr/>
        </p:nvSpPr>
        <p:spPr>
          <a:xfrm>
            <a:off x="7178040" y="2560320"/>
            <a:ext cx="448056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f₂  Rata-rata waktu tiba</a:t>
            </a:r>
            <a:endParaRPr lang="en-US" sz="2000" dirty="0"/>
          </a:p>
        </p:txBody>
      </p:sp>
      <p:sp>
        <p:nvSpPr>
          <p:cNvPr id="31" name="Text 26"/>
          <p:cNvSpPr txBox="1"/>
          <p:nvPr/>
        </p:nvSpPr>
        <p:spPr>
          <a:xfrm>
            <a:off x="7178040" y="3017520"/>
            <a:ext cx="4480560" cy="548640"/>
          </a:xfrm>
          <a:prstGeom prst="rect">
            <a:avLst/>
          </a:prstGeom>
          <a:noFill/>
          <a:ln/>
        </p:spPr>
        <p:txBody>
          <a:bodyPr wrap="square" lIns="0" tIns="0" rIns="0" bIns="0" rtlCol="0" anchor="t"/>
          <a:lstStyle/>
          <a:p>
            <a:pPr indent="0" marL="0">
              <a:buNone/>
            </a:pPr>
            <a:r>
              <a:rPr lang="en-US" sz="1500" dirty="0">
                <a:solidFill>
                  <a:srgbClr val="5E6B65"/>
                </a:solidFill>
              </a:rPr>
              <a:t>menit sejak makanan berangkat sampai tiba di sekolah</a:t>
            </a:r>
            <a:endParaRPr lang="en-US" sz="1500" dirty="0"/>
          </a:p>
        </p:txBody>
      </p:sp>
      <p:sp>
        <p:nvSpPr>
          <p:cNvPr id="32" name="Text 27"/>
          <p:cNvSpPr txBox="1"/>
          <p:nvPr/>
        </p:nvSpPr>
        <p:spPr>
          <a:xfrm>
            <a:off x="6217920" y="3886200"/>
            <a:ext cx="53949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Constraint</a:t>
            </a:r>
            <a:endParaRPr lang="en-US" sz="1800" dirty="0"/>
          </a:p>
        </p:txBody>
      </p:sp>
      <p:sp>
        <p:nvSpPr>
          <p:cNvPr id="33" name="Shape 28"/>
          <p:cNvSpPr/>
          <p:nvPr/>
        </p:nvSpPr>
        <p:spPr>
          <a:xfrm>
            <a:off x="6217920" y="4389120"/>
            <a:ext cx="2606040" cy="548640"/>
          </a:xfrm>
          <a:prstGeom prst="roundRect">
            <a:avLst>
              <a:gd name="adj" fmla="val 20000"/>
            </a:avLst>
          </a:prstGeom>
          <a:solidFill>
            <a:srgbClr val="EEF4F0"/>
          </a:solidFill>
          <a:ln w="12700">
            <a:solidFill>
              <a:srgbClr val="EEF4F0"/>
            </a:solidFill>
            <a:prstDash val="solid"/>
          </a:ln>
        </p:spPr>
      </p:sp>
      <p:sp>
        <p:nvSpPr>
          <p:cNvPr id="34" name="Text 29"/>
          <p:cNvSpPr txBox="1"/>
          <p:nvPr/>
        </p:nvSpPr>
        <p:spPr>
          <a:xfrm>
            <a:off x="6355080" y="4434840"/>
            <a:ext cx="2377440" cy="457200"/>
          </a:xfrm>
          <a:prstGeom prst="rect">
            <a:avLst/>
          </a:prstGeom>
          <a:noFill/>
          <a:ln/>
        </p:spPr>
        <p:txBody>
          <a:bodyPr wrap="square" lIns="0" tIns="0" rIns="0" bIns="0" rtlCol="0" anchor="ctr"/>
          <a:lstStyle/>
          <a:p>
            <a:pPr indent="0" marL="0">
              <a:buNone/>
            </a:pPr>
            <a:r>
              <a:rPr lang="en-US" sz="1400" dirty="0">
                <a:solidFill>
                  <a:schemeClr val="tx1"/>
                </a:solidFill>
              </a:rPr>
              <a:t>maks 3 sekolah / Granmax</a:t>
            </a:r>
            <a:endParaRPr lang="en-US" sz="1400" dirty="0"/>
          </a:p>
        </p:txBody>
      </p:sp>
      <p:sp>
        <p:nvSpPr>
          <p:cNvPr id="35" name="Shape 30"/>
          <p:cNvSpPr/>
          <p:nvPr/>
        </p:nvSpPr>
        <p:spPr>
          <a:xfrm>
            <a:off x="8961120" y="4389120"/>
            <a:ext cx="2606040" cy="548640"/>
          </a:xfrm>
          <a:prstGeom prst="roundRect">
            <a:avLst>
              <a:gd name="adj" fmla="val 20000"/>
            </a:avLst>
          </a:prstGeom>
          <a:solidFill>
            <a:srgbClr val="EEF4F0"/>
          </a:solidFill>
          <a:ln w="12700">
            <a:solidFill>
              <a:srgbClr val="EEF4F0"/>
            </a:solidFill>
            <a:prstDash val="solid"/>
          </a:ln>
        </p:spPr>
      </p:sp>
      <p:sp>
        <p:nvSpPr>
          <p:cNvPr id="36" name="Text 31"/>
          <p:cNvSpPr txBox="1"/>
          <p:nvPr/>
        </p:nvSpPr>
        <p:spPr>
          <a:xfrm>
            <a:off x="9098280" y="4434840"/>
            <a:ext cx="2377440" cy="457200"/>
          </a:xfrm>
          <a:prstGeom prst="rect">
            <a:avLst/>
          </a:prstGeom>
          <a:noFill/>
          <a:ln/>
        </p:spPr>
        <p:txBody>
          <a:bodyPr wrap="square" lIns="0" tIns="0" rIns="0" bIns="0" rtlCol="0" anchor="ctr"/>
          <a:lstStyle/>
          <a:p>
            <a:pPr indent="0" marL="0">
              <a:buNone/>
            </a:pPr>
            <a:r>
              <a:rPr lang="en-US" sz="1400" dirty="0">
                <a:solidFill>
                  <a:schemeClr val="tx1"/>
                </a:solidFill>
              </a:rPr>
              <a:t>3 Granmax / SPPG</a:t>
            </a:r>
            <a:endParaRPr lang="en-US" sz="1400" dirty="0"/>
          </a:p>
        </p:txBody>
      </p:sp>
      <p:sp>
        <p:nvSpPr>
          <p:cNvPr id="37" name="Shape 32"/>
          <p:cNvSpPr/>
          <p:nvPr/>
        </p:nvSpPr>
        <p:spPr>
          <a:xfrm>
            <a:off x="6217920" y="5074920"/>
            <a:ext cx="2606040" cy="548640"/>
          </a:xfrm>
          <a:prstGeom prst="roundRect">
            <a:avLst>
              <a:gd name="adj" fmla="val 20000"/>
            </a:avLst>
          </a:prstGeom>
          <a:solidFill>
            <a:srgbClr val="EEF4F0"/>
          </a:solidFill>
          <a:ln w="12700">
            <a:solidFill>
              <a:srgbClr val="EEF4F0"/>
            </a:solidFill>
            <a:prstDash val="solid"/>
          </a:ln>
        </p:spPr>
      </p:sp>
      <p:sp>
        <p:nvSpPr>
          <p:cNvPr id="38" name="Text 33"/>
          <p:cNvSpPr txBox="1"/>
          <p:nvPr/>
        </p:nvSpPr>
        <p:spPr>
          <a:xfrm>
            <a:off x="6355080" y="5120640"/>
            <a:ext cx="2377440" cy="457200"/>
          </a:xfrm>
          <a:prstGeom prst="rect">
            <a:avLst/>
          </a:prstGeom>
          <a:noFill/>
          <a:ln/>
        </p:spPr>
        <p:txBody>
          <a:bodyPr wrap="square" lIns="0" tIns="0" rIns="0" bIns="0" rtlCol="0" anchor="ctr"/>
          <a:lstStyle/>
          <a:p>
            <a:pPr indent="0" marL="0">
              <a:buNone/>
            </a:pPr>
            <a:r>
              <a:rPr lang="en-US" sz="1400" dirty="0">
                <a:solidFill>
                  <a:schemeClr val="tx1"/>
                </a:solidFill>
              </a:rPr>
              <a:t>bongkar 15 menit / sekolah</a:t>
            </a:r>
            <a:endParaRPr lang="en-US" sz="1400" dirty="0"/>
          </a:p>
        </p:txBody>
      </p:sp>
      <p:sp>
        <p:nvSpPr>
          <p:cNvPr id="39" name="Shape 34"/>
          <p:cNvSpPr/>
          <p:nvPr/>
        </p:nvSpPr>
        <p:spPr>
          <a:xfrm>
            <a:off x="8961120" y="5074920"/>
            <a:ext cx="2606040" cy="548640"/>
          </a:xfrm>
          <a:prstGeom prst="roundRect">
            <a:avLst>
              <a:gd name="adj" fmla="val 20000"/>
            </a:avLst>
          </a:prstGeom>
          <a:solidFill>
            <a:srgbClr val="EEF4F0"/>
          </a:solidFill>
          <a:ln w="12700">
            <a:solidFill>
              <a:srgbClr val="EEF4F0"/>
            </a:solidFill>
            <a:prstDash val="solid"/>
          </a:ln>
        </p:spPr>
      </p:sp>
      <p:sp>
        <p:nvSpPr>
          <p:cNvPr id="40" name="Text 35"/>
          <p:cNvSpPr txBox="1"/>
          <p:nvPr/>
        </p:nvSpPr>
        <p:spPr>
          <a:xfrm>
            <a:off x="9098280" y="5120640"/>
            <a:ext cx="2377440" cy="457200"/>
          </a:xfrm>
          <a:prstGeom prst="rect">
            <a:avLst/>
          </a:prstGeom>
          <a:noFill/>
          <a:ln/>
        </p:spPr>
        <p:txBody>
          <a:bodyPr wrap="square" lIns="0" tIns="0" rIns="0" bIns="0" rtlCol="0" anchor="ctr"/>
          <a:lstStyle/>
          <a:p>
            <a:pPr indent="0" marL="0">
              <a:buNone/>
            </a:pPr>
            <a:r>
              <a:rPr lang="en-US" sz="1400" dirty="0">
                <a:solidFill>
                  <a:schemeClr val="tx1"/>
                </a:solidFill>
              </a:rPr>
              <a:t>tiba ≤ 180 menit setelah masak</a:t>
            </a:r>
            <a:endParaRPr lang="en-US" sz="1400" dirty="0"/>
          </a:p>
        </p:txBody>
      </p:sp>
      <p:sp>
        <p:nvSpPr>
          <p:cNvPr id="41" name="Text 36"/>
          <p:cNvSpPr txBox="1"/>
          <p:nvPr/>
        </p:nvSpPr>
        <p:spPr>
          <a:xfrm>
            <a:off x="6217920" y="5806440"/>
            <a:ext cx="5394960" cy="365760"/>
          </a:xfrm>
          <a:prstGeom prst="rect">
            <a:avLst/>
          </a:prstGeom>
          <a:noFill/>
          <a:ln/>
        </p:spPr>
        <p:txBody>
          <a:bodyPr wrap="square" lIns="0" tIns="0" rIns="0" bIns="0" rtlCol="0" anchor="t"/>
          <a:lstStyle/>
          <a:p>
            <a:pPr indent="0" marL="0">
              <a:buNone/>
            </a:pPr>
            <a:r>
              <a:rPr lang="en-US" sz="1300" i="1" dirty="0">
                <a:solidFill>
                  <a:srgbClr val="5E6B65"/>
                </a:solidFill>
              </a:rPr>
              <a:t>Satu biaya: F = w·f₁/ref₁ + (1−w)·f₂/ref₂</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Data jalan asli Surabaya</a:t>
            </a:r>
            <a:endParaRPr lang="en-US" sz="3200" dirty="0"/>
          </a:p>
        </p:txBody>
      </p:sp>
      <p:pic>
        <p:nvPicPr>
          <p:cNvPr id="3" name="Image 0" descr="/home/roxasz/project/kka-2026/report/figs/fig_wilayah.png">    </p:cNvPr>
          <p:cNvPicPr>
            <a:picLocks noChangeAspect="1"/>
          </p:cNvPicPr>
          <p:nvPr/>
        </p:nvPicPr>
        <p:blipFill>
          <a:blip r:embed="rId1"/>
          <a:stretch>
            <a:fillRect/>
          </a:stretch>
        </p:blipFill>
        <p:spPr>
          <a:xfrm>
            <a:off x="548640" y="1795940"/>
            <a:ext cx="7680960" cy="3906199"/>
          </a:xfrm>
          <a:prstGeom prst="rect">
            <a:avLst/>
          </a:prstGeom>
        </p:spPr>
      </p:pic>
      <p:sp>
        <p:nvSpPr>
          <p:cNvPr id="4" name="Text 1"/>
          <p:cNvSpPr txBox="1"/>
          <p:nvPr/>
        </p:nvSpPr>
        <p:spPr>
          <a:xfrm>
            <a:off x="8549640" y="1417320"/>
            <a:ext cx="31089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751</a:t>
            </a:r>
            <a:endParaRPr lang="en-US" sz="3000" dirty="0"/>
          </a:p>
        </p:txBody>
      </p:sp>
      <p:sp>
        <p:nvSpPr>
          <p:cNvPr id="5" name="Text 2"/>
          <p:cNvSpPr txBox="1"/>
          <p:nvPr/>
        </p:nvSpPr>
        <p:spPr>
          <a:xfrm>
            <a:off x="8549640" y="1965960"/>
            <a:ext cx="3108960" cy="502920"/>
          </a:xfrm>
          <a:prstGeom prst="rect">
            <a:avLst/>
          </a:prstGeom>
          <a:noFill/>
          <a:ln/>
        </p:spPr>
        <p:txBody>
          <a:bodyPr wrap="square" lIns="0" tIns="0" rIns="0" bIns="0" rtlCol="0" anchor="t"/>
          <a:lstStyle/>
          <a:p>
            <a:pPr indent="0" marL="0">
              <a:buNone/>
            </a:pPr>
            <a:r>
              <a:rPr lang="en-US" sz="1400" dirty="0">
                <a:solidFill>
                  <a:srgbClr val="5E6B65"/>
                </a:solidFill>
              </a:rPr>
              <a:t>SD/MI/SMP/MTs dari OpenStreetMap</a:t>
            </a:r>
            <a:endParaRPr lang="en-US" sz="1400" dirty="0"/>
          </a:p>
        </p:txBody>
      </p:sp>
      <p:sp>
        <p:nvSpPr>
          <p:cNvPr id="6" name="Text 3"/>
          <p:cNvSpPr txBox="1"/>
          <p:nvPr/>
        </p:nvSpPr>
        <p:spPr>
          <a:xfrm>
            <a:off x="8549640" y="2606040"/>
            <a:ext cx="31089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6</a:t>
            </a:r>
            <a:endParaRPr lang="en-US" sz="3000" dirty="0"/>
          </a:p>
        </p:txBody>
      </p:sp>
      <p:sp>
        <p:nvSpPr>
          <p:cNvPr id="7" name="Text 4"/>
          <p:cNvSpPr txBox="1"/>
          <p:nvPr/>
        </p:nvSpPr>
        <p:spPr>
          <a:xfrm>
            <a:off x="8549640" y="3154680"/>
            <a:ext cx="3108960" cy="502920"/>
          </a:xfrm>
          <a:prstGeom prst="rect">
            <a:avLst/>
          </a:prstGeom>
          <a:noFill/>
          <a:ln/>
        </p:spPr>
        <p:txBody>
          <a:bodyPr wrap="square" lIns="0" tIns="0" rIns="0" bIns="0" rtlCol="0" anchor="t"/>
          <a:lstStyle/>
          <a:p>
            <a:pPr indent="0" marL="0">
              <a:buNone/>
            </a:pPr>
            <a:r>
              <a:rPr lang="en-US" sz="1400" dirty="0">
                <a:solidFill>
                  <a:srgbClr val="5E6B65"/>
                </a:solidFill>
              </a:rPr>
              <a:t>SPPG dari berita (geocoding alamat)</a:t>
            </a:r>
            <a:endParaRPr lang="en-US" sz="1400" dirty="0"/>
          </a:p>
        </p:txBody>
      </p:sp>
      <p:sp>
        <p:nvSpPr>
          <p:cNvPr id="8" name="Text 5"/>
          <p:cNvSpPr txBox="1"/>
          <p:nvPr/>
        </p:nvSpPr>
        <p:spPr>
          <a:xfrm>
            <a:off x="8549640" y="3794760"/>
            <a:ext cx="31089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OSRM</a:t>
            </a:r>
            <a:endParaRPr lang="en-US" sz="3000" dirty="0"/>
          </a:p>
        </p:txBody>
      </p:sp>
      <p:sp>
        <p:nvSpPr>
          <p:cNvPr id="9" name="Text 6"/>
          <p:cNvSpPr txBox="1"/>
          <p:nvPr/>
        </p:nvSpPr>
        <p:spPr>
          <a:xfrm>
            <a:off x="8549640" y="4343400"/>
            <a:ext cx="3108960" cy="502920"/>
          </a:xfrm>
          <a:prstGeom prst="rect">
            <a:avLst/>
          </a:prstGeom>
          <a:noFill/>
          <a:ln/>
        </p:spPr>
        <p:txBody>
          <a:bodyPr wrap="square" lIns="0" tIns="0" rIns="0" bIns="0" rtlCol="0" anchor="t"/>
          <a:lstStyle/>
          <a:p>
            <a:pPr indent="0" marL="0">
              <a:buNone/>
            </a:pPr>
            <a:r>
              <a:rPr lang="en-US" sz="1400" dirty="0">
                <a:solidFill>
                  <a:srgbClr val="5E6B65"/>
                </a:solidFill>
              </a:rPr>
              <a:t>jarak &amp; waktu tempuh jalan asli, bukan garis lurus</a:t>
            </a:r>
            <a:endParaRPr lang="en-US" sz="1400" dirty="0"/>
          </a:p>
        </p:txBody>
      </p:sp>
      <p:sp>
        <p:nvSpPr>
          <p:cNvPr id="10" name="Text 7"/>
          <p:cNvSpPr txBox="1"/>
          <p:nvPr/>
        </p:nvSpPr>
        <p:spPr>
          <a:xfrm>
            <a:off x="8549640" y="4983480"/>
            <a:ext cx="31089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8549640" y="5532120"/>
            <a:ext cx="3108960" cy="502920"/>
          </a:xfrm>
          <a:prstGeom prst="rect">
            <a:avLst/>
          </a:prstGeom>
          <a:noFill/>
          <a:ln/>
        </p:spPr>
        <p:txBody>
          <a:bodyPr wrap="square" lIns="0" tIns="0" rIns="0" bIns="0" rtlCol="0" anchor="t"/>
          <a:lstStyle/>
          <a:p>
            <a:pPr indent="0" marL="0">
              <a:buNone/>
            </a:pPr>
            <a:r>
              <a:rPr lang="en-US" sz="1400" dirty="0">
                <a:solidFill>
                  <a:srgbClr val="5E6B65"/>
                </a:solidFill>
              </a:rPr>
              <a:t>instance: 18 dan 42 sekolah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Sekolah ke SPPG terdekat, lalu cari rutenya</a:t>
            </a:r>
            <a:endParaRPr lang="en-US" sz="3200" dirty="0"/>
          </a:p>
        </p:txBody>
      </p:sp>
      <p:sp>
        <p:nvSpPr>
          <p:cNvPr id="3" name="Shape 1"/>
          <p:cNvSpPr/>
          <p:nvPr/>
        </p:nvSpPr>
        <p:spPr>
          <a:xfrm>
            <a:off x="548640" y="1417320"/>
            <a:ext cx="3611880" cy="3383280"/>
          </a:xfrm>
          <a:prstGeom prst="roundRect">
            <a:avLst>
              <a:gd name="adj" fmla="val 3243"/>
            </a:avLst>
          </a:prstGeom>
          <a:solidFill>
            <a:srgbClr val="EEF4F0"/>
          </a:solidFill>
          <a:ln w="12700">
            <a:solidFill>
              <a:srgbClr val="EEF4F0"/>
            </a:solidFill>
            <a:prstDash val="solid"/>
          </a:ln>
        </p:spPr>
      </p:sp>
      <p:sp>
        <p:nvSpPr>
          <p:cNvPr id="4" name="Shape 2"/>
          <p:cNvSpPr/>
          <p:nvPr/>
        </p:nvSpPr>
        <p:spPr>
          <a:xfrm>
            <a:off x="822960" y="1691640"/>
            <a:ext cx="777240" cy="777240"/>
          </a:xfrm>
          <a:prstGeom prst="ellipse">
            <a:avLst/>
          </a:prstGeom>
          <a:solidFill>
            <a:srgbClr val="E07A2E"/>
          </a:solidFill>
          <a:ln w="12700">
            <a:solidFill>
              <a:srgbClr val="E07A2E"/>
            </a:solidFill>
            <a:prstDash val="solid"/>
          </a:ln>
        </p:spPr>
      </p:sp>
      <p:pic>
        <p:nvPicPr>
          <p:cNvPr id="5" name="Image 0" descr="preencoded.png">    </p:cNvPr>
          <p:cNvPicPr>
            <a:picLocks noChangeAspect="1"/>
          </p:cNvPicPr>
          <p:nvPr/>
        </p:nvPicPr>
        <p:blipFill>
          <a:blip r:embed="rId1"/>
          <a:stretch>
            <a:fillRect/>
          </a:stretch>
        </p:blipFill>
        <p:spPr>
          <a:xfrm>
            <a:off x="1009498" y="1878178"/>
            <a:ext cx="404165" cy="404165"/>
          </a:xfrm>
          <a:prstGeom prst="rect">
            <a:avLst/>
          </a:prstGeom>
        </p:spPr>
      </p:pic>
      <p:sp>
        <p:nvSpPr>
          <p:cNvPr id="6" name="Text 3"/>
          <p:cNvSpPr txBox="1"/>
          <p:nvPr/>
        </p:nvSpPr>
        <p:spPr>
          <a:xfrm>
            <a:off x="1737360" y="1828800"/>
            <a:ext cx="228600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1. Penugasan</a:t>
            </a:r>
            <a:endParaRPr lang="en-US" sz="2000" dirty="0"/>
          </a:p>
        </p:txBody>
      </p:sp>
      <p:sp>
        <p:nvSpPr>
          <p:cNvPr id="7" name="Text 4"/>
          <p:cNvSpPr txBox="1"/>
          <p:nvPr/>
        </p:nvSpPr>
        <p:spPr>
          <a:xfrm>
            <a:off x="822960" y="2834640"/>
            <a:ext cx="3063240" cy="1828800"/>
          </a:xfrm>
          <a:prstGeom prst="rect">
            <a:avLst/>
          </a:prstGeom>
          <a:noFill/>
          <a:ln/>
        </p:spPr>
        <p:txBody>
          <a:bodyPr wrap="square" lIns="0" tIns="0" rIns="0" bIns="0" rtlCol="0" anchor="t"/>
          <a:lstStyle/>
          <a:p>
            <a:pPr indent="0" marL="0">
              <a:buNone/>
            </a:pPr>
            <a:r>
              <a:rPr lang="en-US" sz="1500" dirty="0">
                <a:solidFill>
                  <a:schemeClr val="tx1"/>
                </a:solidFill>
              </a:rPr>
              <a:t>Tiap sekolah dilayani SPPG terdekat (jarak jalan OSRM). SPPG tidak berbagi Granmax, jadi rute tiap SPPG bisa dicari sendiri.</a:t>
            </a:r>
            <a:endParaRPr lang="en-US" sz="1500" dirty="0"/>
          </a:p>
        </p:txBody>
      </p:sp>
      <p:sp>
        <p:nvSpPr>
          <p:cNvPr id="8" name="Shape 5"/>
          <p:cNvSpPr/>
          <p:nvPr/>
        </p:nvSpPr>
        <p:spPr>
          <a:xfrm>
            <a:off x="4343400" y="1417320"/>
            <a:ext cx="3611880" cy="3383280"/>
          </a:xfrm>
          <a:prstGeom prst="roundRect">
            <a:avLst>
              <a:gd name="adj" fmla="val 3243"/>
            </a:avLst>
          </a:prstGeom>
          <a:solidFill>
            <a:srgbClr val="EEF4F0"/>
          </a:solidFill>
          <a:ln w="12700">
            <a:solidFill>
              <a:srgbClr val="EEF4F0"/>
            </a:solidFill>
            <a:prstDash val="solid"/>
          </a:ln>
        </p:spPr>
      </p:sp>
      <p:sp>
        <p:nvSpPr>
          <p:cNvPr id="9" name="Shape 6"/>
          <p:cNvSpPr/>
          <p:nvPr/>
        </p:nvSpPr>
        <p:spPr>
          <a:xfrm>
            <a:off x="4617720" y="1691640"/>
            <a:ext cx="777240" cy="777240"/>
          </a:xfrm>
          <a:prstGeom prst="ellipse">
            <a:avLst/>
          </a:prstGeom>
          <a:solidFill>
            <a:srgbClr val="2A78D6"/>
          </a:solidFill>
          <a:ln w="12700">
            <a:solidFill>
              <a:srgbClr val="2A78D6"/>
            </a:solidFill>
            <a:prstDash val="solid"/>
          </a:ln>
        </p:spPr>
      </p:sp>
      <p:pic>
        <p:nvPicPr>
          <p:cNvPr id="10" name="Image 1" descr="preencoded.png">    </p:cNvPr>
          <p:cNvPicPr>
            <a:picLocks noChangeAspect="1"/>
          </p:cNvPicPr>
          <p:nvPr/>
        </p:nvPicPr>
        <p:blipFill>
          <a:blip r:embed="rId2"/>
          <a:stretch>
            <a:fillRect/>
          </a:stretch>
        </p:blipFill>
        <p:spPr>
          <a:xfrm>
            <a:off x="4804258" y="1878178"/>
            <a:ext cx="404165" cy="404165"/>
          </a:xfrm>
          <a:prstGeom prst="rect">
            <a:avLst/>
          </a:prstGeom>
        </p:spPr>
      </p:pic>
      <p:sp>
        <p:nvSpPr>
          <p:cNvPr id="11" name="Text 7"/>
          <p:cNvSpPr txBox="1"/>
          <p:nvPr/>
        </p:nvSpPr>
        <p:spPr>
          <a:xfrm>
            <a:off x="5532120" y="1828800"/>
            <a:ext cx="228600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2. Pencarian rute</a:t>
            </a:r>
            <a:endParaRPr lang="en-US" sz="2000" dirty="0"/>
          </a:p>
        </p:txBody>
      </p:sp>
      <p:sp>
        <p:nvSpPr>
          <p:cNvPr id="12" name="Text 8"/>
          <p:cNvSpPr txBox="1"/>
          <p:nvPr/>
        </p:nvSpPr>
        <p:spPr>
          <a:xfrm>
            <a:off x="4617720" y="2834640"/>
            <a:ext cx="3063240" cy="1828800"/>
          </a:xfrm>
          <a:prstGeom prst="rect">
            <a:avLst/>
          </a:prstGeom>
          <a:noFill/>
          <a:ln/>
        </p:spPr>
        <p:txBody>
          <a:bodyPr wrap="square" lIns="0" tIns="0" rIns="0" bIns="0" rtlCol="0" anchor="t"/>
          <a:lstStyle/>
          <a:p>
            <a:pPr indent="0" marL="0">
              <a:buNone/>
            </a:pPr>
            <a:r>
              <a:rPr lang="en-US" sz="1500" dirty="0">
                <a:solidFill>
                  <a:schemeClr val="tx1"/>
                </a:solidFill>
              </a:rPr>
              <a:t>Paling banyak belasan sekolah per SPPG → ruang rute cukup kecil untuk pencarian sistematis yang bisa menjamin optimal.</a:t>
            </a:r>
            <a:endParaRPr lang="en-US" sz="1500" dirty="0"/>
          </a:p>
        </p:txBody>
      </p:sp>
      <p:sp>
        <p:nvSpPr>
          <p:cNvPr id="13" name="Shape 9"/>
          <p:cNvSpPr/>
          <p:nvPr/>
        </p:nvSpPr>
        <p:spPr>
          <a:xfrm>
            <a:off x="8138160" y="1417320"/>
            <a:ext cx="3611880" cy="3383280"/>
          </a:xfrm>
          <a:prstGeom prst="roundRect">
            <a:avLst>
              <a:gd name="adj" fmla="val 3243"/>
            </a:avLst>
          </a:prstGeom>
          <a:solidFill>
            <a:srgbClr val="EEF4F0"/>
          </a:solidFill>
          <a:ln w="12700">
            <a:solidFill>
              <a:srgbClr val="EEF4F0"/>
            </a:solidFill>
            <a:prstDash val="solid"/>
          </a:ln>
        </p:spPr>
      </p:sp>
      <p:sp>
        <p:nvSpPr>
          <p:cNvPr id="14" name="Shape 10"/>
          <p:cNvSpPr/>
          <p:nvPr/>
        </p:nvSpPr>
        <p:spPr>
          <a:xfrm>
            <a:off x="8412480" y="1691640"/>
            <a:ext cx="777240" cy="777240"/>
          </a:xfrm>
          <a:prstGeom prst="ellipse">
            <a:avLst/>
          </a:prstGeom>
          <a:solidFill>
            <a:srgbClr val="1BAF7A"/>
          </a:solidFill>
          <a:ln w="12700">
            <a:solidFill>
              <a:srgbClr val="1BAF7A"/>
            </a:solidFill>
            <a:prstDash val="solid"/>
          </a:ln>
        </p:spPr>
      </p:sp>
      <p:pic>
        <p:nvPicPr>
          <p:cNvPr id="15" name="Image 2" descr="preencoded.png">    </p:cNvPr>
          <p:cNvPicPr>
            <a:picLocks noChangeAspect="1"/>
          </p:cNvPicPr>
          <p:nvPr/>
        </p:nvPicPr>
        <p:blipFill>
          <a:blip r:embed="rId3"/>
          <a:stretch>
            <a:fillRect/>
          </a:stretch>
        </p:blipFill>
        <p:spPr>
          <a:xfrm>
            <a:off x="8599018" y="1878178"/>
            <a:ext cx="404165" cy="404165"/>
          </a:xfrm>
          <a:prstGeom prst="rect">
            <a:avLst/>
          </a:prstGeom>
        </p:spPr>
      </p:pic>
      <p:sp>
        <p:nvSpPr>
          <p:cNvPr id="16" name="Text 11"/>
          <p:cNvSpPr txBox="1"/>
          <p:nvPr/>
        </p:nvSpPr>
        <p:spPr>
          <a:xfrm>
            <a:off x="9326880" y="1828800"/>
            <a:ext cx="228600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3. Bandingkan</a:t>
            </a:r>
            <a:endParaRPr lang="en-US" sz="2000" dirty="0"/>
          </a:p>
        </p:txBody>
      </p:sp>
      <p:sp>
        <p:nvSpPr>
          <p:cNvPr id="17" name="Text 12"/>
          <p:cNvSpPr txBox="1"/>
          <p:nvPr/>
        </p:nvSpPr>
        <p:spPr>
          <a:xfrm>
            <a:off x="8412480" y="2834640"/>
            <a:ext cx="3063240" cy="1828800"/>
          </a:xfrm>
          <a:prstGeom prst="rect">
            <a:avLst/>
          </a:prstGeom>
          <a:noFill/>
          <a:ln/>
        </p:spPr>
        <p:txBody>
          <a:bodyPr wrap="square" lIns="0" tIns="0" rIns="0" bIns="0" rtlCol="0" anchor="t"/>
          <a:lstStyle/>
          <a:p>
            <a:pPr indent="0" marL="0">
              <a:buNone/>
            </a:pPr>
            <a:r>
              <a:rPr lang="en-US" sz="1500" dirty="0">
                <a:solidFill>
                  <a:schemeClr val="tx1"/>
                </a:solidFill>
              </a:rPr>
              <a:t>Tujuh algoritma pada sub-masalah nyata dan sub-masalah acak k = 3–12: optimalitas, node, memori, waktu.</a:t>
            </a:r>
            <a:endParaRPr lang="en-US" sz="1500" dirty="0"/>
          </a:p>
        </p:txBody>
      </p:sp>
      <p:sp>
        <p:nvSpPr>
          <p:cNvPr id="18" name="Shape 13"/>
          <p:cNvSpPr/>
          <p:nvPr/>
        </p:nvSpPr>
        <p:spPr>
          <a:xfrm>
            <a:off x="548640" y="5074920"/>
            <a:ext cx="11094415" cy="1097280"/>
          </a:xfrm>
          <a:prstGeom prst="roundRect">
            <a:avLst>
              <a:gd name="adj" fmla="val 10000"/>
            </a:avLst>
          </a:prstGeom>
          <a:solidFill>
            <a:srgbClr val="FFF4E8"/>
          </a:solidFill>
          <a:ln w="12700">
            <a:solidFill>
              <a:srgbClr val="FFF4E8"/>
            </a:solidFill>
            <a:prstDash val="solid"/>
          </a:ln>
        </p:spPr>
      </p:sp>
      <p:sp>
        <p:nvSpPr>
          <p:cNvPr id="19" name="Text 14"/>
          <p:cNvSpPr txBox="1"/>
          <p:nvPr/>
        </p:nvSpPr>
        <p:spPr>
          <a:xfrm>
            <a:off x="822960" y="5166360"/>
            <a:ext cx="10545775" cy="9144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Biaya langkah = kontribusi ruas ke F</a:t>
            </a:r>
            <a:endParaRPr lang="en-US" sz="1600" dirty="0"/>
          </a:p>
          <a:p>
            <a:pPr indent="0" marL="0">
              <a:buNone/>
            </a:pPr>
            <a:r>
              <a:rPr lang="en-US" sz="1400" dirty="0">
                <a:solidFill>
                  <a:srgbClr val="5E6B65"/>
                </a:solidFill>
              </a:rPr>
              <a:t>F adalah jumlah biaya per ruas perjalanan, jadi langsung dipakai sebagai biaya jalur g(n) di UCS dan A*.</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Rute satu SPPG sebagai masalah pencarian</a:t>
            </a:r>
            <a:endParaRPr lang="en-US" sz="3200" dirty="0"/>
          </a:p>
        </p:txBody>
      </p:sp>
      <p:sp>
        <p:nvSpPr>
          <p:cNvPr id="3" name="Text 1"/>
          <p:cNvSpPr txBox="1"/>
          <p:nvPr/>
        </p:nvSpPr>
        <p:spPr>
          <a:xfrm>
            <a:off x="548640" y="1371600"/>
            <a:ext cx="1737360" cy="548640"/>
          </a:xfrm>
          <a:prstGeom prst="rect">
            <a:avLst/>
          </a:prstGeom>
          <a:noFill/>
          <a:ln/>
        </p:spPr>
        <p:txBody>
          <a:bodyPr wrap="square" lIns="0" tIns="0" rIns="0" bIns="0" rtlCol="0" anchor="ctr"/>
          <a:lstStyle/>
          <a:p>
            <a:pPr indent="0" marL="0">
              <a:buNone/>
            </a:pPr>
            <a:r>
              <a:rPr lang="en-US" sz="1500" b="1" dirty="0">
                <a:solidFill>
                  <a:schemeClr val="accent1"/>
                </a:solidFill>
              </a:rPr>
              <a:t>Keadaan</a:t>
            </a:r>
            <a:endParaRPr lang="en-US" sz="1500" dirty="0"/>
          </a:p>
        </p:txBody>
      </p:sp>
      <p:sp>
        <p:nvSpPr>
          <p:cNvPr id="4" name="Text 2"/>
          <p:cNvSpPr txBox="1"/>
          <p:nvPr/>
        </p:nvSpPr>
        <p:spPr>
          <a:xfrm>
            <a:off x="2331720" y="1371600"/>
            <a:ext cx="3429000" cy="548640"/>
          </a:xfrm>
          <a:prstGeom prst="rect">
            <a:avLst/>
          </a:prstGeom>
          <a:noFill/>
          <a:ln/>
        </p:spPr>
        <p:txBody>
          <a:bodyPr wrap="square" lIns="0" tIns="0" rIns="0" bIns="0" rtlCol="0" anchor="ctr"/>
          <a:lstStyle/>
          <a:p>
            <a:pPr indent="0" marL="0">
              <a:buNone/>
            </a:pPr>
            <a:r>
              <a:rPr lang="en-US" sz="1400" dirty="0">
                <a:solidFill>
                  <a:schemeClr val="tx1"/>
                </a:solidFill>
              </a:rPr>
              <a:t>sekolah tersisa, posisi, muatan Granmax, waktu, Granmax terpakai</a:t>
            </a:r>
            <a:endParaRPr lang="en-US" sz="1400" dirty="0"/>
          </a:p>
        </p:txBody>
      </p:sp>
      <p:sp>
        <p:nvSpPr>
          <p:cNvPr id="5" name="Text 3"/>
          <p:cNvSpPr txBox="1"/>
          <p:nvPr/>
        </p:nvSpPr>
        <p:spPr>
          <a:xfrm>
            <a:off x="548640" y="1993392"/>
            <a:ext cx="1737360" cy="548640"/>
          </a:xfrm>
          <a:prstGeom prst="rect">
            <a:avLst/>
          </a:prstGeom>
          <a:noFill/>
          <a:ln/>
        </p:spPr>
        <p:txBody>
          <a:bodyPr wrap="square" lIns="0" tIns="0" rIns="0" bIns="0" rtlCol="0" anchor="ctr"/>
          <a:lstStyle/>
          <a:p>
            <a:pPr indent="0" marL="0">
              <a:buNone/>
            </a:pPr>
            <a:r>
              <a:rPr lang="en-US" sz="1500" b="1" dirty="0">
                <a:solidFill>
                  <a:schemeClr val="accent1"/>
                </a:solidFill>
              </a:rPr>
              <a:t>Aksi</a:t>
            </a:r>
            <a:endParaRPr lang="en-US" sz="1500" dirty="0"/>
          </a:p>
        </p:txBody>
      </p:sp>
      <p:sp>
        <p:nvSpPr>
          <p:cNvPr id="6" name="Text 4"/>
          <p:cNvSpPr txBox="1"/>
          <p:nvPr/>
        </p:nvSpPr>
        <p:spPr>
          <a:xfrm>
            <a:off x="2331720" y="1993392"/>
            <a:ext cx="3429000" cy="548640"/>
          </a:xfrm>
          <a:prstGeom prst="rect">
            <a:avLst/>
          </a:prstGeom>
          <a:noFill/>
          <a:ln/>
        </p:spPr>
        <p:txBody>
          <a:bodyPr wrap="square" lIns="0" tIns="0" rIns="0" bIns="0" rtlCol="0" anchor="ctr"/>
          <a:lstStyle/>
          <a:p>
            <a:pPr indent="0" marL="0">
              <a:buNone/>
            </a:pPr>
            <a:r>
              <a:rPr lang="en-US" sz="1400" dirty="0">
                <a:solidFill>
                  <a:schemeClr val="tx1"/>
                </a:solidFill>
              </a:rPr>
              <a:t>antar ke sekolah s  /  pulang ke SPPG</a:t>
            </a:r>
            <a:endParaRPr lang="en-US" sz="1400" dirty="0"/>
          </a:p>
        </p:txBody>
      </p:sp>
      <p:sp>
        <p:nvSpPr>
          <p:cNvPr id="7" name="Text 5"/>
          <p:cNvSpPr txBox="1"/>
          <p:nvPr/>
        </p:nvSpPr>
        <p:spPr>
          <a:xfrm>
            <a:off x="548640" y="2615184"/>
            <a:ext cx="1737360" cy="548640"/>
          </a:xfrm>
          <a:prstGeom prst="rect">
            <a:avLst/>
          </a:prstGeom>
          <a:noFill/>
          <a:ln/>
        </p:spPr>
        <p:txBody>
          <a:bodyPr wrap="square" lIns="0" tIns="0" rIns="0" bIns="0" rtlCol="0" anchor="ctr"/>
          <a:lstStyle/>
          <a:p>
            <a:pPr indent="0" marL="0">
              <a:buNone/>
            </a:pPr>
            <a:r>
              <a:rPr lang="en-US" sz="1500" b="1" dirty="0">
                <a:solidFill>
                  <a:schemeClr val="accent1"/>
                </a:solidFill>
              </a:rPr>
              <a:t>Goal</a:t>
            </a:r>
            <a:endParaRPr lang="en-US" sz="1500" dirty="0"/>
          </a:p>
        </p:txBody>
      </p:sp>
      <p:sp>
        <p:nvSpPr>
          <p:cNvPr id="8" name="Text 6"/>
          <p:cNvSpPr txBox="1"/>
          <p:nvPr/>
        </p:nvSpPr>
        <p:spPr>
          <a:xfrm>
            <a:off x="2331720" y="2615184"/>
            <a:ext cx="3429000" cy="548640"/>
          </a:xfrm>
          <a:prstGeom prst="rect">
            <a:avLst/>
          </a:prstGeom>
          <a:noFill/>
          <a:ln/>
        </p:spPr>
        <p:txBody>
          <a:bodyPr wrap="square" lIns="0" tIns="0" rIns="0" bIns="0" rtlCol="0" anchor="ctr"/>
          <a:lstStyle/>
          <a:p>
            <a:pPr indent="0" marL="0">
              <a:buNone/>
            </a:pPr>
            <a:r>
              <a:rPr lang="en-US" sz="1400" dirty="0">
                <a:solidFill>
                  <a:schemeClr val="tx1"/>
                </a:solidFill>
              </a:rPr>
              <a:t>semua sekolah terlayani &amp; Granmax di SPPG</a:t>
            </a:r>
            <a:endParaRPr lang="en-US" sz="1400" dirty="0"/>
          </a:p>
        </p:txBody>
      </p:sp>
      <p:sp>
        <p:nvSpPr>
          <p:cNvPr id="9" name="Text 7"/>
          <p:cNvSpPr txBox="1"/>
          <p:nvPr/>
        </p:nvSpPr>
        <p:spPr>
          <a:xfrm>
            <a:off x="548640" y="3236976"/>
            <a:ext cx="1737360" cy="548640"/>
          </a:xfrm>
          <a:prstGeom prst="rect">
            <a:avLst/>
          </a:prstGeom>
          <a:noFill/>
          <a:ln/>
        </p:spPr>
        <p:txBody>
          <a:bodyPr wrap="square" lIns="0" tIns="0" rIns="0" bIns="0" rtlCol="0" anchor="ctr"/>
          <a:lstStyle/>
          <a:p>
            <a:pPr indent="0" marL="0">
              <a:buNone/>
            </a:pPr>
            <a:r>
              <a:rPr lang="en-US" sz="1500" b="1" dirty="0">
                <a:solidFill>
                  <a:schemeClr val="accent1"/>
                </a:solidFill>
              </a:rPr>
              <a:t>Biaya langkah</a:t>
            </a:r>
            <a:endParaRPr lang="en-US" sz="1500" dirty="0"/>
          </a:p>
        </p:txBody>
      </p:sp>
      <p:sp>
        <p:nvSpPr>
          <p:cNvPr id="10" name="Text 8"/>
          <p:cNvSpPr txBox="1"/>
          <p:nvPr/>
        </p:nvSpPr>
        <p:spPr>
          <a:xfrm>
            <a:off x="2331720" y="3236976"/>
            <a:ext cx="3429000" cy="548640"/>
          </a:xfrm>
          <a:prstGeom prst="rect">
            <a:avLst/>
          </a:prstGeom>
          <a:noFill/>
          <a:ln/>
        </p:spPr>
        <p:txBody>
          <a:bodyPr wrap="square" lIns="0" tIns="0" rIns="0" bIns="0" rtlCol="0" anchor="ctr"/>
          <a:lstStyle/>
          <a:p>
            <a:pPr indent="0" marL="0">
              <a:buNone/>
            </a:pPr>
            <a:r>
              <a:rPr lang="en-US" sz="1400" dirty="0">
                <a:solidFill>
                  <a:schemeClr val="tx1"/>
                </a:solidFill>
              </a:rPr>
              <a:t>kontribusi ruas ke F (bensin + waktu tiba)</a:t>
            </a:r>
            <a:endParaRPr lang="en-US" sz="1400" dirty="0"/>
          </a:p>
        </p:txBody>
      </p:sp>
      <p:sp>
        <p:nvSpPr>
          <p:cNvPr id="11" name="Text 9"/>
          <p:cNvSpPr txBox="1"/>
          <p:nvPr/>
        </p:nvSpPr>
        <p:spPr>
          <a:xfrm>
            <a:off x="548640" y="3858768"/>
            <a:ext cx="1737360" cy="548640"/>
          </a:xfrm>
          <a:prstGeom prst="rect">
            <a:avLst/>
          </a:prstGeom>
          <a:noFill/>
          <a:ln/>
        </p:spPr>
        <p:txBody>
          <a:bodyPr wrap="square" lIns="0" tIns="0" rIns="0" bIns="0" rtlCol="0" anchor="ctr"/>
          <a:lstStyle/>
          <a:p>
            <a:pPr indent="0" marL="0">
              <a:buNone/>
            </a:pPr>
            <a:r>
              <a:rPr lang="en-US" sz="1500" b="1" dirty="0">
                <a:solidFill>
                  <a:schemeClr val="accent1"/>
                </a:solidFill>
              </a:rPr>
              <a:t>Pangkas</a:t>
            </a:r>
            <a:endParaRPr lang="en-US" sz="1500" dirty="0"/>
          </a:p>
        </p:txBody>
      </p:sp>
      <p:sp>
        <p:nvSpPr>
          <p:cNvPr id="12" name="Text 10"/>
          <p:cNvSpPr txBox="1"/>
          <p:nvPr/>
        </p:nvSpPr>
        <p:spPr>
          <a:xfrm>
            <a:off x="2331720" y="3858768"/>
            <a:ext cx="3429000" cy="548640"/>
          </a:xfrm>
          <a:prstGeom prst="rect">
            <a:avLst/>
          </a:prstGeom>
          <a:noFill/>
          <a:ln/>
        </p:spPr>
        <p:txBody>
          <a:bodyPr wrap="square" lIns="0" tIns="0" rIns="0" bIns="0" rtlCol="0" anchor="ctr"/>
          <a:lstStyle/>
          <a:p>
            <a:pPr indent="0" marL="0">
              <a:buNone/>
            </a:pPr>
            <a:r>
              <a:rPr lang="en-US" sz="1400" dirty="0">
                <a:solidFill>
                  <a:schemeClr val="tx1"/>
                </a:solidFill>
              </a:rPr>
              <a:t>tiba &gt; 3 jam · sisa tak terangkut · simetri urutan Granmax</a:t>
            </a:r>
            <a:endParaRPr lang="en-US" sz="1400" dirty="0"/>
          </a:p>
        </p:txBody>
      </p:sp>
      <p:sp>
        <p:nvSpPr>
          <p:cNvPr id="13" name="Shape 11"/>
          <p:cNvSpPr/>
          <p:nvPr/>
        </p:nvSpPr>
        <p:spPr>
          <a:xfrm>
            <a:off x="6035040" y="1325880"/>
            <a:ext cx="2724912" cy="1078992"/>
          </a:xfrm>
          <a:prstGeom prst="roundRect">
            <a:avLst>
              <a:gd name="adj" fmla="val 10169"/>
            </a:avLst>
          </a:prstGeom>
          <a:solidFill>
            <a:srgbClr val="EEF4F0"/>
          </a:solidFill>
          <a:ln w="12700">
            <a:solidFill>
              <a:srgbClr val="EEF4F0"/>
            </a:solidFill>
            <a:prstDash val="solid"/>
          </a:ln>
        </p:spPr>
      </p:sp>
      <p:sp>
        <p:nvSpPr>
          <p:cNvPr id="14" name="Shape 12"/>
          <p:cNvSpPr/>
          <p:nvPr/>
        </p:nvSpPr>
        <p:spPr>
          <a:xfrm>
            <a:off x="6035040" y="1435608"/>
            <a:ext cx="82296" cy="859536"/>
          </a:xfrm>
          <a:prstGeom prst="rect">
            <a:avLst/>
          </a:prstGeom>
          <a:solidFill>
            <a:srgbClr val="2A78D6"/>
          </a:solidFill>
          <a:ln w="12700">
            <a:solidFill>
              <a:srgbClr val="2A78D6"/>
            </a:solidFill>
            <a:prstDash val="solid"/>
          </a:ln>
        </p:spPr>
      </p:sp>
      <p:sp>
        <p:nvSpPr>
          <p:cNvPr id="15" name="Text 13"/>
          <p:cNvSpPr txBox="1"/>
          <p:nvPr/>
        </p:nvSpPr>
        <p:spPr>
          <a:xfrm>
            <a:off x="6263640" y="1417320"/>
            <a:ext cx="137160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BFS</a:t>
            </a:r>
            <a:endParaRPr lang="en-US" sz="1800" dirty="0"/>
          </a:p>
        </p:txBody>
      </p:sp>
      <p:sp>
        <p:nvSpPr>
          <p:cNvPr id="16" name="Text 14"/>
          <p:cNvSpPr txBox="1"/>
          <p:nvPr/>
        </p:nvSpPr>
        <p:spPr>
          <a:xfrm>
            <a:off x="7452360" y="1453896"/>
            <a:ext cx="1188720" cy="320040"/>
          </a:xfrm>
          <a:prstGeom prst="rect">
            <a:avLst/>
          </a:prstGeom>
          <a:noFill/>
          <a:ln/>
        </p:spPr>
        <p:txBody>
          <a:bodyPr wrap="square" lIns="0" tIns="0" rIns="0" bIns="0" rtlCol="0" anchor="t"/>
          <a:lstStyle/>
          <a:p>
            <a:pPr algn="r" indent="0" marL="0">
              <a:buNone/>
            </a:pPr>
            <a:r>
              <a:rPr lang="en-US" sz="1100" b="1" dirty="0">
                <a:solidFill>
                  <a:srgbClr val="B4561A"/>
                </a:solidFill>
              </a:rPr>
              <a:t>tidak optimal</a:t>
            </a:r>
            <a:endParaRPr lang="en-US" sz="1100" dirty="0"/>
          </a:p>
        </p:txBody>
      </p:sp>
      <p:sp>
        <p:nvSpPr>
          <p:cNvPr id="17" name="Text 15"/>
          <p:cNvSpPr txBox="1"/>
          <p:nvPr/>
        </p:nvSpPr>
        <p:spPr>
          <a:xfrm>
            <a:off x="6263640" y="1828800"/>
            <a:ext cx="2377440" cy="502920"/>
          </a:xfrm>
          <a:prstGeom prst="rect">
            <a:avLst/>
          </a:prstGeom>
          <a:noFill/>
          <a:ln/>
        </p:spPr>
        <p:txBody>
          <a:bodyPr wrap="square" lIns="0" tIns="0" rIns="0" bIns="0" rtlCol="0" anchor="t"/>
          <a:lstStyle/>
          <a:p>
            <a:pPr indent="0" marL="0">
              <a:buNone/>
            </a:pPr>
            <a:r>
              <a:rPr lang="en-US" sz="1200" dirty="0">
                <a:solidFill>
                  <a:srgbClr val="5E6B65"/>
                </a:solidFill>
              </a:rPr>
              <a:t>FIFO · Granmax paling sedikit</a:t>
            </a:r>
            <a:endParaRPr lang="en-US" sz="1200" dirty="0"/>
          </a:p>
        </p:txBody>
      </p:sp>
      <p:sp>
        <p:nvSpPr>
          <p:cNvPr id="18" name="Shape 16"/>
          <p:cNvSpPr/>
          <p:nvPr/>
        </p:nvSpPr>
        <p:spPr>
          <a:xfrm>
            <a:off x="8869680" y="1325880"/>
            <a:ext cx="2724912" cy="1078992"/>
          </a:xfrm>
          <a:prstGeom prst="roundRect">
            <a:avLst>
              <a:gd name="adj" fmla="val 10169"/>
            </a:avLst>
          </a:prstGeom>
          <a:solidFill>
            <a:srgbClr val="EEF4F0"/>
          </a:solidFill>
          <a:ln w="12700">
            <a:solidFill>
              <a:srgbClr val="EEF4F0"/>
            </a:solidFill>
            <a:prstDash val="solid"/>
          </a:ln>
        </p:spPr>
      </p:sp>
      <p:sp>
        <p:nvSpPr>
          <p:cNvPr id="19" name="Shape 17"/>
          <p:cNvSpPr/>
          <p:nvPr/>
        </p:nvSpPr>
        <p:spPr>
          <a:xfrm>
            <a:off x="8869680" y="1435608"/>
            <a:ext cx="82296" cy="859536"/>
          </a:xfrm>
          <a:prstGeom prst="rect">
            <a:avLst/>
          </a:prstGeom>
          <a:solidFill>
            <a:srgbClr val="EB6834"/>
          </a:solidFill>
          <a:ln w="12700">
            <a:solidFill>
              <a:srgbClr val="EB6834"/>
            </a:solidFill>
            <a:prstDash val="solid"/>
          </a:ln>
        </p:spPr>
      </p:sp>
      <p:sp>
        <p:nvSpPr>
          <p:cNvPr id="20" name="Text 18"/>
          <p:cNvSpPr txBox="1"/>
          <p:nvPr/>
        </p:nvSpPr>
        <p:spPr>
          <a:xfrm>
            <a:off x="9098280" y="1417320"/>
            <a:ext cx="137160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IDS</a:t>
            </a:r>
            <a:endParaRPr lang="en-US" sz="1800" dirty="0"/>
          </a:p>
        </p:txBody>
      </p:sp>
      <p:sp>
        <p:nvSpPr>
          <p:cNvPr id="21" name="Text 19"/>
          <p:cNvSpPr txBox="1"/>
          <p:nvPr/>
        </p:nvSpPr>
        <p:spPr>
          <a:xfrm>
            <a:off x="10287000" y="1453896"/>
            <a:ext cx="1188720" cy="320040"/>
          </a:xfrm>
          <a:prstGeom prst="rect">
            <a:avLst/>
          </a:prstGeom>
          <a:noFill/>
          <a:ln/>
        </p:spPr>
        <p:txBody>
          <a:bodyPr wrap="square" lIns="0" tIns="0" rIns="0" bIns="0" rtlCol="0" anchor="t"/>
          <a:lstStyle/>
          <a:p>
            <a:pPr algn="r" indent="0" marL="0">
              <a:buNone/>
            </a:pPr>
            <a:r>
              <a:rPr lang="en-US" sz="1100" b="1" dirty="0">
                <a:solidFill>
                  <a:srgbClr val="B4561A"/>
                </a:solidFill>
              </a:rPr>
              <a:t>tidak optimal</a:t>
            </a:r>
            <a:endParaRPr lang="en-US" sz="1100" dirty="0"/>
          </a:p>
        </p:txBody>
      </p:sp>
      <p:sp>
        <p:nvSpPr>
          <p:cNvPr id="22" name="Text 20"/>
          <p:cNvSpPr txBox="1"/>
          <p:nvPr/>
        </p:nvSpPr>
        <p:spPr>
          <a:xfrm>
            <a:off x="9098280" y="1828800"/>
            <a:ext cx="2377440" cy="502920"/>
          </a:xfrm>
          <a:prstGeom prst="rect">
            <a:avLst/>
          </a:prstGeom>
          <a:noFill/>
          <a:ln/>
        </p:spPr>
        <p:txBody>
          <a:bodyPr wrap="square" lIns="0" tIns="0" rIns="0" bIns="0" rtlCol="0" anchor="t"/>
          <a:lstStyle/>
          <a:p>
            <a:pPr indent="0" marL="0">
              <a:buNone/>
            </a:pPr>
            <a:r>
              <a:rPr lang="en-US" sz="1200" dirty="0">
                <a:solidFill>
                  <a:srgbClr val="5E6B65"/>
                </a:solidFill>
              </a:rPr>
              <a:t>DFS berbatas naik · sama dengan BFS, memori kecil</a:t>
            </a:r>
            <a:endParaRPr lang="en-US" sz="1200" dirty="0"/>
          </a:p>
        </p:txBody>
      </p:sp>
      <p:sp>
        <p:nvSpPr>
          <p:cNvPr id="23" name="Shape 21"/>
          <p:cNvSpPr/>
          <p:nvPr/>
        </p:nvSpPr>
        <p:spPr>
          <a:xfrm>
            <a:off x="6035040" y="2532888"/>
            <a:ext cx="2724912" cy="1078992"/>
          </a:xfrm>
          <a:prstGeom prst="roundRect">
            <a:avLst>
              <a:gd name="adj" fmla="val 10169"/>
            </a:avLst>
          </a:prstGeom>
          <a:solidFill>
            <a:srgbClr val="EEF4F0"/>
          </a:solidFill>
          <a:ln w="12700">
            <a:solidFill>
              <a:srgbClr val="EEF4F0"/>
            </a:solidFill>
            <a:prstDash val="solid"/>
          </a:ln>
        </p:spPr>
      </p:sp>
      <p:sp>
        <p:nvSpPr>
          <p:cNvPr id="24" name="Shape 22"/>
          <p:cNvSpPr/>
          <p:nvPr/>
        </p:nvSpPr>
        <p:spPr>
          <a:xfrm>
            <a:off x="6035040" y="2642616"/>
            <a:ext cx="82296" cy="859536"/>
          </a:xfrm>
          <a:prstGeom prst="rect">
            <a:avLst/>
          </a:prstGeom>
          <a:solidFill>
            <a:srgbClr val="1BAF7A"/>
          </a:solidFill>
          <a:ln w="12700">
            <a:solidFill>
              <a:srgbClr val="1BAF7A"/>
            </a:solidFill>
            <a:prstDash val="solid"/>
          </a:ln>
        </p:spPr>
      </p:sp>
      <p:sp>
        <p:nvSpPr>
          <p:cNvPr id="25" name="Text 23"/>
          <p:cNvSpPr txBox="1"/>
          <p:nvPr/>
        </p:nvSpPr>
        <p:spPr>
          <a:xfrm>
            <a:off x="6263640" y="2624328"/>
            <a:ext cx="137160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DFS-B&amp;B</a:t>
            </a:r>
            <a:endParaRPr lang="en-US" sz="1800" dirty="0"/>
          </a:p>
        </p:txBody>
      </p:sp>
      <p:sp>
        <p:nvSpPr>
          <p:cNvPr id="26" name="Text 24"/>
          <p:cNvSpPr txBox="1"/>
          <p:nvPr/>
        </p:nvSpPr>
        <p:spPr>
          <a:xfrm>
            <a:off x="7452360" y="2660904"/>
            <a:ext cx="1188720" cy="320040"/>
          </a:xfrm>
          <a:prstGeom prst="rect">
            <a:avLst/>
          </a:prstGeom>
          <a:noFill/>
          <a:ln/>
        </p:spPr>
        <p:txBody>
          <a:bodyPr wrap="square" lIns="0" tIns="0" rIns="0" bIns="0" rtlCol="0" anchor="t"/>
          <a:lstStyle/>
          <a:p>
            <a:pPr algn="r" indent="0" marL="0">
              <a:buNone/>
            </a:pPr>
            <a:r>
              <a:rPr lang="en-US" sz="1100" b="1" dirty="0">
                <a:solidFill>
                  <a:srgbClr val="1F5C46"/>
                </a:solidFill>
              </a:rPr>
              <a:t>optimal</a:t>
            </a:r>
            <a:endParaRPr lang="en-US" sz="1100" dirty="0"/>
          </a:p>
        </p:txBody>
      </p:sp>
      <p:sp>
        <p:nvSpPr>
          <p:cNvPr id="27" name="Text 25"/>
          <p:cNvSpPr txBox="1"/>
          <p:nvPr/>
        </p:nvSpPr>
        <p:spPr>
          <a:xfrm>
            <a:off x="6263640" y="3035808"/>
            <a:ext cx="2377440" cy="502920"/>
          </a:xfrm>
          <a:prstGeom prst="rect">
            <a:avLst/>
          </a:prstGeom>
          <a:noFill/>
          <a:ln/>
        </p:spPr>
        <p:txBody>
          <a:bodyPr wrap="square" lIns="0" tIns="0" rIns="0" bIns="0" rtlCol="0" anchor="t"/>
          <a:lstStyle/>
          <a:p>
            <a:pPr indent="0" marL="0">
              <a:buNone/>
            </a:pPr>
            <a:r>
              <a:rPr lang="en-US" sz="1200" dirty="0">
                <a:solidFill>
                  <a:srgbClr val="5E6B65"/>
                </a:solidFill>
              </a:rPr>
              <a:t>LIFO + batas · pangkas jika g ≥ terbaik</a:t>
            </a:r>
            <a:endParaRPr lang="en-US" sz="1200" dirty="0"/>
          </a:p>
        </p:txBody>
      </p:sp>
      <p:sp>
        <p:nvSpPr>
          <p:cNvPr id="28" name="Shape 26"/>
          <p:cNvSpPr/>
          <p:nvPr/>
        </p:nvSpPr>
        <p:spPr>
          <a:xfrm>
            <a:off x="8869680" y="2532888"/>
            <a:ext cx="2724912" cy="1078992"/>
          </a:xfrm>
          <a:prstGeom prst="roundRect">
            <a:avLst>
              <a:gd name="adj" fmla="val 10169"/>
            </a:avLst>
          </a:prstGeom>
          <a:solidFill>
            <a:srgbClr val="EEF4F0"/>
          </a:solidFill>
          <a:ln w="12700">
            <a:solidFill>
              <a:srgbClr val="EEF4F0"/>
            </a:solidFill>
            <a:prstDash val="solid"/>
          </a:ln>
        </p:spPr>
      </p:sp>
      <p:sp>
        <p:nvSpPr>
          <p:cNvPr id="29" name="Shape 27"/>
          <p:cNvSpPr/>
          <p:nvPr/>
        </p:nvSpPr>
        <p:spPr>
          <a:xfrm>
            <a:off x="8869680" y="2642616"/>
            <a:ext cx="82296" cy="859536"/>
          </a:xfrm>
          <a:prstGeom prst="rect">
            <a:avLst/>
          </a:prstGeom>
          <a:solidFill>
            <a:srgbClr val="EDA100"/>
          </a:solidFill>
          <a:ln w="12700">
            <a:solidFill>
              <a:srgbClr val="EDA100"/>
            </a:solidFill>
            <a:prstDash val="solid"/>
          </a:ln>
        </p:spPr>
      </p:sp>
      <p:sp>
        <p:nvSpPr>
          <p:cNvPr id="30" name="Text 28"/>
          <p:cNvSpPr txBox="1"/>
          <p:nvPr/>
        </p:nvSpPr>
        <p:spPr>
          <a:xfrm>
            <a:off x="9098280" y="2624328"/>
            <a:ext cx="137160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UCS</a:t>
            </a:r>
            <a:endParaRPr lang="en-US" sz="1800" dirty="0"/>
          </a:p>
        </p:txBody>
      </p:sp>
      <p:sp>
        <p:nvSpPr>
          <p:cNvPr id="31" name="Text 29"/>
          <p:cNvSpPr txBox="1"/>
          <p:nvPr/>
        </p:nvSpPr>
        <p:spPr>
          <a:xfrm>
            <a:off x="10287000" y="2660904"/>
            <a:ext cx="1188720" cy="320040"/>
          </a:xfrm>
          <a:prstGeom prst="rect">
            <a:avLst/>
          </a:prstGeom>
          <a:noFill/>
          <a:ln/>
        </p:spPr>
        <p:txBody>
          <a:bodyPr wrap="square" lIns="0" tIns="0" rIns="0" bIns="0" rtlCol="0" anchor="t"/>
          <a:lstStyle/>
          <a:p>
            <a:pPr algn="r" indent="0" marL="0">
              <a:buNone/>
            </a:pPr>
            <a:r>
              <a:rPr lang="en-US" sz="1100" b="1" dirty="0">
                <a:solidFill>
                  <a:srgbClr val="1F5C46"/>
                </a:solidFill>
              </a:rPr>
              <a:t>optimal</a:t>
            </a:r>
            <a:endParaRPr lang="en-US" sz="1100" dirty="0"/>
          </a:p>
        </p:txBody>
      </p:sp>
      <p:sp>
        <p:nvSpPr>
          <p:cNvPr id="32" name="Text 30"/>
          <p:cNvSpPr txBox="1"/>
          <p:nvPr/>
        </p:nvSpPr>
        <p:spPr>
          <a:xfrm>
            <a:off x="9098280" y="3035808"/>
            <a:ext cx="2377440" cy="502920"/>
          </a:xfrm>
          <a:prstGeom prst="rect">
            <a:avLst/>
          </a:prstGeom>
          <a:noFill/>
          <a:ln/>
        </p:spPr>
        <p:txBody>
          <a:bodyPr wrap="square" lIns="0" tIns="0" rIns="0" bIns="0" rtlCol="0" anchor="t"/>
          <a:lstStyle/>
          <a:p>
            <a:pPr indent="0" marL="0">
              <a:buNone/>
            </a:pPr>
            <a:r>
              <a:rPr lang="en-US" sz="1200" dirty="0">
                <a:solidFill>
                  <a:srgbClr val="5E6B65"/>
                </a:solidFill>
              </a:rPr>
              <a:t>f = g · biaya jalur terkecil dulu</a:t>
            </a:r>
            <a:endParaRPr lang="en-US" sz="1200" dirty="0"/>
          </a:p>
        </p:txBody>
      </p:sp>
      <p:sp>
        <p:nvSpPr>
          <p:cNvPr id="33" name="Shape 31"/>
          <p:cNvSpPr/>
          <p:nvPr/>
        </p:nvSpPr>
        <p:spPr>
          <a:xfrm>
            <a:off x="6035040" y="3739896"/>
            <a:ext cx="2724912" cy="1078992"/>
          </a:xfrm>
          <a:prstGeom prst="roundRect">
            <a:avLst>
              <a:gd name="adj" fmla="val 10169"/>
            </a:avLst>
          </a:prstGeom>
          <a:solidFill>
            <a:srgbClr val="EEF4F0"/>
          </a:solidFill>
          <a:ln w="12700">
            <a:solidFill>
              <a:srgbClr val="EEF4F0"/>
            </a:solidFill>
            <a:prstDash val="solid"/>
          </a:ln>
        </p:spPr>
      </p:sp>
      <p:sp>
        <p:nvSpPr>
          <p:cNvPr id="34" name="Shape 32"/>
          <p:cNvSpPr/>
          <p:nvPr/>
        </p:nvSpPr>
        <p:spPr>
          <a:xfrm>
            <a:off x="6035040" y="3849624"/>
            <a:ext cx="82296" cy="859536"/>
          </a:xfrm>
          <a:prstGeom prst="rect">
            <a:avLst/>
          </a:prstGeom>
          <a:solidFill>
            <a:srgbClr val="008300"/>
          </a:solidFill>
          <a:ln w="12700">
            <a:solidFill>
              <a:srgbClr val="008300"/>
            </a:solidFill>
            <a:prstDash val="solid"/>
          </a:ln>
        </p:spPr>
      </p:sp>
      <p:sp>
        <p:nvSpPr>
          <p:cNvPr id="35" name="Text 33"/>
          <p:cNvSpPr txBox="1"/>
          <p:nvPr/>
        </p:nvSpPr>
        <p:spPr>
          <a:xfrm>
            <a:off x="6263640" y="3831336"/>
            <a:ext cx="137160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a:t>
            </a:r>
            <a:endParaRPr lang="en-US" sz="1800" dirty="0"/>
          </a:p>
        </p:txBody>
      </p:sp>
      <p:sp>
        <p:nvSpPr>
          <p:cNvPr id="36" name="Text 34"/>
          <p:cNvSpPr txBox="1"/>
          <p:nvPr/>
        </p:nvSpPr>
        <p:spPr>
          <a:xfrm>
            <a:off x="7452360" y="3867912"/>
            <a:ext cx="1188720" cy="320040"/>
          </a:xfrm>
          <a:prstGeom prst="rect">
            <a:avLst/>
          </a:prstGeom>
          <a:noFill/>
          <a:ln/>
        </p:spPr>
        <p:txBody>
          <a:bodyPr wrap="square" lIns="0" tIns="0" rIns="0" bIns="0" rtlCol="0" anchor="t"/>
          <a:lstStyle/>
          <a:p>
            <a:pPr algn="r" indent="0" marL="0">
              <a:buNone/>
            </a:pPr>
            <a:r>
              <a:rPr lang="en-US" sz="1100" b="1" dirty="0">
                <a:solidFill>
                  <a:srgbClr val="1F5C46"/>
                </a:solidFill>
              </a:rPr>
              <a:t>optimal</a:t>
            </a:r>
            <a:endParaRPr lang="en-US" sz="1100" dirty="0"/>
          </a:p>
        </p:txBody>
      </p:sp>
      <p:sp>
        <p:nvSpPr>
          <p:cNvPr id="37" name="Text 35"/>
          <p:cNvSpPr txBox="1"/>
          <p:nvPr/>
        </p:nvSpPr>
        <p:spPr>
          <a:xfrm>
            <a:off x="6263640" y="4242816"/>
            <a:ext cx="2377440" cy="502920"/>
          </a:xfrm>
          <a:prstGeom prst="rect">
            <a:avLst/>
          </a:prstGeom>
          <a:noFill/>
          <a:ln/>
        </p:spPr>
        <p:txBody>
          <a:bodyPr wrap="square" lIns="0" tIns="0" rIns="0" bIns="0" rtlCol="0" anchor="t"/>
          <a:lstStyle/>
          <a:p>
            <a:pPr indent="0" marL="0">
              <a:buNone/>
            </a:pPr>
            <a:r>
              <a:rPr lang="en-US" sz="1200" dirty="0">
                <a:solidFill>
                  <a:srgbClr val="5E6B65"/>
                </a:solidFill>
              </a:rPr>
              <a:t>f = g + h · h admissible (h1 / h2)</a:t>
            </a:r>
            <a:endParaRPr lang="en-US" sz="1200" dirty="0"/>
          </a:p>
        </p:txBody>
      </p:sp>
      <p:sp>
        <p:nvSpPr>
          <p:cNvPr id="38" name="Shape 36"/>
          <p:cNvSpPr/>
          <p:nvPr/>
        </p:nvSpPr>
        <p:spPr>
          <a:xfrm>
            <a:off x="8869680" y="3739896"/>
            <a:ext cx="2724912" cy="1078992"/>
          </a:xfrm>
          <a:prstGeom prst="roundRect">
            <a:avLst>
              <a:gd name="adj" fmla="val 10169"/>
            </a:avLst>
          </a:prstGeom>
          <a:solidFill>
            <a:srgbClr val="EEF4F0"/>
          </a:solidFill>
          <a:ln w="12700">
            <a:solidFill>
              <a:srgbClr val="EEF4F0"/>
            </a:solidFill>
            <a:prstDash val="solid"/>
          </a:ln>
        </p:spPr>
      </p:sp>
      <p:sp>
        <p:nvSpPr>
          <p:cNvPr id="39" name="Shape 37"/>
          <p:cNvSpPr/>
          <p:nvPr/>
        </p:nvSpPr>
        <p:spPr>
          <a:xfrm>
            <a:off x="8869680" y="3849624"/>
            <a:ext cx="82296" cy="859536"/>
          </a:xfrm>
          <a:prstGeom prst="rect">
            <a:avLst/>
          </a:prstGeom>
          <a:solidFill>
            <a:srgbClr val="6250D6"/>
          </a:solidFill>
          <a:ln w="12700">
            <a:solidFill>
              <a:srgbClr val="6250D6"/>
            </a:solidFill>
            <a:prstDash val="solid"/>
          </a:ln>
        </p:spPr>
      </p:sp>
      <p:sp>
        <p:nvSpPr>
          <p:cNvPr id="40" name="Text 38"/>
          <p:cNvSpPr txBox="1"/>
          <p:nvPr/>
        </p:nvSpPr>
        <p:spPr>
          <a:xfrm>
            <a:off x="9098280" y="3831336"/>
            <a:ext cx="137160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GBFS</a:t>
            </a:r>
            <a:endParaRPr lang="en-US" sz="1800" dirty="0"/>
          </a:p>
        </p:txBody>
      </p:sp>
      <p:sp>
        <p:nvSpPr>
          <p:cNvPr id="41" name="Text 39"/>
          <p:cNvSpPr txBox="1"/>
          <p:nvPr/>
        </p:nvSpPr>
        <p:spPr>
          <a:xfrm>
            <a:off x="10287000" y="3867912"/>
            <a:ext cx="1188720" cy="320040"/>
          </a:xfrm>
          <a:prstGeom prst="rect">
            <a:avLst/>
          </a:prstGeom>
          <a:noFill/>
          <a:ln/>
        </p:spPr>
        <p:txBody>
          <a:bodyPr wrap="square" lIns="0" tIns="0" rIns="0" bIns="0" rtlCol="0" anchor="t"/>
          <a:lstStyle/>
          <a:p>
            <a:pPr algn="r" indent="0" marL="0">
              <a:buNone/>
            </a:pPr>
            <a:r>
              <a:rPr lang="en-US" sz="1100" b="1" dirty="0">
                <a:solidFill>
                  <a:srgbClr val="B4561A"/>
                </a:solidFill>
              </a:rPr>
              <a:t>tidak optimal</a:t>
            </a:r>
            <a:endParaRPr lang="en-US" sz="1100" dirty="0"/>
          </a:p>
        </p:txBody>
      </p:sp>
      <p:sp>
        <p:nvSpPr>
          <p:cNvPr id="42" name="Text 40"/>
          <p:cNvSpPr txBox="1"/>
          <p:nvPr/>
        </p:nvSpPr>
        <p:spPr>
          <a:xfrm>
            <a:off x="9098280" y="4242816"/>
            <a:ext cx="2377440" cy="502920"/>
          </a:xfrm>
          <a:prstGeom prst="rect">
            <a:avLst/>
          </a:prstGeom>
          <a:noFill/>
          <a:ln/>
        </p:spPr>
        <p:txBody>
          <a:bodyPr wrap="square" lIns="0" tIns="0" rIns="0" bIns="0" rtlCol="0" anchor="t"/>
          <a:lstStyle/>
          <a:p>
            <a:pPr indent="0" marL="0">
              <a:buNone/>
            </a:pPr>
            <a:r>
              <a:rPr lang="en-US" sz="1200" dirty="0">
                <a:solidFill>
                  <a:srgbClr val="5E6B65"/>
                </a:solidFill>
              </a:rPr>
              <a:t>f = h · cepat, abaikan g</a:t>
            </a:r>
            <a:endParaRPr lang="en-US" sz="1200" dirty="0"/>
          </a:p>
        </p:txBody>
      </p:sp>
      <p:sp>
        <p:nvSpPr>
          <p:cNvPr id="43" name="Shape 41"/>
          <p:cNvSpPr/>
          <p:nvPr/>
        </p:nvSpPr>
        <p:spPr>
          <a:xfrm>
            <a:off x="548640" y="4709160"/>
            <a:ext cx="5212080" cy="1463040"/>
          </a:xfrm>
          <a:prstGeom prst="roundRect">
            <a:avLst>
              <a:gd name="adj" fmla="val 7500"/>
            </a:avLst>
          </a:prstGeom>
          <a:solidFill>
            <a:srgbClr val="FFF4E8"/>
          </a:solidFill>
          <a:ln w="12700">
            <a:solidFill>
              <a:srgbClr val="FFF4E8"/>
            </a:solidFill>
            <a:prstDash val="solid"/>
          </a:ln>
        </p:spPr>
      </p:sp>
      <p:sp>
        <p:nvSpPr>
          <p:cNvPr id="44" name="Text 42"/>
          <p:cNvSpPr txBox="1"/>
          <p:nvPr/>
        </p:nvSpPr>
        <p:spPr>
          <a:xfrm>
            <a:off x="777240" y="4800600"/>
            <a:ext cx="4754880" cy="1325880"/>
          </a:xfrm>
          <a:prstGeom prst="rect">
            <a:avLst/>
          </a:prstGeom>
          <a:noFill/>
          <a:ln/>
        </p:spPr>
        <p:txBody>
          <a:bodyPr wrap="square" lIns="0" tIns="0" rIns="0" bIns="0" rtlCol="0" anchor="t"/>
          <a:lstStyle/>
          <a:p>
            <a:pPr indent="0" marL="0">
              <a:buNone/>
            </a:pPr>
            <a:r>
              <a:rPr lang="en-US" sz="1500" b="1" dirty="0">
                <a:solidFill>
                  <a:schemeClr val="tx1"/>
                </a:solidFill>
              </a:rPr>
              <a:t>Heuristik h2 (rancangan kami)</a:t>
            </a:r>
            <a:endParaRPr lang="en-US" sz="1600" dirty="0"/>
          </a:p>
          <a:p>
            <a:pPr indent="0" marL="0">
              <a:buNone/>
            </a:pPr>
            <a:r>
              <a:rPr lang="en-US" sz="1300" dirty="0">
                <a:solidFill>
                  <a:srgbClr val="5E6B65"/>
                </a:solidFill>
              </a:rPr>
              <a:t>Tiap Granmax hanya punya 1 sekolah urutan ke-1, ke-2, ke-3. Sekolah dipasangkan ke slot termurah (algoritma Hungaria) → batas bawah yang ketat dan tetap admissible.</a:t>
            </a:r>
            <a:endParaRPr lang="en-US" sz="1600" dirty="0"/>
          </a:p>
        </p:txBody>
      </p:sp>
      <p:sp>
        <p:nvSpPr>
          <p:cNvPr id="45" name="Text 43"/>
          <p:cNvSpPr txBox="1"/>
          <p:nvPr/>
        </p:nvSpPr>
        <p:spPr>
          <a:xfrm>
            <a:off x="6035040" y="5029200"/>
            <a:ext cx="5577840" cy="822960"/>
          </a:xfrm>
          <a:prstGeom prst="rect">
            <a:avLst/>
          </a:prstGeom>
          <a:noFill/>
          <a:ln/>
        </p:spPr>
        <p:txBody>
          <a:bodyPr wrap="square" lIns="0" tIns="0" rIns="0" bIns="0" rtlCol="0" anchor="t"/>
          <a:lstStyle/>
          <a:p>
            <a:pPr indent="0" marL="0">
              <a:buNone/>
            </a:pPr>
            <a:r>
              <a:rPr lang="en-US" sz="1400" dirty="0">
                <a:solidFill>
                  <a:srgbClr val="5E6B65"/>
                </a:solidFill>
              </a:rPr>
              <a:t>h1 (pembanding): jalan masuk termurah ke tiap sekolah tersisa</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Heuristik yang baik memangkas pencarian</a:t>
            </a:r>
            <a:endParaRPr lang="en-US" sz="3200" dirty="0"/>
          </a:p>
        </p:txBody>
      </p:sp>
      <p:pic>
        <p:nvPicPr>
          <p:cNvPr id="3" name="Image 0" descr="/home/roxasz/project/kka-2026/results/fig_search_scaling.png">    </p:cNvPr>
          <p:cNvPicPr>
            <a:picLocks noChangeAspect="1"/>
          </p:cNvPicPr>
          <p:nvPr/>
        </p:nvPicPr>
        <p:blipFill>
          <a:blip r:embed="rId1"/>
          <a:stretch>
            <a:fillRect/>
          </a:stretch>
        </p:blipFill>
        <p:spPr>
          <a:xfrm>
            <a:off x="548640" y="1293460"/>
            <a:ext cx="7589520" cy="3173799"/>
          </a:xfrm>
          <a:prstGeom prst="rect">
            <a:avLst/>
          </a:prstGeom>
        </p:spPr>
      </p:pic>
      <p:graphicFrame>
        <p:nvGraphicFramePr>
          <p:cNvPr id="4" name="Chart 0" descr=""/>
          <p:cNvGraphicFramePr/>
          <p:nvPr/>
        </p:nvGraphicFramePr>
        <p:xfrm>
          <a:off x="8321040" y="1234440"/>
          <a:ext cx="3319272" cy="329184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4754880"/>
            <a:ext cx="2743200" cy="1463040"/>
          </a:xfrm>
          <a:prstGeom prst="roundRect">
            <a:avLst>
              <a:gd name="adj" fmla="val 7500"/>
            </a:avLst>
          </a:prstGeom>
          <a:solidFill>
            <a:srgbClr val="EEF4F0"/>
          </a:solidFill>
          <a:ln w="12700">
            <a:solidFill>
              <a:srgbClr val="EEF4F0"/>
            </a:solidFill>
            <a:prstDash val="solid"/>
          </a:ln>
        </p:spPr>
      </p:sp>
      <p:sp>
        <p:nvSpPr>
          <p:cNvPr id="6" name="Text 2"/>
          <p:cNvSpPr txBox="1"/>
          <p:nvPr/>
        </p:nvSpPr>
        <p:spPr>
          <a:xfrm>
            <a:off x="731520" y="4892040"/>
            <a:ext cx="2377440" cy="59436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9/9</a:t>
            </a:r>
            <a:endParaRPr lang="en-US" sz="2600" dirty="0"/>
          </a:p>
        </p:txBody>
      </p:sp>
      <p:sp>
        <p:nvSpPr>
          <p:cNvPr id="7" name="Text 3"/>
          <p:cNvSpPr txBox="1"/>
          <p:nvPr/>
        </p:nvSpPr>
        <p:spPr>
          <a:xfrm>
            <a:off x="731520" y="5504688"/>
            <a:ext cx="2377440" cy="594360"/>
          </a:xfrm>
          <a:prstGeom prst="rect">
            <a:avLst/>
          </a:prstGeom>
          <a:noFill/>
          <a:ln/>
        </p:spPr>
        <p:txBody>
          <a:bodyPr wrap="square" lIns="0" tIns="0" rIns="0" bIns="0" rtlCol="0" anchor="t"/>
          <a:lstStyle/>
          <a:p>
            <a:pPr indent="0" marL="0">
              <a:buNone/>
            </a:pPr>
            <a:r>
              <a:rPr lang="en-US" sz="1300" dirty="0">
                <a:solidFill>
                  <a:srgbClr val="5E6B65"/>
                </a:solidFill>
              </a:rPr>
              <a:t>sub-masalah nyata: UCS dan A* selalu optimal (DFS-B&amp;B 8/9, kena batas node)</a:t>
            </a:r>
            <a:endParaRPr lang="en-US" sz="1300" dirty="0"/>
          </a:p>
        </p:txBody>
      </p:sp>
      <p:sp>
        <p:nvSpPr>
          <p:cNvPr id="8" name="Shape 4"/>
          <p:cNvSpPr/>
          <p:nvPr/>
        </p:nvSpPr>
        <p:spPr>
          <a:xfrm>
            <a:off x="3429000" y="4754880"/>
            <a:ext cx="2743200" cy="1463040"/>
          </a:xfrm>
          <a:prstGeom prst="roundRect">
            <a:avLst>
              <a:gd name="adj" fmla="val 7500"/>
            </a:avLst>
          </a:prstGeom>
          <a:solidFill>
            <a:srgbClr val="EEF4F0"/>
          </a:solidFill>
          <a:ln w="12700">
            <a:solidFill>
              <a:srgbClr val="EEF4F0"/>
            </a:solidFill>
            <a:prstDash val="solid"/>
          </a:ln>
        </p:spPr>
      </p:sp>
      <p:sp>
        <p:nvSpPr>
          <p:cNvPr id="9" name="Text 5"/>
          <p:cNvSpPr txBox="1"/>
          <p:nvPr/>
        </p:nvSpPr>
        <p:spPr>
          <a:xfrm>
            <a:off x="3611880" y="4892040"/>
            <a:ext cx="2377440" cy="59436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a:t>
            </a:r>
            <a:endParaRPr lang="en-US" sz="2600" dirty="0"/>
          </a:p>
        </p:txBody>
      </p:sp>
      <p:sp>
        <p:nvSpPr>
          <p:cNvPr id="10" name="Text 6"/>
          <p:cNvSpPr txBox="1"/>
          <p:nvPr/>
        </p:nvSpPr>
        <p:spPr>
          <a:xfrm>
            <a:off x="3611880" y="5504688"/>
            <a:ext cx="2377440" cy="594360"/>
          </a:xfrm>
          <a:prstGeom prst="rect">
            <a:avLst/>
          </a:prstGeom>
          <a:noFill/>
          <a:ln/>
        </p:spPr>
        <p:txBody>
          <a:bodyPr wrap="square" lIns="0" tIns="0" rIns="0" bIns="0" rtlCol="0" anchor="t"/>
          <a:lstStyle/>
          <a:p>
            <a:pPr indent="0" marL="0">
              <a:buNone/>
            </a:pPr>
            <a:r>
              <a:rPr lang="en-US" sz="1300" dirty="0">
                <a:solidFill>
                  <a:srgbClr val="5E6B65"/>
                </a:solidFill>
              </a:rPr>
              <a:t>node lebih sedikit: A* (h2) vs UCS</a:t>
            </a:r>
            <a:endParaRPr lang="en-US" sz="1300" dirty="0"/>
          </a:p>
        </p:txBody>
      </p:sp>
      <p:sp>
        <p:nvSpPr>
          <p:cNvPr id="11" name="Shape 7"/>
          <p:cNvSpPr/>
          <p:nvPr/>
        </p:nvSpPr>
        <p:spPr>
          <a:xfrm>
            <a:off x="6309360" y="4754880"/>
            <a:ext cx="2743200" cy="1463040"/>
          </a:xfrm>
          <a:prstGeom prst="roundRect">
            <a:avLst>
              <a:gd name="adj" fmla="val 7500"/>
            </a:avLst>
          </a:prstGeom>
          <a:solidFill>
            <a:srgbClr val="EEF4F0"/>
          </a:solidFill>
          <a:ln w="12700">
            <a:solidFill>
              <a:srgbClr val="EEF4F0"/>
            </a:solidFill>
            <a:prstDash val="solid"/>
          </a:ln>
        </p:spPr>
      </p:sp>
      <p:sp>
        <p:nvSpPr>
          <p:cNvPr id="12" name="Text 8"/>
          <p:cNvSpPr txBox="1"/>
          <p:nvPr/>
        </p:nvSpPr>
        <p:spPr>
          <a:xfrm>
            <a:off x="6492240" y="4892040"/>
            <a:ext cx="2377440" cy="59436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+66%</a:t>
            </a:r>
            <a:endParaRPr lang="en-US" sz="2600" dirty="0"/>
          </a:p>
        </p:txBody>
      </p:sp>
      <p:sp>
        <p:nvSpPr>
          <p:cNvPr id="13" name="Text 9"/>
          <p:cNvSpPr txBox="1"/>
          <p:nvPr/>
        </p:nvSpPr>
        <p:spPr>
          <a:xfrm>
            <a:off x="6492240" y="5504688"/>
            <a:ext cx="2377440" cy="594360"/>
          </a:xfrm>
          <a:prstGeom prst="rect">
            <a:avLst/>
          </a:prstGeom>
          <a:noFill/>
          <a:ln/>
        </p:spPr>
        <p:txBody>
          <a:bodyPr wrap="square" lIns="0" tIns="0" rIns="0" bIns="0" rtlCol="0" anchor="t"/>
          <a:lstStyle/>
          <a:p>
            <a:pPr indent="0" marL="0">
              <a:buNone/>
            </a:pPr>
            <a:r>
              <a:rPr lang="en-US" sz="1300" dirty="0">
                <a:solidFill>
                  <a:srgbClr val="5E6B65"/>
                </a:solidFill>
              </a:rPr>
              <a:t>BFS/IDS: Granmax paling sedikit ≠ termurah</a:t>
            </a:r>
            <a:endParaRPr lang="en-US" sz="1300" dirty="0"/>
          </a:p>
        </p:txBody>
      </p:sp>
      <p:sp>
        <p:nvSpPr>
          <p:cNvPr id="14" name="Shape 10"/>
          <p:cNvSpPr/>
          <p:nvPr/>
        </p:nvSpPr>
        <p:spPr>
          <a:xfrm>
            <a:off x="9189720" y="4754880"/>
            <a:ext cx="2450592" cy="1463040"/>
          </a:xfrm>
          <a:prstGeom prst="roundRect">
            <a:avLst>
              <a:gd name="adj" fmla="val 7500"/>
            </a:avLst>
          </a:prstGeom>
          <a:solidFill>
            <a:srgbClr val="EEF4F0"/>
          </a:solidFill>
          <a:ln w="12700">
            <a:solidFill>
              <a:srgbClr val="EEF4F0"/>
            </a:solidFill>
            <a:prstDash val="solid"/>
          </a:ln>
        </p:spPr>
      </p:sp>
      <p:sp>
        <p:nvSpPr>
          <p:cNvPr id="15" name="Text 11"/>
          <p:cNvSpPr txBox="1"/>
          <p:nvPr/>
        </p:nvSpPr>
        <p:spPr>
          <a:xfrm>
            <a:off x="9372600" y="4892040"/>
            <a:ext cx="2084832" cy="59436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+73%</a:t>
            </a:r>
            <a:endParaRPr lang="en-US" sz="2600" dirty="0"/>
          </a:p>
        </p:txBody>
      </p:sp>
      <p:sp>
        <p:nvSpPr>
          <p:cNvPr id="16" name="Text 12"/>
          <p:cNvSpPr txBox="1"/>
          <p:nvPr/>
        </p:nvSpPr>
        <p:spPr>
          <a:xfrm>
            <a:off x="9372600" y="5504688"/>
            <a:ext cx="2084832" cy="594360"/>
          </a:xfrm>
          <a:prstGeom prst="rect">
            <a:avLst/>
          </a:prstGeom>
          <a:noFill/>
          <a:ln/>
        </p:spPr>
        <p:txBody>
          <a:bodyPr wrap="square" lIns="0" tIns="0" rIns="0" bIns="0" rtlCol="0" anchor="t"/>
          <a:lstStyle/>
          <a:p>
            <a:pPr indent="0" marL="0">
              <a:buNone/>
            </a:pPr>
            <a:r>
              <a:rPr lang="en-US" sz="1300" dirty="0">
                <a:solidFill>
                  <a:srgbClr val="5E6B65"/>
                </a:solidFill>
              </a:rPr>
              <a:t>GBFS: cepat, tapi tersesat tanpa g</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Perbandingan tujuh algoritma pada sub-masalah nyata</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1371600"/>
                <a:gridCol w="2103120"/>
                <a:gridCol w="2011680"/>
                <a:gridCol w="2011680"/>
                <a:gridCol w="1399032"/>
              </a:tblGrid>
              <a:tr h="475488">
                <a:tc>
                  <a:txBody>
                    <a:bodyPr/>
                    <a:lstStyle/>
                    <a:p>
                      <a:pPr algn="ctr" indent="0" marL="0">
                        <a:buNone/>
                      </a:pPr>
                      <a:r>
                        <a:rPr lang="en-US" sz="1500" b="1" dirty="0">
                          <a:solidFill>
                            <a:srgbClr val="FFFFFF"/>
                          </a:solidFill>
                        </a:rPr>
                        <a:t>Algoritma</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1F5C46"/>
                    </a:solidFill>
                  </a:tcPr>
                </a:tc>
                <a:tc>
                  <a:txBody>
                    <a:bodyPr/>
                    <a:lstStyle/>
                    <a:p>
                      <a:pPr algn="ctr" indent="0" marL="0">
                        <a:buNone/>
                      </a:pPr>
                      <a:r>
                        <a:rPr lang="en-US" sz="1500" b="1" dirty="0">
                          <a:solidFill>
                            <a:srgbClr val="FFFFFF"/>
                          </a:solidFill>
                        </a:rPr>
                        <a:t>Optimal</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1F5C46"/>
                    </a:solidFill>
                  </a:tcPr>
                </a:tc>
                <a:tc>
                  <a:txBody>
                    <a:bodyPr/>
                    <a:lstStyle/>
                    <a:p>
                      <a:pPr algn="ctr" indent="0" marL="0">
                        <a:buNone/>
                      </a:pPr>
                      <a:r>
                        <a:rPr lang="en-US" sz="1500" b="1" dirty="0">
                          <a:solidFill>
                            <a:srgbClr val="FFFFFF"/>
                          </a:solidFill>
                        </a:rPr>
                        <a:t>Selisih rata-rata</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1F5C46"/>
                    </a:solidFill>
                  </a:tcPr>
                </a:tc>
                <a:tc>
                  <a:txBody>
                    <a:bodyPr/>
                    <a:lstStyle/>
                    <a:p>
                      <a:pPr algn="ctr" indent="0" marL="0">
                        <a:buNone/>
                      </a:pPr>
                      <a:r>
                        <a:rPr lang="en-US" sz="1500" b="1" dirty="0">
                          <a:solidFill>
                            <a:srgbClr val="FFFFFF"/>
                          </a:solidFill>
                        </a:rPr>
                        <a:t>Node diekspansi</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1F5C46"/>
                    </a:solidFill>
                  </a:tcPr>
                </a:tc>
                <a:tc>
                  <a:txBody>
                    <a:bodyPr/>
                    <a:lstStyle/>
                    <a:p>
                      <a:pPr algn="ctr" indent="0" marL="0">
                        <a:buNone/>
                      </a:pPr>
                      <a:r>
                        <a:rPr lang="en-US" sz="1500" b="1" dirty="0">
                          <a:solidFill>
                            <a:srgbClr val="FFFFFF"/>
                          </a:solidFill>
                        </a:rPr>
                        <a:t>Memori maks. (node)</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1F5C46"/>
                    </a:solidFill>
                  </a:tcPr>
                </a:tc>
                <a:tc>
                  <a:txBody>
                    <a:bodyPr/>
                    <a:lstStyle/>
                    <a:p>
                      <a:pPr algn="ctr" indent="0" marL="0">
                        <a:buNone/>
                      </a:pPr>
                      <a:r>
                        <a:rPr lang="en-US" sz="1500" b="1" dirty="0">
                          <a:solidFill>
                            <a:srgbClr val="FFFFFF"/>
                          </a:solidFill>
                        </a:rPr>
                        <a:t>Waktu total</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1F5C46"/>
                    </a:solidFill>
                  </a:tcPr>
                </a:tc>
              </a:tr>
              <a:tr h="475488">
                <a:tc>
                  <a:txBody>
                    <a:bodyPr/>
                    <a:lstStyle/>
                    <a:p>
                      <a:pPr algn="l" indent="0" marL="0">
                        <a:buNone/>
                      </a:pPr>
                      <a:r>
                        <a:rPr lang="en-US" sz="1500" dirty="0">
                          <a:solidFill>
                            <a:srgbClr val="000000"/>
                          </a:solidFill>
                        </a:rPr>
                        <a:t>BFS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65,8%</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128.325</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80.948</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0,70 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00000"/>
                          </a:solidFill>
                        </a:rPr>
                        <a:t>IDS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78,4%</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4.056.125</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61</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12,81 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00000"/>
                          </a:solidFill>
                        </a:rPr>
                        <a:t>DFS-B&amp;B</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8/9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0,0%</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7.260.876</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60</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20,31 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00000"/>
                          </a:solidFill>
                        </a:rPr>
                        <a:t>UCS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9/9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126.558</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80.951</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1,12 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00000"/>
                          </a:solidFill>
                        </a:rPr>
                        <a:t>A* (h1)</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9/9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122.659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80.580</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3,12 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000000"/>
                          </a:solidFill>
                        </a:rPr>
                        <a:t>A* (h2)</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EAF2FC"/>
                    </a:solidFill>
                  </a:tcPr>
                </a:tc>
                <a:tc>
                  <a:txBody>
                    <a:bodyPr/>
                    <a:lstStyle/>
                    <a:p>
                      <a:pPr algn="ctr" indent="0" marL="0">
                        <a:buNone/>
                      </a:pPr>
                      <a:r>
                        <a:rPr lang="en-US" sz="1500" b="1" dirty="0">
                          <a:solidFill>
                            <a:srgbClr val="000000"/>
                          </a:solidFill>
                        </a:rPr>
                        <a:t>9/9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EAF2FC"/>
                    </a:solidFill>
                  </a:tcPr>
                </a:tc>
                <a:tc>
                  <a:txBody>
                    <a:bodyPr/>
                    <a:lstStyle/>
                    <a:p>
                      <a:pPr algn="ctr" indent="0" marL="0">
                        <a:buNone/>
                      </a:pPr>
                      <a:r>
                        <a:rPr lang="en-US" sz="1500" b="1" dirty="0">
                          <a:solidFill>
                            <a:srgbClr val="000000"/>
                          </a:solidFill>
                        </a:rPr>
                        <a:t>0%</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EAF2FC"/>
                    </a:solidFill>
                  </a:tcPr>
                </a:tc>
                <a:tc>
                  <a:txBody>
                    <a:bodyPr/>
                    <a:lstStyle/>
                    <a:p>
                      <a:pPr algn="ctr" indent="0" marL="0">
                        <a:buNone/>
                      </a:pPr>
                      <a:r>
                        <a:rPr lang="en-US" sz="1500" b="1" dirty="0">
                          <a:solidFill>
                            <a:srgbClr val="000000"/>
                          </a:solidFill>
                        </a:rPr>
                        <a:t>13.357</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EAF2FC"/>
                    </a:solidFill>
                  </a:tcPr>
                </a:tc>
                <a:tc>
                  <a:txBody>
                    <a:bodyPr/>
                    <a:lstStyle/>
                    <a:p>
                      <a:pPr algn="ctr" indent="0" marL="0">
                        <a:buNone/>
                      </a:pPr>
                      <a:r>
                        <a:rPr lang="en-US" sz="1500" b="1" dirty="0">
                          <a:solidFill>
                            <a:srgbClr val="000000"/>
                          </a:solidFill>
                        </a:rPr>
                        <a:t>25.731</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EAF2FC"/>
                    </a:solidFill>
                  </a:tcPr>
                </a:tc>
                <a:tc>
                  <a:txBody>
                    <a:bodyPr/>
                    <a:lstStyle/>
                    <a:p>
                      <a:pPr algn="ctr" indent="0" marL="0">
                        <a:buNone/>
                      </a:pPr>
                      <a:r>
                        <a:rPr lang="en-US" sz="1500" b="1" dirty="0">
                          <a:solidFill>
                            <a:srgbClr val="000000"/>
                          </a:solidFill>
                        </a:rPr>
                        <a:t>1,79 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EAF2FC"/>
                    </a:solidFill>
                  </a:tcPr>
                </a:tc>
              </a:tr>
              <a:tr h="475488">
                <a:tc>
                  <a:txBody>
                    <a:bodyPr/>
                    <a:lstStyle/>
                    <a:p>
                      <a:pPr algn="l" indent="0" marL="0">
                        <a:buNone/>
                      </a:pPr>
                      <a:r>
                        <a:rPr lang="en-US" sz="1500" dirty="0">
                          <a:solidFill>
                            <a:srgbClr val="000000"/>
                          </a:solidFill>
                        </a:rPr>
                        <a:t>GBFS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0/9</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73,4%</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983</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472</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rPr>
                        <a:t>0,04 s</a:t>
                      </a:r>
                      <a:endParaRPr lang="en-US" sz="1500" dirty="0"/>
                    </a:p>
                  </a:txBody>
                  <a:tcPr marL="91440" marR="91440" marT="45720" marB="45720" anchor="ctr">
                    <a:lnL w="6350" cap="flat" cmpd="sng" algn="ctr">
                      <a:solidFill>
                        <a:srgbClr val="D6DCD8"/>
                      </a:solidFill>
                      <a:prstDash val="solid"/>
                      <a:round/>
                      <a:headEnd type="none" w="med" len="med"/>
                      <a:tailEnd type="none" w="med" len="med"/>
                    </a:lnL>
                    <a:lnR w="6350" cap="flat" cmpd="sng" algn="ctr">
                      <a:solidFill>
                        <a:srgbClr val="D6DCD8"/>
                      </a:solidFill>
                      <a:prstDash val="solid"/>
                      <a:round/>
                      <a:headEnd type="none" w="med" len="med"/>
                      <a:tailEnd type="none" w="med" len="med"/>
                    </a:lnR>
                    <a:lnT w="6350" cap="flat" cmpd="sng" algn="ctr">
                      <a:solidFill>
                        <a:srgbClr val="D6DCD8"/>
                      </a:solidFill>
                      <a:prstDash val="solid"/>
                      <a:round/>
                      <a:headEnd type="none" w="med" len="med"/>
                      <a:tailEnd type="none" w="med" len="med"/>
                    </a:lnT>
                    <a:lnB w="6350" cap="flat" cmpd="sng" algn="ctr">
                      <a:solidFill>
                        <a:srgbClr val="D6DC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486400"/>
            <a:ext cx="11094415" cy="548640"/>
          </a:xfrm>
          <a:prstGeom prst="rect">
            <a:avLst/>
          </a:prstGeom>
          <a:noFill/>
          <a:ln/>
        </p:spPr>
        <p:txBody>
          <a:bodyPr wrap="square" lIns="0" tIns="0" rIns="0" bIns="0" rtlCol="0" anchor="t"/>
          <a:lstStyle/>
          <a:p>
            <a:pPr indent="0" marL="0">
              <a:buNone/>
            </a:pPr>
            <a:r>
              <a:rPr lang="en-US" sz="1500" dirty="0">
                <a:solidFill>
                  <a:srgbClr val="5E6B65"/>
                </a:solidFill>
              </a:rPr>
              <a:t>Optimum acuan = biaya UCS. Hanya A* (h2) optimal sekaligus hemat node; GBFS tercepat tetapi 73% lebih mahal.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Rute terbaik di peta</a:t>
            </a:r>
            <a:endParaRPr lang="en-US" sz="3200" dirty="0"/>
          </a:p>
        </p:txBody>
      </p:sp>
      <p:pic>
        <p:nvPicPr>
          <p:cNvPr id="3" name="Image 0" descr="/home/roxasz/project/kka-2026/report/figs/fig_rute_surabaya_6sppg_terbaik.png">    </p:cNvPr>
          <p:cNvPicPr>
            <a:picLocks noChangeAspect="1"/>
          </p:cNvPicPr>
          <p:nvPr/>
        </p:nvPicPr>
        <p:blipFill>
          <a:blip r:embed="rId1"/>
          <a:stretch>
            <a:fillRect/>
          </a:stretch>
        </p:blipFill>
        <p:spPr>
          <a:xfrm>
            <a:off x="571500" y="1234440"/>
            <a:ext cx="5074920" cy="5074920"/>
          </a:xfrm>
          <a:prstGeom prst="rect">
            <a:avLst/>
          </a:prstGeom>
        </p:spPr>
      </p:pic>
      <p:sp>
        <p:nvSpPr>
          <p:cNvPr id="4" name="Shape 1"/>
          <p:cNvSpPr/>
          <p:nvPr/>
        </p:nvSpPr>
        <p:spPr>
          <a:xfrm>
            <a:off x="6172200" y="1417320"/>
            <a:ext cx="2651760" cy="1645920"/>
          </a:xfrm>
          <a:prstGeom prst="roundRect">
            <a:avLst>
              <a:gd name="adj" fmla="val 6667"/>
            </a:avLst>
          </a:prstGeom>
          <a:solidFill>
            <a:srgbClr val="EEF4F0"/>
          </a:solidFill>
          <a:ln w="12700">
            <a:solidFill>
              <a:srgbClr val="EEF4F0"/>
            </a:solidFill>
            <a:prstDash val="solid"/>
          </a:ln>
        </p:spPr>
      </p:sp>
      <p:sp>
        <p:nvSpPr>
          <p:cNvPr id="5" name="Text 2"/>
          <p:cNvSpPr txBox="1"/>
          <p:nvPr/>
        </p:nvSpPr>
        <p:spPr>
          <a:xfrm>
            <a:off x="6355080" y="1554480"/>
            <a:ext cx="2286000"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Rp132.200</a:t>
            </a:r>
            <a:endParaRPr lang="en-US" sz="2400" dirty="0"/>
          </a:p>
        </p:txBody>
      </p:sp>
      <p:sp>
        <p:nvSpPr>
          <p:cNvPr id="6" name="Text 3"/>
          <p:cNvSpPr txBox="1"/>
          <p:nvPr/>
        </p:nvSpPr>
        <p:spPr>
          <a:xfrm>
            <a:off x="6355080" y="2167128"/>
            <a:ext cx="2286000" cy="777240"/>
          </a:xfrm>
          <a:prstGeom prst="rect">
            <a:avLst/>
          </a:prstGeom>
          <a:noFill/>
          <a:ln/>
        </p:spPr>
        <p:txBody>
          <a:bodyPr wrap="square" lIns="0" tIns="0" rIns="0" bIns="0" rtlCol="0" anchor="t"/>
          <a:lstStyle/>
          <a:p>
            <a:pPr indent="0" marL="0">
              <a:buNone/>
            </a:pPr>
            <a:r>
              <a:rPr lang="en-US" sz="1300" dirty="0">
                <a:solidFill>
                  <a:srgbClr val="5E6B65"/>
                </a:solidFill>
              </a:rPr>
              <a:t>bensin per hari (185,1 km, 19 Granmax)</a:t>
            </a:r>
            <a:endParaRPr lang="en-US" sz="1300" dirty="0"/>
          </a:p>
        </p:txBody>
      </p:sp>
      <p:sp>
        <p:nvSpPr>
          <p:cNvPr id="7" name="Shape 4"/>
          <p:cNvSpPr/>
          <p:nvPr/>
        </p:nvSpPr>
        <p:spPr>
          <a:xfrm>
            <a:off x="8961120" y="1417320"/>
            <a:ext cx="2651760" cy="1645920"/>
          </a:xfrm>
          <a:prstGeom prst="roundRect">
            <a:avLst>
              <a:gd name="adj" fmla="val 6667"/>
            </a:avLst>
          </a:prstGeom>
          <a:solidFill>
            <a:srgbClr val="EEF4F0"/>
          </a:solidFill>
          <a:ln w="12700">
            <a:solidFill>
              <a:srgbClr val="EEF4F0"/>
            </a:solidFill>
            <a:prstDash val="solid"/>
          </a:ln>
        </p:spPr>
      </p:sp>
      <p:sp>
        <p:nvSpPr>
          <p:cNvPr id="8" name="Text 5"/>
          <p:cNvSpPr txBox="1"/>
          <p:nvPr/>
        </p:nvSpPr>
        <p:spPr>
          <a:xfrm>
            <a:off x="9144000" y="1554480"/>
            <a:ext cx="2286000"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16,9 mnt</a:t>
            </a:r>
            <a:endParaRPr lang="en-US" sz="2400" dirty="0"/>
          </a:p>
        </p:txBody>
      </p:sp>
      <p:sp>
        <p:nvSpPr>
          <p:cNvPr id="9" name="Text 6"/>
          <p:cNvSpPr txBox="1"/>
          <p:nvPr/>
        </p:nvSpPr>
        <p:spPr>
          <a:xfrm>
            <a:off x="9144000" y="2167128"/>
            <a:ext cx="2286000" cy="777240"/>
          </a:xfrm>
          <a:prstGeom prst="rect">
            <a:avLst/>
          </a:prstGeom>
          <a:noFill/>
          <a:ln/>
        </p:spPr>
        <p:txBody>
          <a:bodyPr wrap="square" lIns="0" tIns="0" rIns="0" bIns="0" rtlCol="0" anchor="t"/>
          <a:lstStyle/>
          <a:p>
            <a:pPr indent="0" marL="0">
              <a:buNone/>
            </a:pPr>
            <a:r>
              <a:rPr lang="en-US" sz="1300" dirty="0">
                <a:solidFill>
                  <a:srgbClr val="5E6B65"/>
                </a:solidFill>
              </a:rPr>
              <a:t>rata-rata makanan tiba; terakhir 45 mnt</a:t>
            </a:r>
            <a:endParaRPr lang="en-US" sz="1300" dirty="0"/>
          </a:p>
        </p:txBody>
      </p:sp>
      <p:sp>
        <p:nvSpPr>
          <p:cNvPr id="10" name="Shape 7"/>
          <p:cNvSpPr/>
          <p:nvPr/>
        </p:nvSpPr>
        <p:spPr>
          <a:xfrm>
            <a:off x="6172200" y="3291840"/>
            <a:ext cx="2651760" cy="1645920"/>
          </a:xfrm>
          <a:prstGeom prst="roundRect">
            <a:avLst>
              <a:gd name="adj" fmla="val 6667"/>
            </a:avLst>
          </a:prstGeom>
          <a:solidFill>
            <a:srgbClr val="EEF4F0"/>
          </a:solidFill>
          <a:ln w="12700">
            <a:solidFill>
              <a:srgbClr val="EEF4F0"/>
            </a:solidFill>
            <a:prstDash val="solid"/>
          </a:ln>
        </p:spPr>
      </p:sp>
      <p:sp>
        <p:nvSpPr>
          <p:cNvPr id="11" name="Text 8"/>
          <p:cNvSpPr txBox="1"/>
          <p:nvPr/>
        </p:nvSpPr>
        <p:spPr>
          <a:xfrm>
            <a:off x="6355080" y="3429000"/>
            <a:ext cx="2286000"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−39%</a:t>
            </a:r>
            <a:endParaRPr lang="en-US" sz="2400" dirty="0"/>
          </a:p>
        </p:txBody>
      </p:sp>
      <p:sp>
        <p:nvSpPr>
          <p:cNvPr id="12" name="Text 9"/>
          <p:cNvSpPr txBox="1"/>
          <p:nvPr/>
        </p:nvSpPr>
        <p:spPr>
          <a:xfrm>
            <a:off x="6355080" y="4041648"/>
            <a:ext cx="2286000" cy="777240"/>
          </a:xfrm>
          <a:prstGeom prst="rect">
            <a:avLst/>
          </a:prstGeom>
          <a:noFill/>
          <a:ln/>
        </p:spPr>
        <p:txBody>
          <a:bodyPr wrap="square" lIns="0" tIns="0" rIns="0" bIns="0" rtlCol="0" anchor="t"/>
          <a:lstStyle/>
          <a:p>
            <a:pPr indent="0" marL="0">
              <a:buNone/>
            </a:pPr>
            <a:r>
              <a:rPr lang="en-US" sz="1300" dirty="0">
                <a:solidFill>
                  <a:srgbClr val="5E6B65"/>
                </a:solidFill>
              </a:rPr>
              <a:t>bensin vs pengiriman langsung (Rp217.091/hari)</a:t>
            </a:r>
            <a:endParaRPr lang="en-US" sz="1300" dirty="0"/>
          </a:p>
        </p:txBody>
      </p:sp>
      <p:sp>
        <p:nvSpPr>
          <p:cNvPr id="13" name="Shape 10"/>
          <p:cNvSpPr/>
          <p:nvPr/>
        </p:nvSpPr>
        <p:spPr>
          <a:xfrm>
            <a:off x="8961120" y="3291840"/>
            <a:ext cx="2651760" cy="1645920"/>
          </a:xfrm>
          <a:prstGeom prst="roundRect">
            <a:avLst>
              <a:gd name="adj" fmla="val 6667"/>
            </a:avLst>
          </a:prstGeom>
          <a:solidFill>
            <a:srgbClr val="EEF4F0"/>
          </a:solidFill>
          <a:ln w="12700">
            <a:solidFill>
              <a:srgbClr val="EEF4F0"/>
            </a:solidFill>
            <a:prstDash val="solid"/>
          </a:ln>
        </p:spPr>
      </p:sp>
      <p:sp>
        <p:nvSpPr>
          <p:cNvPr id="14" name="Text 11"/>
          <p:cNvSpPr txBox="1"/>
          <p:nvPr/>
        </p:nvSpPr>
        <p:spPr>
          <a:xfrm>
            <a:off x="9144000" y="3429000"/>
            <a:ext cx="2286000"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+12,0 mnt</a:t>
            </a:r>
            <a:endParaRPr lang="en-US" sz="2400" dirty="0"/>
          </a:p>
        </p:txBody>
      </p:sp>
      <p:sp>
        <p:nvSpPr>
          <p:cNvPr id="15" name="Text 12"/>
          <p:cNvSpPr txBox="1"/>
          <p:nvPr/>
        </p:nvSpPr>
        <p:spPr>
          <a:xfrm>
            <a:off x="9144000" y="4041648"/>
            <a:ext cx="2286000" cy="777240"/>
          </a:xfrm>
          <a:prstGeom prst="rect">
            <a:avLst/>
          </a:prstGeom>
          <a:noFill/>
          <a:ln/>
        </p:spPr>
        <p:txBody>
          <a:bodyPr wrap="square" lIns="0" tIns="0" rIns="0" bIns="0" rtlCol="0" anchor="t"/>
          <a:lstStyle/>
          <a:p>
            <a:pPr indent="0" marL="0">
              <a:buNone/>
            </a:pPr>
            <a:r>
              <a:rPr lang="en-US" sz="1300" dirty="0">
                <a:solidFill>
                  <a:srgbClr val="5E6B65"/>
                </a:solidFill>
              </a:rPr>
              <a:t>rata-rata tiba vs pengiriman langsung (4,9 mnt)</a:t>
            </a:r>
            <a:endParaRPr lang="en-US" sz="1300" dirty="0"/>
          </a:p>
        </p:txBody>
      </p:sp>
      <p:sp>
        <p:nvSpPr>
          <p:cNvPr id="16" name="Text 13"/>
          <p:cNvSpPr txBox="1"/>
          <p:nvPr/>
        </p:nvSpPr>
        <p:spPr>
          <a:xfrm>
            <a:off x="6172200" y="5257800"/>
            <a:ext cx="5468112" cy="822960"/>
          </a:xfrm>
          <a:prstGeom prst="rect">
            <a:avLst/>
          </a:prstGeom>
          <a:noFill/>
          <a:ln/>
        </p:spPr>
        <p:txBody>
          <a:bodyPr wrap="square" lIns="0" tIns="0" rIns="0" bIns="0" rtlCol="0" anchor="t"/>
          <a:lstStyle/>
          <a:p>
            <a:pPr indent="0" marL="0">
              <a:buNone/>
            </a:pPr>
            <a:r>
              <a:rPr lang="en-US" sz="1400" dirty="0">
                <a:solidFill>
                  <a:schemeClr val="tx1"/>
                </a:solidFill>
              </a:rPr>
              <a:t>Demo interaktif: results/&lt;instance&gt;/peta_rute_terbaik.html (rute per Granmax, jam tiba tiap sekolah).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502920"/>
            <a:ext cx="7315200" cy="7315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Kesimpulan</a:t>
            </a:r>
            <a:endParaRPr lang="en-US" sz="3600" dirty="0"/>
          </a:p>
        </p:txBody>
      </p:sp>
      <p:sp>
        <p:nvSpPr>
          <p:cNvPr id="3" name="Shape 1"/>
          <p:cNvSpPr/>
          <p:nvPr/>
        </p:nvSpPr>
        <p:spPr>
          <a:xfrm>
            <a:off x="548640" y="1417320"/>
            <a:ext cx="658368" cy="658368"/>
          </a:xfrm>
          <a:prstGeom prst="ellipse">
            <a:avLst/>
          </a:prstGeom>
          <a:solidFill>
            <a:srgbClr val="2E6B55"/>
          </a:solidFill>
          <a:ln w="12700">
            <a:solidFill>
              <a:srgbClr val="2E6B55"/>
            </a:solidFill>
            <a:prstDash val="solid"/>
          </a:ln>
        </p:spPr>
      </p:sp>
      <p:pic>
        <p:nvPicPr>
          <p:cNvPr id="4" name="Image 0" descr="preencoded.png">    </p:cNvPr>
          <p:cNvPicPr>
            <a:picLocks noChangeAspect="1"/>
          </p:cNvPicPr>
          <p:nvPr/>
        </p:nvPicPr>
        <p:blipFill>
          <a:blip r:embed="rId1"/>
          <a:stretch>
            <a:fillRect/>
          </a:stretch>
        </p:blipFill>
        <p:spPr>
          <a:xfrm>
            <a:off x="706648" y="1575328"/>
            <a:ext cx="342351" cy="342351"/>
          </a:xfrm>
          <a:prstGeom prst="rect">
            <a:avLst/>
          </a:prstGeom>
        </p:spPr>
      </p:pic>
      <p:sp>
        <p:nvSpPr>
          <p:cNvPr id="5" name="Text 2"/>
          <p:cNvSpPr txBox="1"/>
          <p:nvPr/>
        </p:nvSpPr>
        <p:spPr>
          <a:xfrm>
            <a:off x="1463040" y="1380744"/>
            <a:ext cx="10149840" cy="749808"/>
          </a:xfrm>
          <a:prstGeom prst="rect">
            <a:avLst/>
          </a:prstGeom>
          <a:noFill/>
          <a:ln/>
        </p:spPr>
        <p:txBody>
          <a:bodyPr wrap="square" lIns="0" tIns="0" rIns="0" bIns="0" rtlCol="0" anchor="ctr"/>
          <a:lstStyle/>
          <a:p>
            <a:pPr indent="0" marL="0">
              <a:buNone/>
            </a:pPr>
            <a:r>
              <a:rPr lang="en-US" sz="1800" dirty="0">
                <a:solidFill>
                  <a:srgbClr val="FFFFFF"/>
                </a:solidFill>
              </a:rPr>
              <a:t>Sekolah ke SPPG terdekat, lalu rute tiap SPPG dicari sebagai masalah pencarian di ruang keadaan.</a:t>
            </a:r>
            <a:endParaRPr lang="en-US" sz="1800" dirty="0"/>
          </a:p>
        </p:txBody>
      </p:sp>
      <p:sp>
        <p:nvSpPr>
          <p:cNvPr id="6" name="Shape 3"/>
          <p:cNvSpPr/>
          <p:nvPr/>
        </p:nvSpPr>
        <p:spPr>
          <a:xfrm>
            <a:off x="548640" y="2423160"/>
            <a:ext cx="658368" cy="658368"/>
          </a:xfrm>
          <a:prstGeom prst="ellipse">
            <a:avLst/>
          </a:prstGeom>
          <a:solidFill>
            <a:srgbClr val="2E6B55"/>
          </a:solidFill>
          <a:ln w="12700">
            <a:solidFill>
              <a:srgbClr val="2E6B55"/>
            </a:solidFill>
            <a:prstDash val="solid"/>
          </a:ln>
        </p:spPr>
      </p:sp>
      <p:pic>
        <p:nvPicPr>
          <p:cNvPr id="7" name="Image 1" descr="preencoded.png">    </p:cNvPr>
          <p:cNvPicPr>
            <a:picLocks noChangeAspect="1"/>
          </p:cNvPicPr>
          <p:nvPr/>
        </p:nvPicPr>
        <p:blipFill>
          <a:blip r:embed="rId2"/>
          <a:stretch>
            <a:fillRect/>
          </a:stretch>
        </p:blipFill>
        <p:spPr>
          <a:xfrm>
            <a:off x="706648" y="2581168"/>
            <a:ext cx="342351" cy="342351"/>
          </a:xfrm>
          <a:prstGeom prst="rect">
            <a:avLst/>
          </a:prstGeom>
        </p:spPr>
      </p:pic>
      <p:sp>
        <p:nvSpPr>
          <p:cNvPr id="8" name="Text 4"/>
          <p:cNvSpPr txBox="1"/>
          <p:nvPr/>
        </p:nvSpPr>
        <p:spPr>
          <a:xfrm>
            <a:off x="1463040" y="2386584"/>
            <a:ext cx="10149840" cy="749808"/>
          </a:xfrm>
          <a:prstGeom prst="rect">
            <a:avLst/>
          </a:prstGeom>
          <a:noFill/>
          <a:ln/>
        </p:spPr>
        <p:txBody>
          <a:bodyPr wrap="square" lIns="0" tIns="0" rIns="0" bIns="0" rtlCol="0" anchor="ctr"/>
          <a:lstStyle/>
          <a:p>
            <a:pPr indent="0" marL="0">
              <a:buNone/>
            </a:pPr>
            <a:r>
              <a:rPr lang="en-US" sz="1800" dirty="0">
                <a:solidFill>
                  <a:srgbClr val="FFFFFF"/>
                </a:solidFill>
              </a:rPr>
              <a:t>UCS, A*, DFS-B&amp;B optimal (bila selesai); BFS/IDS +66%, GBFS +73% lebih mahal dari optimum.</a:t>
            </a:r>
            <a:endParaRPr lang="en-US" sz="1800" dirty="0"/>
          </a:p>
        </p:txBody>
      </p:sp>
      <p:sp>
        <p:nvSpPr>
          <p:cNvPr id="9" name="Shape 5"/>
          <p:cNvSpPr/>
          <p:nvPr/>
        </p:nvSpPr>
        <p:spPr>
          <a:xfrm>
            <a:off x="548640" y="3429000"/>
            <a:ext cx="658368" cy="658368"/>
          </a:xfrm>
          <a:prstGeom prst="ellipse">
            <a:avLst/>
          </a:prstGeom>
          <a:solidFill>
            <a:srgbClr val="2E6B55"/>
          </a:solidFill>
          <a:ln w="12700">
            <a:solidFill>
              <a:srgbClr val="2E6B55"/>
            </a:solidFill>
            <a:prstDash val="solid"/>
          </a:ln>
        </p:spPr>
      </p:sp>
      <p:pic>
        <p:nvPicPr>
          <p:cNvPr id="10" name="Image 2" descr="preencoded.png">    </p:cNvPr>
          <p:cNvPicPr>
            <a:picLocks noChangeAspect="1"/>
          </p:cNvPicPr>
          <p:nvPr/>
        </p:nvPicPr>
        <p:blipFill>
          <a:blip r:embed="rId3"/>
          <a:stretch>
            <a:fillRect/>
          </a:stretch>
        </p:blipFill>
        <p:spPr>
          <a:xfrm>
            <a:off x="706648" y="3587008"/>
            <a:ext cx="342351" cy="342351"/>
          </a:xfrm>
          <a:prstGeom prst="rect">
            <a:avLst/>
          </a:prstGeom>
        </p:spPr>
      </p:pic>
      <p:sp>
        <p:nvSpPr>
          <p:cNvPr id="11" name="Text 6"/>
          <p:cNvSpPr txBox="1"/>
          <p:nvPr/>
        </p:nvSpPr>
        <p:spPr>
          <a:xfrm>
            <a:off x="1463040" y="3392424"/>
            <a:ext cx="10149840" cy="749808"/>
          </a:xfrm>
          <a:prstGeom prst="rect">
            <a:avLst/>
          </a:prstGeom>
          <a:noFill/>
          <a:ln/>
        </p:spPr>
        <p:txBody>
          <a:bodyPr wrap="square" lIns="0" tIns="0" rIns="0" bIns="0" rtlCol="0" anchor="ctr"/>
          <a:lstStyle/>
          <a:p>
            <a:pPr indent="0" marL="0">
              <a:buNone/>
            </a:pPr>
            <a:r>
              <a:rPr lang="en-US" sz="1800" dirty="0">
                <a:solidFill>
                  <a:srgbClr val="FFFFFF"/>
                </a:solidFill>
              </a:rPr>
              <a:t>Heuristik h2 (penugasan slot) membuat A* 9× lebih hemat node daripada UCS; heuristik lebih menentukan daripada algoritmanya.</a:t>
            </a:r>
            <a:endParaRPr lang="en-US" sz="1800" dirty="0"/>
          </a:p>
        </p:txBody>
      </p:sp>
      <p:sp>
        <p:nvSpPr>
          <p:cNvPr id="12" name="Shape 7"/>
          <p:cNvSpPr/>
          <p:nvPr/>
        </p:nvSpPr>
        <p:spPr>
          <a:xfrm>
            <a:off x="548640" y="4434840"/>
            <a:ext cx="658368" cy="658368"/>
          </a:xfrm>
          <a:prstGeom prst="ellipse">
            <a:avLst/>
          </a:prstGeom>
          <a:solidFill>
            <a:srgbClr val="2E6B55"/>
          </a:solidFill>
          <a:ln w="12700">
            <a:solidFill>
              <a:srgbClr val="2E6B55"/>
            </a:solidFill>
            <a:prstDash val="solid"/>
          </a:ln>
        </p:spPr>
      </p:sp>
      <p:pic>
        <p:nvPicPr>
          <p:cNvPr id="13" name="Image 3" descr="preencoded.png">    </p:cNvPr>
          <p:cNvPicPr>
            <a:picLocks noChangeAspect="1"/>
          </p:cNvPicPr>
          <p:nvPr/>
        </p:nvPicPr>
        <p:blipFill>
          <a:blip r:embed="rId4"/>
          <a:stretch>
            <a:fillRect/>
          </a:stretch>
        </p:blipFill>
        <p:spPr>
          <a:xfrm>
            <a:off x="706648" y="4592848"/>
            <a:ext cx="342351" cy="342351"/>
          </a:xfrm>
          <a:prstGeom prst="rect">
            <a:avLst/>
          </a:prstGeom>
        </p:spPr>
      </p:pic>
      <p:sp>
        <p:nvSpPr>
          <p:cNvPr id="14" name="Text 8"/>
          <p:cNvSpPr txBox="1"/>
          <p:nvPr/>
        </p:nvSpPr>
        <p:spPr>
          <a:xfrm>
            <a:off x="1463040" y="4398264"/>
            <a:ext cx="10149840" cy="749808"/>
          </a:xfrm>
          <a:prstGeom prst="rect">
            <a:avLst/>
          </a:prstGeom>
          <a:noFill/>
          <a:ln/>
        </p:spPr>
        <p:txBody>
          <a:bodyPr wrap="square" lIns="0" tIns="0" rIns="0" bIns="0" rtlCol="0" anchor="ctr"/>
          <a:lstStyle/>
          <a:p>
            <a:pPr indent="0" marL="0">
              <a:buNone/>
            </a:pPr>
            <a:r>
              <a:rPr lang="en-US" sz="1800" dirty="0">
                <a:solidFill>
                  <a:srgbClr val="FFFFFF"/>
                </a:solidFill>
              </a:rPr>
              <a:t>Rute optimal menghemat bensin 39% dibanding pengiriman langsung; batas 3 jam tidak aktif.</a:t>
            </a:r>
            <a:endParaRPr lang="en-US" sz="1800" dirty="0"/>
          </a:p>
        </p:txBody>
      </p:sp>
      <p:sp>
        <p:nvSpPr>
          <p:cNvPr id="15" name="Shape 9"/>
          <p:cNvSpPr/>
          <p:nvPr/>
        </p:nvSpPr>
        <p:spPr>
          <a:xfrm>
            <a:off x="548640" y="5623560"/>
            <a:ext cx="548640" cy="548640"/>
          </a:xfrm>
          <a:prstGeom prst="ellipse">
            <a:avLst/>
          </a:prstGeom>
          <a:solidFill>
            <a:srgbClr val="FFFFFF"/>
          </a:solidFill>
          <a:ln w="12700">
            <a:solidFill>
              <a:srgbClr val="FFFFFF"/>
            </a:solidFill>
            <a:prstDash val="solid"/>
          </a:ln>
        </p:spPr>
      </p:sp>
      <p:pic>
        <p:nvPicPr>
          <p:cNvPr id="16" name="Image 4" descr="preencoded.png">    </p:cNvPr>
          <p:cNvPicPr>
            <a:picLocks noChangeAspect="1"/>
          </p:cNvPicPr>
          <p:nvPr/>
        </p:nvPicPr>
        <p:blipFill>
          <a:blip r:embed="rId5"/>
          <a:stretch>
            <a:fillRect/>
          </a:stretch>
        </p:blipFill>
        <p:spPr>
          <a:xfrm>
            <a:off x="680314" y="5755234"/>
            <a:ext cx="285293" cy="285293"/>
          </a:xfrm>
          <a:prstGeom prst="rect">
            <a:avLst/>
          </a:prstGeom>
        </p:spPr>
      </p:pic>
      <p:sp>
        <p:nvSpPr>
          <p:cNvPr id="17" name="Text 10">
            <a:hlinkClick r:id="rId6" tooltip=""/>
          </p:cNvPr>
          <p:cNvSpPr txBox="1"/>
          <p:nvPr/>
        </p:nvSpPr>
        <p:spPr>
          <a:xfrm>
            <a:off x="1280160" y="5641848"/>
            <a:ext cx="5486400" cy="502920"/>
          </a:xfrm>
          <a:prstGeom prst="rect">
            <a:avLst/>
          </a:prstGeom>
          <a:noFill/>
          <a:ln/>
        </p:spPr>
        <p:txBody>
          <a:bodyPr wrap="square" lIns="0" tIns="0" rIns="0" bIns="0" rtlCol="0" anchor="ctr"/>
          <a:lstStyle/>
          <a:p>
            <a:pPr indent="0" marL="0">
              <a:buNone/>
            </a:pPr>
            <a:r>
              <a:rPr lang="en-US" sz="1800" b="1" u="sng" dirty="0">
                <a:solidFill>
                  <a:srgbClr val="9FD3B9"/>
                </a:solidFill>
                <a:hlinkClick r:id="rId6" invalidUrl="" action="" tgtFrame="" tooltip="" history="1" highlightClick="0" endSnd="0">
                  <a:extLst>
                    <a:ext uri="{A12FA001-AC4F-418D-AE19-62706E023703}">
                      <ahyp:hlinkClr xmlns:ahyp="http://schemas.microsoft.com/office/drawing/2018/hyperlinkcolor" val="tx"/>
                    </a:ext>
                  </a:extLst>
                </a:hlinkClick>
              </a:rPr>
              <a:t>github.com/Mitschess/kka-2026</a:t>
            </a:r>
            <a:endParaRPr lang="en-US" sz="1800" dirty="0"/>
          </a:p>
        </p:txBody>
      </p:sp>
      <p:sp>
        <p:nvSpPr>
          <p:cNvPr id="18" name="Text 11"/>
          <p:cNvSpPr txBox="1"/>
          <p:nvPr/>
        </p:nvSpPr>
        <p:spPr>
          <a:xfrm>
            <a:off x="6858000" y="5641848"/>
            <a:ext cx="4782312" cy="502920"/>
          </a:xfrm>
          <a:prstGeom prst="rect">
            <a:avLst/>
          </a:prstGeom>
          <a:noFill/>
          <a:ln/>
        </p:spPr>
        <p:txBody>
          <a:bodyPr wrap="square" lIns="0" tIns="0" rIns="0" bIns="0" rtlCol="0" anchor="ctr"/>
          <a:lstStyle/>
          <a:p>
            <a:pPr algn="r" indent="0" marL="0">
              <a:buNone/>
            </a:pPr>
            <a:r>
              <a:rPr lang="en-US" sz="1800" dirty="0">
                <a:solidFill>
                  <a:srgbClr val="D7E7DF"/>
                </a:solidFill>
              </a:rPr>
              <a:t>Terima kasih · Pertanyaan?</a:t>
            </a:r>
            <a:endParaRPr lang="en-US" sz="1800" dirty="0"/>
          </a:p>
        </p:txBody>
      </p:sp>
      <p:sp>
        <p:nvSpPr>
          <p:cNvPr id="20" name="Text 0"/>
          <p:cNvSpPr/>
          <p:nvPr>
            <p:ph idx="100" type="title" hasCustomPrompt="1"/>
          </p:nvPr>
        </p:nvSpPr>
        <p:spPr>
          <a:xfrm>
            <a:off x="548640" y="1691640"/>
            <a:ext cx="6309360" cy="2103120"/>
          </a:xfrm>
          <a:prstGeom prst="rect">
            <a:avLst/>
          </a:prstGeom>
          <a:noFill/>
          <a:ln/>
        </p:spPr>
        <p:txBody>
          <a:bodyPr wrap="square" lIns="0" tIns="0" rIns="0" bIns="0" rtlCol="0" anchor="t"/>
          <a:lstStyle/>
          <a:p>
            <a:pPr algn="l" indent="0" marL="0">
              <a:buNone/>
            </a:pPr>
            <a:endParaRPr lang="en-US" sz="3800" dirty="0"/>
          </a:p>
        </p:txBody>
      </p:sp>
    </p:spTree>
  </p:cSld>
  <p:clrMapOvr>
    <a:masterClrMapping/>
  </p:clrMapOvr>
</p:sld>
</file>

<file path=ppt/theme/theme1.xml><?xml version="1.0" encoding="utf-8"?>
<a:theme xmlns:a="http://schemas.openxmlformats.org/drawingml/2006/main" name="MBG Surabaya">
  <a:themeElements>
    <a:clrScheme name="MBG Surabaya">
      <a:dk1>
        <a:srgbClr val="1B1B1B"/>
      </a:dk1>
      <a:lt1>
        <a:srgbClr val="FFFFFF"/>
      </a:lt1>
      <a:dk2>
        <a:srgbClr val="16382C"/>
      </a:dk2>
      <a:lt2>
        <a:srgbClr val="EEF4F0"/>
      </a:lt2>
      <a:accent1>
        <a:srgbClr val="1F5C46"/>
      </a:accent1>
      <a:accent2>
        <a:srgbClr val="E07A2E"/>
      </a:accent2>
      <a:accent3>
        <a:srgbClr val="2A78D6"/>
      </a:accent3>
      <a:accent4>
        <a:srgbClr val="1BAF7A"/>
      </a:accent4>
      <a:accent5>
        <a:srgbClr val="E87BA4"/>
      </a:accent5>
      <a:accent6>
        <a:srgbClr val="4A3AA7"/>
      </a:accent6>
      <a:hlink>
        <a:srgbClr val="1F5C46"/>
      </a:hlink>
      <a:folHlink>
        <a:srgbClr val="4A3AA7"/>
      </a:folHlink>
    </a:clrScheme>
    <a:fontScheme name="MBG Suraba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Optimasi Rute Distribusi MBG di Surabaya</dc:title>
  <dc:subject>Midterm Project Konsep Kecerdasan Artifisial</dc:subject>
  <dc:creator>Tim ETS KKA</dc:creator>
  <cp:lastModifiedBy>Tim ETS KKA</cp:lastModifiedBy>
  <cp:revision>1</cp:revision>
  <dcterms:created xsi:type="dcterms:W3CDTF">2026-10-21T04:00:29Z</dcterms:created>
  <dcterms:modified xsi:type="dcterms:W3CDTF">2026-10-21T04:00:29Z</dcterms:modified>
</cp:coreProperties>
</file>